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7" r:id="rId3"/>
    <p:sldId id="266" r:id="rId4"/>
    <p:sldId id="269" r:id="rId5"/>
    <p:sldId id="268" r:id="rId6"/>
    <p:sldId id="270" r:id="rId7"/>
    <p:sldId id="271" r:id="rId8"/>
    <p:sldId id="272" r:id="rId9"/>
    <p:sldId id="273" r:id="rId10"/>
    <p:sldId id="274" r:id="rId11"/>
    <p:sldId id="275" r:id="rId12"/>
    <p:sldId id="276" r:id="rId13"/>
    <p:sldId id="277" r:id="rId14"/>
    <p:sldId id="278" r:id="rId15"/>
    <p:sldId id="279" r:id="rId16"/>
    <p:sldId id="280" r:id="rId17"/>
    <p:sldId id="281" r:id="rId18"/>
    <p:sldId id="282" r:id="rId19"/>
    <p:sldId id="283" r:id="rId20"/>
    <p:sldId id="284"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9" d="100"/>
          <a:sy n="69" d="100"/>
        </p:scale>
        <p:origin x="-546" y="-108"/>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1D8BD707-D9CF-40AE-B4C6-C98DA3205C09}" type="datetimeFigureOut">
              <a:rPr lang="en-US" smtClean="0"/>
              <a:pPr/>
              <a:t>6/2/2015</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1D8BD707-D9CF-40AE-B4C6-C98DA3205C09}" type="datetimeFigureOut">
              <a:rPr lang="en-US" smtClean="0"/>
              <a:pPr/>
              <a:t>6/2/2015</a:t>
            </a:fld>
            <a:endParaRPr lang="en-US"/>
          </a:p>
        </p:txBody>
      </p:sp>
      <p:sp>
        <p:nvSpPr>
          <p:cNvPr id="9" name="Slide Number Placeholder 8"/>
          <p:cNvSpPr>
            <a:spLocks noGrp="1"/>
          </p:cNvSpPr>
          <p:nvPr>
            <p:ph type="sldNum" sz="quarter" idx="15"/>
          </p:nvPr>
        </p:nvSpPr>
        <p:spPr/>
        <p:txBody>
          <a:bodyPr rtlCol="0"/>
          <a:lstStyle/>
          <a:p>
            <a:fld id="{B6F15528-21DE-4FAA-801E-634DDDAF4B2B}" type="slidenum">
              <a:rPr lang="en-US" smtClean="0"/>
              <a:pPr/>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1D8BD707-D9CF-40AE-B4C6-C98DA3205C09}" type="datetimeFigureOut">
              <a:rPr lang="en-US" smtClean="0"/>
              <a:pPr/>
              <a:t>6/2/2015</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6/2/2015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6/2/2015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1D8BD707-D9CF-40AE-B4C6-C98DA3205C09}" type="datetimeFigureOut">
              <a:rPr lang="en-US" smtClean="0"/>
              <a:pPr/>
              <a:t>6/2/2015</a:t>
            </a:fld>
            <a:endParaRPr lang="en-US"/>
          </a:p>
        </p:txBody>
      </p:sp>
      <p:sp>
        <p:nvSpPr>
          <p:cNvPr id="7" name="Slide Number Placeholder 6"/>
          <p:cNvSpPr>
            <a:spLocks noGrp="1"/>
          </p:cNvSpPr>
          <p:nvPr>
            <p:ph type="sldNum" sz="quarter" idx="11"/>
          </p:nvPr>
        </p:nvSpPr>
        <p:spPr/>
        <p:txBody>
          <a:bodyPr rtlCol="0"/>
          <a:lstStyle/>
          <a:p>
            <a:fld id="{B6F15528-21DE-4FAA-801E-634DDDAF4B2B}" type="slidenum">
              <a:rPr lang="en-US" smtClean="0"/>
              <a:pPr/>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6/2/2015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1D8BD707-D9CF-40AE-B4C6-C98DA3205C09}" type="datetimeFigureOut">
              <a:rPr lang="en-US" smtClean="0"/>
              <a:pPr/>
              <a:t>6/2/2015</a:t>
            </a:fld>
            <a:endParaRPr lang="en-US"/>
          </a:p>
        </p:txBody>
      </p:sp>
      <p:sp>
        <p:nvSpPr>
          <p:cNvPr id="22" name="Slide Number Placeholder 21"/>
          <p:cNvSpPr>
            <a:spLocks noGrp="1"/>
          </p:cNvSpPr>
          <p:nvPr>
            <p:ph type="sldNum" sz="quarter" idx="15"/>
          </p:nvPr>
        </p:nvSpPr>
        <p:spPr/>
        <p:txBody>
          <a:bodyPr rtlCol="0"/>
          <a:lstStyle/>
          <a:p>
            <a:fld id="{B6F15528-21DE-4FAA-801E-634DDDAF4B2B}" type="slidenum">
              <a:rPr lang="en-US" smtClean="0"/>
              <a:pPr/>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1D8BD707-D9CF-40AE-B4C6-C98DA3205C09}" type="datetimeFigureOut">
              <a:rPr lang="en-US" smtClean="0"/>
              <a:pPr/>
              <a:t>6/2/2015</a:t>
            </a:fld>
            <a:endParaRPr lang="en-US"/>
          </a:p>
        </p:txBody>
      </p:sp>
      <p:sp>
        <p:nvSpPr>
          <p:cNvPr id="18" name="Slide Number Placeholder 17"/>
          <p:cNvSpPr>
            <a:spLocks noGrp="1"/>
          </p:cNvSpPr>
          <p:nvPr>
            <p:ph type="sldNum" sz="quarter" idx="11"/>
          </p:nvPr>
        </p:nvSpPr>
        <p:spPr/>
        <p:txBody>
          <a:bodyPr rtlCol="0"/>
          <a:lstStyle/>
          <a:p>
            <a:fld id="{B6F15528-21DE-4FAA-801E-634DDDAF4B2B}" type="slidenum">
              <a:rPr lang="en-US" smtClean="0"/>
              <a:pPr/>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6/2/2015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6/2/2015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1D8BD707-D9CF-40AE-B4C6-C98DA3205C09}" type="datetimeFigureOut">
              <a:rPr lang="en-US" smtClean="0"/>
              <a:pPr/>
              <a:t>6/2/2015</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SUPPLY AND DEMAND THEORY (Part 2)</a:t>
            </a:r>
            <a:endParaRPr lang="en-AU" dirty="0"/>
          </a:p>
        </p:txBody>
      </p:sp>
      <p:sp>
        <p:nvSpPr>
          <p:cNvPr id="3" name="Subtitle 2"/>
          <p:cNvSpPr>
            <a:spLocks noGrp="1"/>
          </p:cNvSpPr>
          <p:nvPr>
            <p:ph type="subTitle" idx="1"/>
          </p:nvPr>
        </p:nvSpPr>
        <p:spPr/>
        <p:txBody>
          <a:bodyPr/>
          <a:lstStyle/>
          <a:p>
            <a:endParaRPr lang="en-AU"/>
          </a:p>
        </p:txBody>
      </p:sp>
    </p:spTree>
    <p:extLst>
      <p:ext uri="{BB962C8B-B14F-4D97-AF65-F5344CB8AC3E}">
        <p14:creationId xmlns:p14="http://schemas.microsoft.com/office/powerpoint/2010/main" xmlns="" val="35993064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AU" sz="4400" dirty="0" smtClean="0"/>
              <a:t>SUPPLY</a:t>
            </a:r>
            <a:endParaRPr lang="en-AU" sz="4400" dirty="0"/>
          </a:p>
        </p:txBody>
      </p:sp>
      <p:sp>
        <p:nvSpPr>
          <p:cNvPr id="3" name="Subtitle 2"/>
          <p:cNvSpPr>
            <a:spLocks noGrp="1"/>
          </p:cNvSpPr>
          <p:nvPr>
            <p:ph type="subTitle" idx="1"/>
          </p:nvPr>
        </p:nvSpPr>
        <p:spPr/>
        <p:txBody>
          <a:bodyPr/>
          <a:lstStyle/>
          <a:p>
            <a:endParaRPr lang="en-AU"/>
          </a:p>
        </p:txBody>
      </p:sp>
    </p:spTree>
    <p:extLst>
      <p:ext uri="{BB962C8B-B14F-4D97-AF65-F5344CB8AC3E}">
        <p14:creationId xmlns:p14="http://schemas.microsoft.com/office/powerpoint/2010/main" xmlns="" val="22801712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SUPPLY </a:t>
            </a:r>
            <a:endParaRPr lang="en-AU" dirty="0"/>
          </a:p>
        </p:txBody>
      </p:sp>
      <p:sp>
        <p:nvSpPr>
          <p:cNvPr id="3" name="Content Placeholder 2"/>
          <p:cNvSpPr>
            <a:spLocks noGrp="1"/>
          </p:cNvSpPr>
          <p:nvPr>
            <p:ph sz="quarter" idx="1"/>
          </p:nvPr>
        </p:nvSpPr>
        <p:spPr/>
        <p:txBody>
          <a:bodyPr>
            <a:normAutofit lnSpcReduction="10000"/>
          </a:bodyPr>
          <a:lstStyle/>
          <a:p>
            <a:pPr marL="0" indent="0">
              <a:buNone/>
            </a:pPr>
            <a:r>
              <a:rPr lang="en-AU" dirty="0" smtClean="0"/>
              <a:t>SUPPLY:</a:t>
            </a:r>
          </a:p>
          <a:p>
            <a:pPr marL="0" indent="0">
              <a:buNone/>
            </a:pPr>
            <a:r>
              <a:rPr lang="en-AU" dirty="0" smtClean="0"/>
              <a:t>The willingness and ability of sellers to produce and offer to sell different quantities of a good at different prices during a specific time period.</a:t>
            </a:r>
          </a:p>
          <a:p>
            <a:pPr marL="0" indent="0">
              <a:buNone/>
            </a:pPr>
            <a:endParaRPr lang="en-AU" dirty="0" smtClean="0"/>
          </a:p>
          <a:p>
            <a:pPr marL="0" indent="0">
              <a:buNone/>
            </a:pPr>
            <a:r>
              <a:rPr lang="en-AU" dirty="0" smtClean="0"/>
              <a:t>LAW OF SUPPLY: </a:t>
            </a:r>
          </a:p>
          <a:p>
            <a:pPr marL="0" indent="0">
              <a:buNone/>
            </a:pPr>
            <a:r>
              <a:rPr lang="en-AU" dirty="0" smtClean="0"/>
              <a:t>As the price of a good rises, the quantity supplied of the good rises, and as the price of a good falls, the quantity supplied of a good falls, ceteris paribus.</a:t>
            </a:r>
          </a:p>
          <a:p>
            <a:pPr marL="0" indent="0">
              <a:buNone/>
            </a:pPr>
            <a:endParaRPr lang="en-AU" dirty="0"/>
          </a:p>
          <a:p>
            <a:pPr marL="0" indent="0">
              <a:buNone/>
            </a:pPr>
            <a:r>
              <a:rPr lang="en-AU" dirty="0" smtClean="0"/>
              <a:t>So, the quantity supplied and price of a good are DIRECTLY related </a:t>
            </a:r>
            <a:r>
              <a:rPr lang="en-AU" dirty="0" smtClean="0">
                <a:sym typeface="Wingdings" panose="05000000000000000000" pitchFamily="2" charset="2"/>
              </a:rPr>
              <a:t> Slope? </a:t>
            </a:r>
            <a:endParaRPr lang="en-AU" dirty="0"/>
          </a:p>
          <a:p>
            <a:pPr marL="0" indent="0">
              <a:buNone/>
            </a:pPr>
            <a:endParaRPr lang="en-AU" dirty="0"/>
          </a:p>
        </p:txBody>
      </p:sp>
    </p:spTree>
    <p:extLst>
      <p:ext uri="{BB962C8B-B14F-4D97-AF65-F5344CB8AC3E}">
        <p14:creationId xmlns:p14="http://schemas.microsoft.com/office/powerpoint/2010/main" xmlns="" val="9126383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Supply Curve</a:t>
            </a:r>
            <a:endParaRPr lang="en-AU" dirty="0"/>
          </a:p>
        </p:txBody>
      </p:sp>
      <p:sp>
        <p:nvSpPr>
          <p:cNvPr id="3" name="Content Placeholder 2"/>
          <p:cNvSpPr>
            <a:spLocks noGrp="1"/>
          </p:cNvSpPr>
          <p:nvPr>
            <p:ph sz="quarter" idx="1"/>
          </p:nvPr>
        </p:nvSpPr>
        <p:spPr>
          <a:xfrm>
            <a:off x="457200" y="1600200"/>
            <a:ext cx="4262500" cy="4873752"/>
          </a:xfrm>
        </p:spPr>
        <p:txBody>
          <a:bodyPr>
            <a:normAutofit lnSpcReduction="10000"/>
          </a:bodyPr>
          <a:lstStyle/>
          <a:p>
            <a:r>
              <a:rPr lang="en-AU" dirty="0" smtClean="0"/>
              <a:t>The upward-sloping supply curve is the graphical representation of the law of supply. </a:t>
            </a:r>
          </a:p>
          <a:p>
            <a:r>
              <a:rPr lang="en-AU" dirty="0" smtClean="0"/>
              <a:t>Upward sloping, as per law of supply, ceteris paribus.</a:t>
            </a:r>
          </a:p>
          <a:p>
            <a:r>
              <a:rPr lang="en-AU" dirty="0" smtClean="0"/>
              <a:t>Price (y-axis) represents price per unit of a good.</a:t>
            </a:r>
          </a:p>
          <a:p>
            <a:r>
              <a:rPr lang="en-AU" dirty="0" smtClean="0"/>
              <a:t>Quantity Supplied (x-axis) at each price for a specific period of time (a week, </a:t>
            </a:r>
            <a:r>
              <a:rPr lang="en-AU" dirty="0" err="1" smtClean="0"/>
              <a:t>month,etc</a:t>
            </a:r>
            <a:r>
              <a:rPr lang="en-AU" dirty="0" smtClean="0"/>
              <a:t>)</a:t>
            </a:r>
          </a:p>
          <a:p>
            <a:endParaRPr lang="en-AU" dirty="0"/>
          </a:p>
        </p:txBody>
      </p:sp>
      <p:grpSp>
        <p:nvGrpSpPr>
          <p:cNvPr id="4" name="Group 8"/>
          <p:cNvGrpSpPr>
            <a:grpSpLocks/>
          </p:cNvGrpSpPr>
          <p:nvPr/>
        </p:nvGrpSpPr>
        <p:grpSpPr bwMode="auto">
          <a:xfrm>
            <a:off x="4719700" y="1524000"/>
            <a:ext cx="3851275" cy="4191000"/>
            <a:chOff x="1808" y="1500"/>
            <a:chExt cx="1667" cy="1884"/>
          </a:xfrm>
        </p:grpSpPr>
        <p:sp>
          <p:nvSpPr>
            <p:cNvPr id="5" name="Rectangle 7"/>
            <p:cNvSpPr>
              <a:spLocks noChangeArrowheads="1"/>
            </p:cNvSpPr>
            <p:nvPr/>
          </p:nvSpPr>
          <p:spPr bwMode="auto">
            <a:xfrm>
              <a:off x="1808" y="1500"/>
              <a:ext cx="1667" cy="1884"/>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AU" altLang="en-US"/>
            </a:p>
          </p:txBody>
        </p:sp>
        <p:pic>
          <p:nvPicPr>
            <p:cNvPr id="6" name="Picture 6" descr="D:\ESWORK\SWPUB\Arnold PPT\Art\Art Ch03\arn17456_0308.jpg"/>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870" y="1538"/>
              <a:ext cx="1537" cy="181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Tree>
    <p:extLst>
      <p:ext uri="{BB962C8B-B14F-4D97-AF65-F5344CB8AC3E}">
        <p14:creationId xmlns:p14="http://schemas.microsoft.com/office/powerpoint/2010/main" xmlns="" val="10353784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Supply (</a:t>
            </a:r>
            <a:r>
              <a:rPr lang="en-AU" dirty="0" err="1" smtClean="0"/>
              <a:t>Cont</a:t>
            </a:r>
            <a:r>
              <a:rPr lang="en-AU" dirty="0" smtClean="0"/>
              <a:t>)</a:t>
            </a:r>
            <a:endParaRPr lang="en-AU" dirty="0"/>
          </a:p>
        </p:txBody>
      </p:sp>
      <p:sp>
        <p:nvSpPr>
          <p:cNvPr id="3" name="Content Placeholder 2"/>
          <p:cNvSpPr>
            <a:spLocks noGrp="1"/>
          </p:cNvSpPr>
          <p:nvPr>
            <p:ph sz="quarter" idx="1"/>
          </p:nvPr>
        </p:nvSpPr>
        <p:spPr>
          <a:xfrm>
            <a:off x="457200" y="1600200"/>
            <a:ext cx="7467600" cy="2438400"/>
          </a:xfrm>
        </p:spPr>
        <p:txBody>
          <a:bodyPr>
            <a:normAutofit fontScale="92500" lnSpcReduction="10000"/>
          </a:bodyPr>
          <a:lstStyle/>
          <a:p>
            <a:r>
              <a:rPr lang="en-AU" dirty="0" smtClean="0"/>
              <a:t>The law of supply does holds for the production of most goods. </a:t>
            </a:r>
            <a:endParaRPr lang="en-AU" dirty="0"/>
          </a:p>
          <a:p>
            <a:r>
              <a:rPr lang="en-AU" dirty="0" smtClean="0"/>
              <a:t>However, it does not hold in two cases. </a:t>
            </a:r>
          </a:p>
          <a:p>
            <a:pPr marL="457200" indent="-457200">
              <a:buFont typeface="+mj-lt"/>
              <a:buAutoNum type="arabicPeriod"/>
            </a:pPr>
            <a:r>
              <a:rPr lang="en-AU" dirty="0" smtClean="0"/>
              <a:t>It does not hold when there is no time to produce more units of a good.</a:t>
            </a:r>
          </a:p>
          <a:p>
            <a:pPr marL="457200" indent="-457200">
              <a:buFont typeface="+mj-lt"/>
              <a:buAutoNum type="arabicPeriod"/>
            </a:pPr>
            <a:r>
              <a:rPr lang="en-AU" dirty="0" smtClean="0"/>
              <a:t>The law of supply does not hold for goods that cannot be produced over a period of time.</a:t>
            </a:r>
            <a:endParaRPr lang="en-AU" dirty="0"/>
          </a:p>
          <a:p>
            <a:pPr marL="0" indent="0">
              <a:buNone/>
            </a:pPr>
            <a:endParaRPr lang="en-AU" dirty="0"/>
          </a:p>
        </p:txBody>
      </p:sp>
      <p:grpSp>
        <p:nvGrpSpPr>
          <p:cNvPr id="4" name="Group 8"/>
          <p:cNvGrpSpPr>
            <a:grpSpLocks/>
          </p:cNvGrpSpPr>
          <p:nvPr/>
        </p:nvGrpSpPr>
        <p:grpSpPr bwMode="auto">
          <a:xfrm>
            <a:off x="818403" y="4094747"/>
            <a:ext cx="7010400" cy="2763253"/>
            <a:chOff x="1500" y="1492"/>
            <a:chExt cx="2742" cy="1333"/>
          </a:xfrm>
        </p:grpSpPr>
        <p:sp>
          <p:nvSpPr>
            <p:cNvPr id="5" name="Rectangle 7"/>
            <p:cNvSpPr>
              <a:spLocks noChangeArrowheads="1"/>
            </p:cNvSpPr>
            <p:nvPr/>
          </p:nvSpPr>
          <p:spPr bwMode="auto">
            <a:xfrm>
              <a:off x="1500" y="1492"/>
              <a:ext cx="2742" cy="1333"/>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AU" altLang="en-US"/>
            </a:p>
          </p:txBody>
        </p:sp>
        <p:pic>
          <p:nvPicPr>
            <p:cNvPr id="6" name="Picture 6" descr="D:\ESWORK\SWPUB\Arnold PPT\Art\Art Ch03\arn17456_0309.jpg"/>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542" y="1538"/>
              <a:ext cx="2676" cy="124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Tree>
    <p:extLst>
      <p:ext uri="{BB962C8B-B14F-4D97-AF65-F5344CB8AC3E}">
        <p14:creationId xmlns:p14="http://schemas.microsoft.com/office/powerpoint/2010/main" xmlns="" val="6560872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Supply (</a:t>
            </a:r>
            <a:r>
              <a:rPr lang="en-AU" dirty="0" err="1" smtClean="0"/>
              <a:t>Cont</a:t>
            </a:r>
            <a:r>
              <a:rPr lang="en-AU" dirty="0" smtClean="0"/>
              <a:t>)</a:t>
            </a:r>
            <a:endParaRPr lang="en-AU" dirty="0"/>
          </a:p>
        </p:txBody>
      </p:sp>
      <p:sp>
        <p:nvSpPr>
          <p:cNvPr id="3" name="Content Placeholder 2"/>
          <p:cNvSpPr>
            <a:spLocks noGrp="1"/>
          </p:cNvSpPr>
          <p:nvPr>
            <p:ph sz="quarter" idx="1"/>
          </p:nvPr>
        </p:nvSpPr>
        <p:spPr/>
        <p:txBody>
          <a:bodyPr/>
          <a:lstStyle/>
          <a:p>
            <a:r>
              <a:rPr lang="en-AU" dirty="0"/>
              <a:t>Why Most Supply Curves are Upward sloping</a:t>
            </a:r>
            <a:r>
              <a:rPr lang="en-AU" dirty="0" smtClean="0"/>
              <a:t>?</a:t>
            </a:r>
          </a:p>
          <a:p>
            <a:pPr marL="0" indent="0">
              <a:buNone/>
            </a:pPr>
            <a:r>
              <a:rPr lang="en-AU" dirty="0" smtClean="0">
                <a:sym typeface="Wingdings" panose="05000000000000000000" pitchFamily="2" charset="2"/>
              </a:rPr>
              <a:t> Increasing opportunity costs  costs rise as more units of goods are produced.</a:t>
            </a:r>
          </a:p>
          <a:p>
            <a:pPr marL="0" indent="0">
              <a:buNone/>
            </a:pPr>
            <a:endParaRPr lang="en-AU" dirty="0" smtClean="0"/>
          </a:p>
          <a:p>
            <a:r>
              <a:rPr lang="en-AU" dirty="0" smtClean="0"/>
              <a:t>Individual Supply Curve: Represents price-quantity combinations of a SINGLE seller</a:t>
            </a:r>
          </a:p>
          <a:p>
            <a:r>
              <a:rPr lang="en-AU" dirty="0" smtClean="0"/>
              <a:t>Market Supply Curve: </a:t>
            </a:r>
            <a:r>
              <a:rPr lang="en-AU" dirty="0"/>
              <a:t>Represents price-quantity combinations of a </a:t>
            </a:r>
            <a:r>
              <a:rPr lang="en-AU" dirty="0" smtClean="0"/>
              <a:t>ALL sellers</a:t>
            </a:r>
          </a:p>
          <a:p>
            <a:pPr marL="0" indent="0">
              <a:buNone/>
            </a:pPr>
            <a:endParaRPr lang="en-AU" dirty="0"/>
          </a:p>
          <a:p>
            <a:r>
              <a:rPr lang="en-AU" dirty="0" smtClean="0"/>
              <a:t>Market supply curve is derived by “adding” individual supply curves</a:t>
            </a:r>
            <a:endParaRPr lang="en-AU" dirty="0"/>
          </a:p>
        </p:txBody>
      </p:sp>
    </p:spTree>
    <p:extLst>
      <p:ext uri="{BB962C8B-B14F-4D97-AF65-F5344CB8AC3E}">
        <p14:creationId xmlns:p14="http://schemas.microsoft.com/office/powerpoint/2010/main" xmlns="" val="19834661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sz="3200" dirty="0"/>
              <a:t>Deriving a Market Supply Schedule and a </a:t>
            </a:r>
            <a:r>
              <a:rPr lang="en-US" altLang="en-US" sz="3200" dirty="0" smtClean="0"/>
              <a:t>Market </a:t>
            </a:r>
            <a:r>
              <a:rPr lang="en-US" altLang="en-US" sz="3200" dirty="0"/>
              <a:t>Supply </a:t>
            </a:r>
            <a:r>
              <a:rPr lang="en-US" altLang="en-US" sz="3200" dirty="0" smtClean="0"/>
              <a:t>Curve</a:t>
            </a:r>
            <a:endParaRPr lang="en-AU" dirty="0"/>
          </a:p>
        </p:txBody>
      </p:sp>
      <p:grpSp>
        <p:nvGrpSpPr>
          <p:cNvPr id="4" name="Group 12"/>
          <p:cNvGrpSpPr>
            <a:grpSpLocks/>
          </p:cNvGrpSpPr>
          <p:nvPr/>
        </p:nvGrpSpPr>
        <p:grpSpPr bwMode="auto">
          <a:xfrm>
            <a:off x="137968" y="1749425"/>
            <a:ext cx="8486775" cy="5108575"/>
            <a:chOff x="205" y="668"/>
            <a:chExt cx="5346" cy="3218"/>
          </a:xfrm>
        </p:grpSpPr>
        <p:sp>
          <p:nvSpPr>
            <p:cNvPr id="5" name="Rectangle 9"/>
            <p:cNvSpPr>
              <a:spLocks noChangeArrowheads="1"/>
            </p:cNvSpPr>
            <p:nvPr/>
          </p:nvSpPr>
          <p:spPr bwMode="auto">
            <a:xfrm>
              <a:off x="205" y="668"/>
              <a:ext cx="5346" cy="3213"/>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AU" altLang="en-US"/>
            </a:p>
          </p:txBody>
        </p:sp>
        <p:pic>
          <p:nvPicPr>
            <p:cNvPr id="6" name="Picture 3" descr="D:\ESWORK\SWPUB\Arnold PPT\Art\Art Ch03\arn17456_0310.jpg"/>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274" y="2076"/>
              <a:ext cx="5232" cy="169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Text Box 7"/>
            <p:cNvSpPr txBox="1">
              <a:spLocks noChangeArrowheads="1"/>
            </p:cNvSpPr>
            <p:nvPr/>
          </p:nvSpPr>
          <p:spPr bwMode="auto">
            <a:xfrm>
              <a:off x="2767" y="1849"/>
              <a:ext cx="252"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r>
                <a:rPr lang="en-US" altLang="en-US"/>
                <a:t>(a)</a:t>
              </a:r>
            </a:p>
          </p:txBody>
        </p:sp>
        <p:sp>
          <p:nvSpPr>
            <p:cNvPr id="8" name="Text Box 8"/>
            <p:cNvSpPr txBox="1">
              <a:spLocks noChangeArrowheads="1"/>
            </p:cNvSpPr>
            <p:nvPr/>
          </p:nvSpPr>
          <p:spPr bwMode="auto">
            <a:xfrm>
              <a:off x="2773" y="3694"/>
              <a:ext cx="258"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lgn="ctr"/>
              <a:r>
                <a:rPr lang="en-US" altLang="en-US"/>
                <a:t>(b)</a:t>
              </a:r>
            </a:p>
          </p:txBody>
        </p:sp>
        <p:pic>
          <p:nvPicPr>
            <p:cNvPr id="9" name="Picture 11" descr="D:\ESWORK\SWPUB\Arnold PPT\Art\Art Ch03\Ch03 Exhibit 10 table.jpg"/>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647" y="713"/>
              <a:ext cx="4387" cy="1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Tree>
    <p:extLst>
      <p:ext uri="{BB962C8B-B14F-4D97-AF65-F5344CB8AC3E}">
        <p14:creationId xmlns:p14="http://schemas.microsoft.com/office/powerpoint/2010/main" xmlns="" val="8251372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Changes in Supply Means Shifts in Supply Curves</a:t>
            </a:r>
            <a:endParaRPr lang="en-AU" dirty="0"/>
          </a:p>
        </p:txBody>
      </p:sp>
      <p:sp>
        <p:nvSpPr>
          <p:cNvPr id="3" name="Content Placeholder 2"/>
          <p:cNvSpPr>
            <a:spLocks noGrp="1"/>
          </p:cNvSpPr>
          <p:nvPr>
            <p:ph sz="quarter" idx="1"/>
          </p:nvPr>
        </p:nvSpPr>
        <p:spPr>
          <a:xfrm>
            <a:off x="457200" y="1600200"/>
            <a:ext cx="7467600" cy="1295400"/>
          </a:xfrm>
        </p:spPr>
        <p:txBody>
          <a:bodyPr/>
          <a:lstStyle/>
          <a:p>
            <a:pPr marL="0" indent="0">
              <a:buNone/>
            </a:pPr>
            <a:r>
              <a:rPr lang="en-AU" dirty="0" smtClean="0"/>
              <a:t>Suppliers are willing and able to produce and offer to sell more (less) of the good at all prices </a:t>
            </a:r>
            <a:r>
              <a:rPr lang="en-AU" dirty="0" smtClean="0">
                <a:sym typeface="Wingdings" panose="05000000000000000000" pitchFamily="2" charset="2"/>
              </a:rPr>
              <a:t> demand shifts right (left).</a:t>
            </a:r>
          </a:p>
          <a:p>
            <a:pPr marL="0" indent="0">
              <a:buNone/>
            </a:pPr>
            <a:endParaRPr lang="en-AU" dirty="0">
              <a:sym typeface="Wingdings" panose="05000000000000000000" pitchFamily="2" charset="2"/>
            </a:endParaRPr>
          </a:p>
          <a:p>
            <a:pPr marL="0" indent="0">
              <a:buNone/>
            </a:pPr>
            <a:endParaRPr lang="en-AU" dirty="0"/>
          </a:p>
        </p:txBody>
      </p:sp>
      <p:grpSp>
        <p:nvGrpSpPr>
          <p:cNvPr id="4" name="Group 8"/>
          <p:cNvGrpSpPr>
            <a:grpSpLocks/>
          </p:cNvGrpSpPr>
          <p:nvPr/>
        </p:nvGrpSpPr>
        <p:grpSpPr bwMode="auto">
          <a:xfrm>
            <a:off x="279767" y="2985655"/>
            <a:ext cx="7859175" cy="3800475"/>
            <a:chOff x="1392" y="1392"/>
            <a:chExt cx="2967" cy="1533"/>
          </a:xfrm>
        </p:grpSpPr>
        <p:sp>
          <p:nvSpPr>
            <p:cNvPr id="5" name="Rectangle 7"/>
            <p:cNvSpPr>
              <a:spLocks noChangeArrowheads="1"/>
            </p:cNvSpPr>
            <p:nvPr/>
          </p:nvSpPr>
          <p:spPr bwMode="auto">
            <a:xfrm>
              <a:off x="1392" y="1392"/>
              <a:ext cx="2967" cy="1533"/>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AU" altLang="en-US"/>
            </a:p>
          </p:txBody>
        </p:sp>
        <p:pic>
          <p:nvPicPr>
            <p:cNvPr id="6" name="Picture 6" descr="D:\ESWORK\SWPUB\Arnold PPT\Art\Art Ch03\arn17456_0311.jpg"/>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431" y="1435"/>
              <a:ext cx="2898" cy="144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Tree>
    <p:extLst>
      <p:ext uri="{BB962C8B-B14F-4D97-AF65-F5344CB8AC3E}">
        <p14:creationId xmlns:p14="http://schemas.microsoft.com/office/powerpoint/2010/main" xmlns="" val="39512101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What Factors Cause the Supply Curve to Shift?</a:t>
            </a:r>
            <a:endParaRPr lang="en-AU" dirty="0"/>
          </a:p>
        </p:txBody>
      </p:sp>
      <p:sp>
        <p:nvSpPr>
          <p:cNvPr id="3" name="Content Placeholder 2"/>
          <p:cNvSpPr>
            <a:spLocks noGrp="1"/>
          </p:cNvSpPr>
          <p:nvPr>
            <p:ph sz="quarter" idx="1"/>
          </p:nvPr>
        </p:nvSpPr>
        <p:spPr/>
        <p:txBody>
          <a:bodyPr/>
          <a:lstStyle/>
          <a:p>
            <a:pPr marL="0" indent="0">
              <a:buNone/>
            </a:pPr>
            <a:r>
              <a:rPr lang="en-AU" dirty="0" smtClean="0"/>
              <a:t>The following causes the supply curve to SHIFT:</a:t>
            </a:r>
          </a:p>
          <a:p>
            <a:pPr marL="0" indent="0">
              <a:buNone/>
            </a:pPr>
            <a:endParaRPr lang="en-AU" dirty="0"/>
          </a:p>
          <a:p>
            <a:pPr marL="457200" indent="-457200">
              <a:buFont typeface="+mj-lt"/>
              <a:buAutoNum type="arabicPeriod"/>
            </a:pPr>
            <a:r>
              <a:rPr lang="en-AU" dirty="0" smtClean="0"/>
              <a:t>Prices of Relevant Resources</a:t>
            </a:r>
          </a:p>
          <a:p>
            <a:pPr marL="457200" indent="-457200">
              <a:buFont typeface="+mj-lt"/>
              <a:buAutoNum type="arabicPeriod"/>
            </a:pPr>
            <a:r>
              <a:rPr lang="en-AU" dirty="0" smtClean="0"/>
              <a:t>Technology</a:t>
            </a:r>
          </a:p>
          <a:p>
            <a:pPr marL="457200" indent="-457200">
              <a:buFont typeface="+mj-lt"/>
              <a:buAutoNum type="arabicPeriod"/>
            </a:pPr>
            <a:r>
              <a:rPr lang="en-AU" dirty="0" smtClean="0"/>
              <a:t>Prices of other goods</a:t>
            </a:r>
          </a:p>
          <a:p>
            <a:pPr marL="457200" indent="-457200">
              <a:buFont typeface="+mj-lt"/>
              <a:buAutoNum type="arabicPeriod"/>
            </a:pPr>
            <a:r>
              <a:rPr lang="en-AU" dirty="0" smtClean="0"/>
              <a:t>Number of Sellers</a:t>
            </a:r>
          </a:p>
          <a:p>
            <a:pPr marL="457200" indent="-457200">
              <a:buFont typeface="+mj-lt"/>
              <a:buAutoNum type="arabicPeriod"/>
            </a:pPr>
            <a:r>
              <a:rPr lang="en-AU" dirty="0" smtClean="0"/>
              <a:t>Expectations of Future Prices</a:t>
            </a:r>
          </a:p>
          <a:p>
            <a:pPr marL="457200" indent="-457200">
              <a:buFont typeface="+mj-lt"/>
              <a:buAutoNum type="arabicPeriod"/>
            </a:pPr>
            <a:r>
              <a:rPr lang="en-AU" dirty="0" smtClean="0"/>
              <a:t>Taxes and subsidies</a:t>
            </a:r>
          </a:p>
          <a:p>
            <a:pPr marL="457200" indent="-457200">
              <a:buFont typeface="+mj-lt"/>
              <a:buAutoNum type="arabicPeriod"/>
            </a:pPr>
            <a:r>
              <a:rPr lang="en-AU" dirty="0" smtClean="0"/>
              <a:t>Government Restrictions</a:t>
            </a:r>
          </a:p>
          <a:p>
            <a:pPr marL="457200" indent="-457200">
              <a:buFont typeface="+mj-lt"/>
              <a:buAutoNum type="arabicPeriod"/>
            </a:pPr>
            <a:endParaRPr lang="en-AU" dirty="0"/>
          </a:p>
        </p:txBody>
      </p:sp>
    </p:spTree>
    <p:extLst>
      <p:ext uri="{BB962C8B-B14F-4D97-AF65-F5344CB8AC3E}">
        <p14:creationId xmlns:p14="http://schemas.microsoft.com/office/powerpoint/2010/main" xmlns="" val="254485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What Factors Cause the Supply Curve to Shift?</a:t>
            </a:r>
          </a:p>
        </p:txBody>
      </p:sp>
      <p:sp>
        <p:nvSpPr>
          <p:cNvPr id="3" name="Content Placeholder 2"/>
          <p:cNvSpPr>
            <a:spLocks noGrp="1"/>
          </p:cNvSpPr>
          <p:nvPr>
            <p:ph sz="quarter" idx="1"/>
          </p:nvPr>
        </p:nvSpPr>
        <p:spPr/>
        <p:txBody>
          <a:bodyPr>
            <a:normAutofit lnSpcReduction="10000"/>
          </a:bodyPr>
          <a:lstStyle/>
          <a:p>
            <a:r>
              <a:rPr lang="en-AU" dirty="0" smtClean="0"/>
              <a:t>PRICES OF RELEVANT RESOURCES: Resources are needed to produce goods. Example?</a:t>
            </a:r>
          </a:p>
          <a:p>
            <a:endParaRPr lang="en-AU" dirty="0" smtClean="0"/>
          </a:p>
          <a:p>
            <a:r>
              <a:rPr lang="en-AU" dirty="0" smtClean="0"/>
              <a:t> TECHNOLOGY: Defined as the body of skills and knowledge concerning the use of resources in production. Also, advancement in technology refers to the ability to produce more output with a fixed amount of resources, thus reducing per unit costs.</a:t>
            </a:r>
          </a:p>
          <a:p>
            <a:endParaRPr lang="en-AU" dirty="0"/>
          </a:p>
          <a:p>
            <a:r>
              <a:rPr lang="en-AU" dirty="0" smtClean="0"/>
              <a:t>PRICES OF OTHER GOODS: Change in price of one good leads to a change in the supply of another good.</a:t>
            </a:r>
            <a:endParaRPr lang="en-AU" dirty="0"/>
          </a:p>
        </p:txBody>
      </p:sp>
    </p:spTree>
    <p:extLst>
      <p:ext uri="{BB962C8B-B14F-4D97-AF65-F5344CB8AC3E}">
        <p14:creationId xmlns:p14="http://schemas.microsoft.com/office/powerpoint/2010/main" xmlns="" val="27487415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What Factors Cause the Supply Curve to Shift</a:t>
            </a:r>
            <a:r>
              <a:rPr lang="en-AU" dirty="0" smtClean="0"/>
              <a:t>? </a:t>
            </a:r>
            <a:endParaRPr lang="en-AU" dirty="0"/>
          </a:p>
        </p:txBody>
      </p:sp>
      <p:sp>
        <p:nvSpPr>
          <p:cNvPr id="3" name="Content Placeholder 2"/>
          <p:cNvSpPr>
            <a:spLocks noGrp="1"/>
          </p:cNvSpPr>
          <p:nvPr>
            <p:ph sz="quarter" idx="1"/>
          </p:nvPr>
        </p:nvSpPr>
        <p:spPr/>
        <p:txBody>
          <a:bodyPr/>
          <a:lstStyle/>
          <a:p>
            <a:r>
              <a:rPr lang="en-AU" dirty="0" smtClean="0"/>
              <a:t>NUMBER OF SELLERS: If a good is profitable </a:t>
            </a:r>
            <a:r>
              <a:rPr lang="en-AU" dirty="0" smtClean="0">
                <a:sym typeface="Wingdings" panose="05000000000000000000" pitchFamily="2" charset="2"/>
              </a:rPr>
              <a:t> number of seller increases  Supply increases  shift to right.</a:t>
            </a:r>
          </a:p>
          <a:p>
            <a:endParaRPr lang="en-AU" dirty="0">
              <a:sym typeface="Wingdings" panose="05000000000000000000" pitchFamily="2" charset="2"/>
            </a:endParaRPr>
          </a:p>
          <a:p>
            <a:r>
              <a:rPr lang="en-AU" dirty="0" smtClean="0">
                <a:sym typeface="Wingdings" panose="05000000000000000000" pitchFamily="2" charset="2"/>
              </a:rPr>
              <a:t>EXPECTATIONS ON FUTURE PRICES: if future prices      producers may hold back the products and sell at a later date, when prices may be higher  Current Supply        Supply shifts left.</a:t>
            </a:r>
          </a:p>
          <a:p>
            <a:endParaRPr lang="en-AU" dirty="0">
              <a:sym typeface="Wingdings" panose="05000000000000000000" pitchFamily="2" charset="2"/>
            </a:endParaRPr>
          </a:p>
          <a:p>
            <a:pPr marL="0" indent="0">
              <a:buNone/>
            </a:pPr>
            <a:endParaRPr lang="en-AU" dirty="0"/>
          </a:p>
        </p:txBody>
      </p:sp>
      <p:cxnSp>
        <p:nvCxnSpPr>
          <p:cNvPr id="6" name="Straight Arrow Connector 5"/>
          <p:cNvCxnSpPr/>
          <p:nvPr/>
        </p:nvCxnSpPr>
        <p:spPr>
          <a:xfrm flipV="1">
            <a:off x="2819400" y="3657600"/>
            <a:ext cx="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5715000" y="4343400"/>
            <a:ext cx="0" cy="381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31259344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What Factors Cause the Supply Curve to Shift? </a:t>
            </a:r>
          </a:p>
        </p:txBody>
      </p:sp>
      <p:sp>
        <p:nvSpPr>
          <p:cNvPr id="3" name="Content Placeholder 2"/>
          <p:cNvSpPr>
            <a:spLocks noGrp="1"/>
          </p:cNvSpPr>
          <p:nvPr>
            <p:ph sz="quarter" idx="1"/>
          </p:nvPr>
        </p:nvSpPr>
        <p:spPr/>
        <p:txBody>
          <a:bodyPr>
            <a:normAutofit fontScale="92500" lnSpcReduction="10000"/>
          </a:bodyPr>
          <a:lstStyle/>
          <a:p>
            <a:r>
              <a:rPr lang="en-AU" dirty="0" smtClean="0"/>
              <a:t>TAXES AND SUBSIDIES: </a:t>
            </a:r>
          </a:p>
          <a:p>
            <a:pPr marL="0" lvl="0" indent="0">
              <a:buNone/>
            </a:pPr>
            <a:r>
              <a:rPr lang="en-AU" b="1" dirty="0" smtClean="0"/>
              <a:t>Taxes</a:t>
            </a:r>
            <a:r>
              <a:rPr lang="en-AU" dirty="0" smtClean="0"/>
              <a:t>: If per-unit tax that needs to paid to government increases </a:t>
            </a:r>
            <a:r>
              <a:rPr lang="en-AU" dirty="0" smtClean="0">
                <a:sym typeface="Wingdings" panose="05000000000000000000" pitchFamily="2" charset="2"/>
              </a:rPr>
              <a:t> Per unit cost increases </a:t>
            </a:r>
            <a:r>
              <a:rPr lang="en-AU" dirty="0"/>
              <a:t>cost of production </a:t>
            </a:r>
            <a:r>
              <a:rPr lang="en-AU" dirty="0" smtClean="0"/>
              <a:t>rises </a:t>
            </a:r>
            <a:r>
              <a:rPr lang="en-AU" dirty="0"/>
              <a:t>and prices unchanged </a:t>
            </a:r>
            <a:r>
              <a:rPr lang="en-AU" dirty="0">
                <a:sym typeface="Wingdings"/>
              </a:rPr>
              <a:t></a:t>
            </a:r>
            <a:r>
              <a:rPr lang="en-AU" dirty="0"/>
              <a:t> profit from each unit </a:t>
            </a:r>
            <a:r>
              <a:rPr lang="en-AU" dirty="0" smtClean="0"/>
              <a:t>decreases </a:t>
            </a:r>
            <a:r>
              <a:rPr lang="en-AU" dirty="0">
                <a:sym typeface="Wingdings"/>
              </a:rPr>
              <a:t></a:t>
            </a:r>
            <a:r>
              <a:rPr lang="en-AU" dirty="0"/>
              <a:t> </a:t>
            </a:r>
            <a:r>
              <a:rPr lang="en-AU" dirty="0" smtClean="0"/>
              <a:t>decreased </a:t>
            </a:r>
            <a:r>
              <a:rPr lang="en-AU" dirty="0"/>
              <a:t>incentive to produce more </a:t>
            </a:r>
            <a:r>
              <a:rPr lang="en-AU" dirty="0">
                <a:sym typeface="Wingdings"/>
              </a:rPr>
              <a:t></a:t>
            </a:r>
            <a:r>
              <a:rPr lang="en-AU" dirty="0"/>
              <a:t> produce and offer to sell </a:t>
            </a:r>
            <a:r>
              <a:rPr lang="en-AU" dirty="0" smtClean="0"/>
              <a:t>less </a:t>
            </a:r>
            <a:r>
              <a:rPr lang="en-AU" dirty="0"/>
              <a:t>at each and every prices </a:t>
            </a:r>
            <a:r>
              <a:rPr lang="en-AU" dirty="0">
                <a:sym typeface="Wingdings"/>
              </a:rPr>
              <a:t></a:t>
            </a:r>
            <a:r>
              <a:rPr lang="en-AU" dirty="0"/>
              <a:t> supply </a:t>
            </a:r>
            <a:r>
              <a:rPr lang="en-AU" dirty="0" smtClean="0"/>
              <a:t>decreases </a:t>
            </a:r>
            <a:r>
              <a:rPr lang="en-AU" dirty="0">
                <a:sym typeface="Wingdings"/>
              </a:rPr>
              <a:t></a:t>
            </a:r>
            <a:r>
              <a:rPr lang="en-AU" dirty="0"/>
              <a:t> </a:t>
            </a:r>
            <a:r>
              <a:rPr lang="en-AU" dirty="0" smtClean="0"/>
              <a:t>shifts left.</a:t>
            </a:r>
          </a:p>
          <a:p>
            <a:pPr marL="0" lvl="0" indent="0">
              <a:buNone/>
            </a:pPr>
            <a:endParaRPr lang="en-AU" dirty="0"/>
          </a:p>
          <a:p>
            <a:pPr marL="0" indent="0">
              <a:buNone/>
            </a:pPr>
            <a:r>
              <a:rPr lang="en-AU" b="1" dirty="0" smtClean="0"/>
              <a:t>Subsidy</a:t>
            </a:r>
            <a:r>
              <a:rPr lang="en-AU" dirty="0" smtClean="0"/>
              <a:t>: A monetary payment by the government to a producer of a good or service. If per unit subsidy </a:t>
            </a:r>
            <a:r>
              <a:rPr lang="en-AU" dirty="0" smtClean="0">
                <a:sym typeface="Wingdings" panose="05000000000000000000" pitchFamily="2" charset="2"/>
              </a:rPr>
              <a:t> Per unit cost decreases  </a:t>
            </a:r>
            <a:r>
              <a:rPr lang="en-AU" dirty="0"/>
              <a:t>cost of production falls and prices unchanged </a:t>
            </a:r>
            <a:r>
              <a:rPr lang="en-AU" dirty="0">
                <a:sym typeface="Wingdings"/>
              </a:rPr>
              <a:t></a:t>
            </a:r>
            <a:r>
              <a:rPr lang="en-AU" dirty="0"/>
              <a:t> profit from each unit increases </a:t>
            </a:r>
            <a:r>
              <a:rPr lang="en-AU" dirty="0">
                <a:sym typeface="Wingdings"/>
              </a:rPr>
              <a:t></a:t>
            </a:r>
            <a:r>
              <a:rPr lang="en-AU" dirty="0"/>
              <a:t> increased incentive to produce more </a:t>
            </a:r>
            <a:r>
              <a:rPr lang="en-AU" dirty="0">
                <a:sym typeface="Wingdings"/>
              </a:rPr>
              <a:t></a:t>
            </a:r>
            <a:r>
              <a:rPr lang="en-AU" dirty="0"/>
              <a:t> produce and offer to sell more at each and every prices </a:t>
            </a:r>
            <a:r>
              <a:rPr lang="en-AU" dirty="0">
                <a:sym typeface="Wingdings"/>
              </a:rPr>
              <a:t></a:t>
            </a:r>
            <a:r>
              <a:rPr lang="en-AU" dirty="0"/>
              <a:t> supply increases </a:t>
            </a:r>
            <a:r>
              <a:rPr lang="en-AU" dirty="0">
                <a:sym typeface="Wingdings"/>
              </a:rPr>
              <a:t></a:t>
            </a:r>
            <a:r>
              <a:rPr lang="en-AU" dirty="0"/>
              <a:t> shifts right.</a:t>
            </a:r>
          </a:p>
          <a:p>
            <a:pPr marL="0" lvl="0" indent="0">
              <a:buNone/>
            </a:pPr>
            <a:endParaRPr lang="en-AU" dirty="0"/>
          </a:p>
        </p:txBody>
      </p:sp>
    </p:spTree>
    <p:extLst>
      <p:ext uri="{BB962C8B-B14F-4D97-AF65-F5344CB8AC3E}">
        <p14:creationId xmlns:p14="http://schemas.microsoft.com/office/powerpoint/2010/main" xmlns="" val="10821198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What Factors Cause the Supply Curve to Shift? </a:t>
            </a:r>
          </a:p>
        </p:txBody>
      </p:sp>
      <p:sp>
        <p:nvSpPr>
          <p:cNvPr id="3" name="Content Placeholder 2"/>
          <p:cNvSpPr>
            <a:spLocks noGrp="1"/>
          </p:cNvSpPr>
          <p:nvPr>
            <p:ph sz="quarter" idx="1"/>
          </p:nvPr>
        </p:nvSpPr>
        <p:spPr/>
        <p:txBody>
          <a:bodyPr/>
          <a:lstStyle/>
          <a:p>
            <a:r>
              <a:rPr lang="en-AU" dirty="0" smtClean="0"/>
              <a:t>GOVERNMENT RESTRICTIONS:</a:t>
            </a:r>
          </a:p>
          <a:p>
            <a:pPr marL="0" indent="0">
              <a:buNone/>
            </a:pPr>
            <a:r>
              <a:rPr lang="en-AU" dirty="0" smtClean="0"/>
              <a:t>Government may put certain restrictions. Two examples:</a:t>
            </a:r>
          </a:p>
          <a:p>
            <a:pPr>
              <a:buFont typeface="Wingdings" panose="05000000000000000000" pitchFamily="2" charset="2"/>
              <a:buChar char="Ø"/>
            </a:pPr>
            <a:r>
              <a:rPr lang="en-AU" dirty="0" smtClean="0"/>
              <a:t>Import Quota (case of Malaysian Automobile Industry, Proton)</a:t>
            </a:r>
          </a:p>
          <a:p>
            <a:pPr>
              <a:buFont typeface="Wingdings" panose="05000000000000000000" pitchFamily="2" charset="2"/>
              <a:buChar char="Ø"/>
            </a:pPr>
            <a:endParaRPr lang="en-AU" dirty="0"/>
          </a:p>
          <a:p>
            <a:pPr>
              <a:buFont typeface="Wingdings" panose="05000000000000000000" pitchFamily="2" charset="2"/>
              <a:buChar char="Ø"/>
            </a:pPr>
            <a:r>
              <a:rPr lang="en-AU" dirty="0" smtClean="0"/>
              <a:t>Licensure: With licensure, individuals must meet certain requirements before they can legally carry out a task.</a:t>
            </a:r>
            <a:endParaRPr lang="en-AU" dirty="0"/>
          </a:p>
        </p:txBody>
      </p:sp>
    </p:spTree>
    <p:extLst>
      <p:ext uri="{BB962C8B-B14F-4D97-AF65-F5344CB8AC3E}">
        <p14:creationId xmlns:p14="http://schemas.microsoft.com/office/powerpoint/2010/main" xmlns="" val="20609335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sz="3200" dirty="0"/>
              <a:t>A Change in Supply versus a Change </a:t>
            </a:r>
            <a:br>
              <a:rPr lang="en-US" altLang="en-US" sz="3200" dirty="0"/>
            </a:br>
            <a:r>
              <a:rPr lang="en-US" altLang="en-US" sz="3200" dirty="0"/>
              <a:t>in Quantity </a:t>
            </a:r>
            <a:r>
              <a:rPr lang="en-US" altLang="en-US" sz="3200" dirty="0" smtClean="0"/>
              <a:t>Supplied</a:t>
            </a:r>
            <a:endParaRPr lang="en-AU" dirty="0"/>
          </a:p>
        </p:txBody>
      </p:sp>
      <p:grpSp>
        <p:nvGrpSpPr>
          <p:cNvPr id="4" name="Group 10"/>
          <p:cNvGrpSpPr>
            <a:grpSpLocks/>
          </p:cNvGrpSpPr>
          <p:nvPr/>
        </p:nvGrpSpPr>
        <p:grpSpPr bwMode="auto">
          <a:xfrm>
            <a:off x="838200" y="1602461"/>
            <a:ext cx="6500290" cy="5091113"/>
            <a:chOff x="1475" y="1033"/>
            <a:chExt cx="2809" cy="2251"/>
          </a:xfrm>
        </p:grpSpPr>
        <p:sp>
          <p:nvSpPr>
            <p:cNvPr id="5" name="Rectangle 9"/>
            <p:cNvSpPr>
              <a:spLocks noChangeArrowheads="1"/>
            </p:cNvSpPr>
            <p:nvPr/>
          </p:nvSpPr>
          <p:spPr bwMode="auto">
            <a:xfrm>
              <a:off x="1475" y="1033"/>
              <a:ext cx="2809" cy="2251"/>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AU" altLang="en-US"/>
            </a:p>
          </p:txBody>
        </p:sp>
        <p:pic>
          <p:nvPicPr>
            <p:cNvPr id="6" name="Picture 8" descr="D:\ESWORK\SWPUB\Arnold PPT\Art\Art Ch03\arn17456_0312.jpg"/>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533" y="1065"/>
              <a:ext cx="2693" cy="218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Tree>
    <p:extLst>
      <p:ext uri="{BB962C8B-B14F-4D97-AF65-F5344CB8AC3E}">
        <p14:creationId xmlns:p14="http://schemas.microsoft.com/office/powerpoint/2010/main" xmlns="" val="29058632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The Market: Putting Demand and Supply Together</a:t>
            </a:r>
            <a:endParaRPr lang="en-AU" dirty="0"/>
          </a:p>
        </p:txBody>
      </p:sp>
      <p:sp>
        <p:nvSpPr>
          <p:cNvPr id="3" name="Content Placeholder 2"/>
          <p:cNvSpPr>
            <a:spLocks noGrp="1"/>
          </p:cNvSpPr>
          <p:nvPr>
            <p:ph sz="quarter" idx="1"/>
          </p:nvPr>
        </p:nvSpPr>
        <p:spPr>
          <a:xfrm>
            <a:off x="457200" y="1600200"/>
            <a:ext cx="2895600" cy="3810000"/>
          </a:xfrm>
        </p:spPr>
        <p:txBody>
          <a:bodyPr>
            <a:normAutofit/>
          </a:bodyPr>
          <a:lstStyle/>
          <a:p>
            <a:r>
              <a:rPr lang="en-AU" dirty="0" smtClean="0"/>
              <a:t>Assume we at an auction with a fixed supply of bushels of corn. </a:t>
            </a:r>
            <a:endParaRPr lang="en-AU" dirty="0"/>
          </a:p>
        </p:txBody>
      </p:sp>
      <p:grpSp>
        <p:nvGrpSpPr>
          <p:cNvPr id="4" name="Group 11"/>
          <p:cNvGrpSpPr>
            <a:grpSpLocks/>
          </p:cNvGrpSpPr>
          <p:nvPr/>
        </p:nvGrpSpPr>
        <p:grpSpPr bwMode="auto">
          <a:xfrm>
            <a:off x="3657600" y="1458508"/>
            <a:ext cx="4398962" cy="4734589"/>
            <a:chOff x="1127" y="1382"/>
            <a:chExt cx="2527" cy="2506"/>
          </a:xfrm>
        </p:grpSpPr>
        <p:sp>
          <p:nvSpPr>
            <p:cNvPr id="5" name="Rectangle 10"/>
            <p:cNvSpPr>
              <a:spLocks noChangeArrowheads="1"/>
            </p:cNvSpPr>
            <p:nvPr/>
          </p:nvSpPr>
          <p:spPr bwMode="auto">
            <a:xfrm>
              <a:off x="1127" y="1382"/>
              <a:ext cx="2527" cy="2506"/>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AU" altLang="en-US"/>
            </a:p>
          </p:txBody>
        </p:sp>
        <p:pic>
          <p:nvPicPr>
            <p:cNvPr id="6" name="Picture 9" descr="D:\ESWORK\SWPUB\Arnold PPT\Art\Art Ch03\arn17456_0313.jpg"/>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193" y="1428"/>
              <a:ext cx="2420" cy="241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Tree>
    <p:extLst>
      <p:ext uri="{BB962C8B-B14F-4D97-AF65-F5344CB8AC3E}">
        <p14:creationId xmlns:p14="http://schemas.microsoft.com/office/powerpoint/2010/main" xmlns="" val="7726783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The Language of Supply and Demand: A few Important Terms.</a:t>
            </a:r>
            <a:endParaRPr lang="en-AU" dirty="0"/>
          </a:p>
        </p:txBody>
      </p:sp>
      <p:sp>
        <p:nvSpPr>
          <p:cNvPr id="3" name="Content Placeholder 2"/>
          <p:cNvSpPr>
            <a:spLocks noGrp="1"/>
          </p:cNvSpPr>
          <p:nvPr>
            <p:ph sz="quarter" idx="1"/>
          </p:nvPr>
        </p:nvSpPr>
        <p:spPr/>
        <p:txBody>
          <a:bodyPr/>
          <a:lstStyle/>
          <a:p>
            <a:r>
              <a:rPr lang="en-AU" b="1" dirty="0" smtClean="0"/>
              <a:t>Surplus</a:t>
            </a:r>
            <a:r>
              <a:rPr lang="en-AU" dirty="0" smtClean="0"/>
              <a:t>: A condition in which quantity supplied is greater than quantity demanded. Surpluses occur only at prices above equilibrium price.</a:t>
            </a:r>
          </a:p>
          <a:p>
            <a:endParaRPr lang="en-AU" dirty="0" smtClean="0"/>
          </a:p>
          <a:p>
            <a:r>
              <a:rPr lang="en-AU" b="1" dirty="0" smtClean="0"/>
              <a:t>Shortage</a:t>
            </a:r>
            <a:r>
              <a:rPr lang="en-AU" dirty="0" smtClean="0"/>
              <a:t>: A </a:t>
            </a:r>
            <a:r>
              <a:rPr lang="en-AU" dirty="0"/>
              <a:t>condition in which quantity supplied is </a:t>
            </a:r>
            <a:r>
              <a:rPr lang="en-AU" dirty="0" smtClean="0"/>
              <a:t>less </a:t>
            </a:r>
            <a:r>
              <a:rPr lang="en-AU" dirty="0"/>
              <a:t>than quantity demanded. </a:t>
            </a:r>
            <a:r>
              <a:rPr lang="en-AU" dirty="0" smtClean="0"/>
              <a:t>Shortages </a:t>
            </a:r>
            <a:r>
              <a:rPr lang="en-AU" dirty="0"/>
              <a:t>occur only at prices </a:t>
            </a:r>
            <a:r>
              <a:rPr lang="en-AU" dirty="0" smtClean="0"/>
              <a:t>below </a:t>
            </a:r>
            <a:r>
              <a:rPr lang="en-AU" dirty="0"/>
              <a:t>equilibrium price</a:t>
            </a:r>
            <a:r>
              <a:rPr lang="en-AU" dirty="0" smtClean="0"/>
              <a:t>.</a:t>
            </a:r>
          </a:p>
          <a:p>
            <a:endParaRPr lang="en-AU" dirty="0" smtClean="0"/>
          </a:p>
          <a:p>
            <a:r>
              <a:rPr lang="en-AU" b="1" dirty="0" smtClean="0"/>
              <a:t>Equilibrium Price </a:t>
            </a:r>
            <a:r>
              <a:rPr lang="en-AU" dirty="0" smtClean="0"/>
              <a:t>(Market-Clearing Price): The price at which quantity demanded of the good equals quantity supplied.</a:t>
            </a:r>
          </a:p>
          <a:p>
            <a:pPr marL="0" indent="0">
              <a:buNone/>
            </a:pPr>
            <a:endParaRPr lang="en-AU" dirty="0"/>
          </a:p>
        </p:txBody>
      </p:sp>
    </p:spTree>
    <p:extLst>
      <p:ext uri="{BB962C8B-B14F-4D97-AF65-F5344CB8AC3E}">
        <p14:creationId xmlns:p14="http://schemas.microsoft.com/office/powerpoint/2010/main" xmlns="" val="25474020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The Language of Supply and Demand: A few Important Terms.</a:t>
            </a:r>
          </a:p>
        </p:txBody>
      </p:sp>
      <p:sp>
        <p:nvSpPr>
          <p:cNvPr id="3" name="Content Placeholder 2"/>
          <p:cNvSpPr>
            <a:spLocks noGrp="1"/>
          </p:cNvSpPr>
          <p:nvPr>
            <p:ph sz="quarter" idx="1"/>
          </p:nvPr>
        </p:nvSpPr>
        <p:spPr/>
        <p:txBody>
          <a:bodyPr>
            <a:normAutofit lnSpcReduction="10000"/>
          </a:bodyPr>
          <a:lstStyle/>
          <a:p>
            <a:r>
              <a:rPr lang="en-AU" b="1" dirty="0" smtClean="0"/>
              <a:t>Equilibrium Quantity</a:t>
            </a:r>
            <a:r>
              <a:rPr lang="en-AU" dirty="0" smtClean="0"/>
              <a:t>: The quantity that corresponds to equilibrium price. The quantity at which the amount of the good that buyers are willing and able to buy equals to the amount that sellers are able and willing to sell, and both equal to the amount actually bought and sold.</a:t>
            </a:r>
          </a:p>
          <a:p>
            <a:endParaRPr lang="en-AU" dirty="0"/>
          </a:p>
          <a:p>
            <a:r>
              <a:rPr lang="en-AU" b="1" dirty="0" smtClean="0"/>
              <a:t>Equilibrium</a:t>
            </a:r>
            <a:r>
              <a:rPr lang="en-AU" dirty="0" smtClean="0"/>
              <a:t>: Equilibrium means “at rest”. Equilibrium in a market is the price quantity combination from which there is no tendency for buyers or sellers to move away. Graphically, equilibrium is the intersection point of the supply and demand curves.</a:t>
            </a:r>
            <a:endParaRPr lang="en-AU" dirty="0"/>
          </a:p>
        </p:txBody>
      </p:sp>
    </p:spTree>
    <p:extLst>
      <p:ext uri="{BB962C8B-B14F-4D97-AF65-F5344CB8AC3E}">
        <p14:creationId xmlns:p14="http://schemas.microsoft.com/office/powerpoint/2010/main" xmlns="" val="33913879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92162"/>
          </a:xfrm>
        </p:spPr>
        <p:txBody>
          <a:bodyPr>
            <a:normAutofit/>
          </a:bodyPr>
          <a:lstStyle/>
          <a:p>
            <a:r>
              <a:rPr lang="en-US" altLang="en-US" sz="3200" dirty="0"/>
              <a:t>Moving to Equilibrium</a:t>
            </a:r>
            <a:endParaRPr lang="en-AU" sz="3200" dirty="0"/>
          </a:p>
        </p:txBody>
      </p:sp>
      <p:sp>
        <p:nvSpPr>
          <p:cNvPr id="3" name="Content Placeholder 2"/>
          <p:cNvSpPr>
            <a:spLocks noGrp="1"/>
          </p:cNvSpPr>
          <p:nvPr>
            <p:ph sz="quarter" idx="1"/>
          </p:nvPr>
        </p:nvSpPr>
        <p:spPr>
          <a:xfrm>
            <a:off x="457200" y="1143000"/>
            <a:ext cx="7467600" cy="1676400"/>
          </a:xfrm>
        </p:spPr>
        <p:txBody>
          <a:bodyPr/>
          <a:lstStyle/>
          <a:p>
            <a:pPr>
              <a:lnSpc>
                <a:spcPct val="90000"/>
              </a:lnSpc>
            </a:pPr>
            <a:r>
              <a:rPr lang="en-US" altLang="en-US" dirty="0"/>
              <a:t>Why does the price fall when there is a surplus?</a:t>
            </a:r>
          </a:p>
          <a:p>
            <a:pPr>
              <a:lnSpc>
                <a:spcPct val="90000"/>
              </a:lnSpc>
            </a:pPr>
            <a:r>
              <a:rPr lang="en-US" altLang="en-US" dirty="0"/>
              <a:t>Why does the price rise when there is a shortage?</a:t>
            </a:r>
          </a:p>
          <a:p>
            <a:pPr>
              <a:lnSpc>
                <a:spcPct val="90000"/>
              </a:lnSpc>
            </a:pPr>
            <a:r>
              <a:rPr lang="en-US" altLang="en-US" dirty="0"/>
              <a:t>Mutually beneficial exchange drives the market towards </a:t>
            </a:r>
            <a:r>
              <a:rPr lang="en-US" altLang="en-US" dirty="0" smtClean="0"/>
              <a:t>equilibrium.</a:t>
            </a:r>
            <a:endParaRPr lang="en-AU" dirty="0"/>
          </a:p>
        </p:txBody>
      </p:sp>
      <p:grpSp>
        <p:nvGrpSpPr>
          <p:cNvPr id="4" name="Group 4"/>
          <p:cNvGrpSpPr>
            <a:grpSpLocks/>
          </p:cNvGrpSpPr>
          <p:nvPr/>
        </p:nvGrpSpPr>
        <p:grpSpPr bwMode="auto">
          <a:xfrm>
            <a:off x="304800" y="2971800"/>
            <a:ext cx="8382000" cy="3886200"/>
            <a:chOff x="192" y="620"/>
            <a:chExt cx="5429" cy="2631"/>
          </a:xfrm>
        </p:grpSpPr>
        <p:sp>
          <p:nvSpPr>
            <p:cNvPr id="5" name="Rectangle 5"/>
            <p:cNvSpPr>
              <a:spLocks noChangeArrowheads="1"/>
            </p:cNvSpPr>
            <p:nvPr/>
          </p:nvSpPr>
          <p:spPr bwMode="auto">
            <a:xfrm>
              <a:off x="192" y="620"/>
              <a:ext cx="5429" cy="2631"/>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AU"/>
            </a:p>
          </p:txBody>
        </p:sp>
        <p:pic>
          <p:nvPicPr>
            <p:cNvPr id="6" name="Picture 6" descr="D:\ESWORK\SWPUB\Arnold PPT\Art\Art Ch03\arn17456_0314.jpg"/>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257" y="730"/>
              <a:ext cx="2439" cy="2430"/>
            </a:xfrm>
            <a:prstGeom prst="rect">
              <a:avLst/>
            </a:prstGeom>
            <a:noFill/>
            <a:extLst>
              <a:ext uri="{909E8E84-426E-40DD-AFC4-6F175D3DCCD1}">
                <a14:hiddenFill xmlns:a14="http://schemas.microsoft.com/office/drawing/2010/main" xmlns="">
                  <a:solidFill>
                    <a:srgbClr val="FFFFFF"/>
                  </a:solidFill>
                </a14:hiddenFill>
              </a:ext>
            </a:extLst>
          </p:spPr>
        </p:pic>
        <p:pic>
          <p:nvPicPr>
            <p:cNvPr id="7" name="Picture 7" descr="D:\ESWORK\SWPUB\Arnold PPT\Art\Art Ch03\Ch03 Exhibit 14 table.jpg"/>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2579" y="1152"/>
              <a:ext cx="2964" cy="802"/>
            </a:xfrm>
            <a:prstGeom prst="rect">
              <a:avLst/>
            </a:prstGeom>
            <a:noFill/>
            <a:extLst>
              <a:ext uri="{909E8E84-426E-40DD-AFC4-6F175D3DCCD1}">
                <a14:hiddenFill xmlns:a14="http://schemas.microsoft.com/office/drawing/2010/main" xmlns="">
                  <a:solidFill>
                    <a:srgbClr val="FFFFFF"/>
                  </a:solidFill>
                </a14:hiddenFill>
              </a:ext>
            </a:extLst>
          </p:spPr>
        </p:pic>
      </p:grpSp>
    </p:spTree>
    <p:extLst>
      <p:ext uri="{BB962C8B-B14F-4D97-AF65-F5344CB8AC3E}">
        <p14:creationId xmlns:p14="http://schemas.microsoft.com/office/powerpoint/2010/main" xmlns="" val="18378644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Summarizing…</a:t>
            </a:r>
            <a:endParaRPr lang="en-AU" dirty="0"/>
          </a:p>
        </p:txBody>
      </p:sp>
      <p:grpSp>
        <p:nvGrpSpPr>
          <p:cNvPr id="3" name="Group 8"/>
          <p:cNvGrpSpPr>
            <a:grpSpLocks/>
          </p:cNvGrpSpPr>
          <p:nvPr/>
        </p:nvGrpSpPr>
        <p:grpSpPr bwMode="auto">
          <a:xfrm>
            <a:off x="534624" y="1477726"/>
            <a:ext cx="8096250" cy="5175250"/>
            <a:chOff x="1458" y="1250"/>
            <a:chExt cx="2842" cy="1817"/>
          </a:xfrm>
        </p:grpSpPr>
        <p:sp>
          <p:nvSpPr>
            <p:cNvPr id="5" name="Rectangle 7"/>
            <p:cNvSpPr>
              <a:spLocks noChangeArrowheads="1"/>
            </p:cNvSpPr>
            <p:nvPr/>
          </p:nvSpPr>
          <p:spPr bwMode="auto">
            <a:xfrm>
              <a:off x="1458" y="1250"/>
              <a:ext cx="2842" cy="1817"/>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AU" altLang="en-US"/>
            </a:p>
          </p:txBody>
        </p:sp>
        <p:pic>
          <p:nvPicPr>
            <p:cNvPr id="6" name="Picture 6" descr="D:\ESWORK\SWPUB\Arnold PPT\Art\Art Ch03\arn17456_0315.jpg"/>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499" y="1296"/>
              <a:ext cx="2762" cy="172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Tree>
    <p:extLst>
      <p:ext uri="{BB962C8B-B14F-4D97-AF65-F5344CB8AC3E}">
        <p14:creationId xmlns:p14="http://schemas.microsoft.com/office/powerpoint/2010/main" xmlns="" val="25706761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Speed of Moving To Equilibrium</a:t>
            </a:r>
            <a:endParaRPr lang="en-AU" dirty="0"/>
          </a:p>
        </p:txBody>
      </p:sp>
      <p:sp>
        <p:nvSpPr>
          <p:cNvPr id="3" name="Content Placeholder 2"/>
          <p:cNvSpPr>
            <a:spLocks noGrp="1"/>
          </p:cNvSpPr>
          <p:nvPr>
            <p:ph sz="quarter" idx="1"/>
          </p:nvPr>
        </p:nvSpPr>
        <p:spPr/>
        <p:txBody>
          <a:bodyPr/>
          <a:lstStyle/>
          <a:p>
            <a:r>
              <a:rPr lang="en-AU" dirty="0" smtClean="0"/>
              <a:t>Think of the stock market. How quickly does the market achieve equilibrium?</a:t>
            </a:r>
          </a:p>
          <a:p>
            <a:endParaRPr lang="en-AU" dirty="0"/>
          </a:p>
          <a:p>
            <a:r>
              <a:rPr lang="en-AU" dirty="0" smtClean="0"/>
              <a:t>Think of the housing market. </a:t>
            </a:r>
            <a:r>
              <a:rPr lang="en-AU" dirty="0"/>
              <a:t>How quickly does the market achieve equilibrium?</a:t>
            </a:r>
          </a:p>
          <a:p>
            <a:endParaRPr lang="en-AU" dirty="0" smtClean="0"/>
          </a:p>
          <a:p>
            <a:r>
              <a:rPr lang="en-AU" dirty="0" smtClean="0"/>
              <a:t>Conclusion: Not all markets equilibrate at the same speed. </a:t>
            </a:r>
            <a:endParaRPr lang="en-AU" dirty="0"/>
          </a:p>
        </p:txBody>
      </p:sp>
    </p:spTree>
    <p:extLst>
      <p:ext uri="{BB962C8B-B14F-4D97-AF65-F5344CB8AC3E}">
        <p14:creationId xmlns:p14="http://schemas.microsoft.com/office/powerpoint/2010/main" xmlns="" val="40627129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142</TotalTime>
  <Words>1005</Words>
  <Application>Microsoft Office PowerPoint</Application>
  <PresentationFormat>On-screen Show (4:3)</PresentationFormat>
  <Paragraphs>88</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Oriel</vt:lpstr>
      <vt:lpstr>SUPPLY AND DEMAND THEORY (Part 2)</vt:lpstr>
      <vt:lpstr>SUPPLY</vt:lpstr>
      <vt:lpstr>SUPPLY </vt:lpstr>
      <vt:lpstr>Supply Curve</vt:lpstr>
      <vt:lpstr>Supply (Cont)</vt:lpstr>
      <vt:lpstr>Supply (Cont)</vt:lpstr>
      <vt:lpstr>Deriving a Market Supply Schedule and a Market Supply Curve</vt:lpstr>
      <vt:lpstr>Changes in Supply Means Shifts in Supply Curves</vt:lpstr>
      <vt:lpstr>What Factors Cause the Supply Curve to Shift?</vt:lpstr>
      <vt:lpstr>What Factors Cause the Supply Curve to Shift?</vt:lpstr>
      <vt:lpstr>What Factors Cause the Supply Curve to Shift? </vt:lpstr>
      <vt:lpstr>What Factors Cause the Supply Curve to Shift? </vt:lpstr>
      <vt:lpstr>What Factors Cause the Supply Curve to Shift? </vt:lpstr>
      <vt:lpstr>A Change in Supply versus a Change  in Quantity Supplied</vt:lpstr>
      <vt:lpstr>The Market: Putting Demand and Supply Together</vt:lpstr>
      <vt:lpstr>The Language of Supply and Demand: A few Important Terms.</vt:lpstr>
      <vt:lpstr>The Language of Supply and Demand: A few Important Terms.</vt:lpstr>
      <vt:lpstr>Moving to Equilibrium</vt:lpstr>
      <vt:lpstr>Summarizing…</vt:lpstr>
      <vt:lpstr>Speed of Moving To Equilibrium</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SUPPLY AND DEMAND THEORY (Part 2)</dc:title>
  <dc:creator>User</dc:creator>
  <cp:lastModifiedBy>Farzana/Sadia</cp:lastModifiedBy>
  <cp:revision>17</cp:revision>
  <dcterms:created xsi:type="dcterms:W3CDTF">2006-08-16T00:00:00Z</dcterms:created>
  <dcterms:modified xsi:type="dcterms:W3CDTF">2015-06-02T10:45:23Z</dcterms:modified>
</cp:coreProperties>
</file>
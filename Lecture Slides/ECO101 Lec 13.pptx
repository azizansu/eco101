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4"/>
  </p:notesMasterIdLst>
  <p:sldIdLst>
    <p:sldId id="256" r:id="rId2"/>
    <p:sldId id="267" r:id="rId3"/>
    <p:sldId id="268" r:id="rId4"/>
    <p:sldId id="258" r:id="rId5"/>
    <p:sldId id="259" r:id="rId6"/>
    <p:sldId id="260" r:id="rId7"/>
    <p:sldId id="261" r:id="rId8"/>
    <p:sldId id="262" r:id="rId9"/>
    <p:sldId id="263" r:id="rId10"/>
    <p:sldId id="264" r:id="rId11"/>
    <p:sldId id="265" r:id="rId12"/>
    <p:sldId id="266"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6" d="100"/>
          <a:sy n="76" d="100"/>
        </p:scale>
        <p:origin x="-336" y="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59AD7EF-82CE-4AAC-8316-9DA0875C3DFF}" type="datetimeFigureOut">
              <a:rPr lang="en-AU" smtClean="0"/>
              <a:pPr/>
              <a:t>10/07/2018</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240F182-435B-4D5E-AD3E-DF4D7B572D94}" type="slidenum">
              <a:rPr lang="en-AU" smtClean="0"/>
              <a:pPr/>
              <a:t>‹#›</a:t>
            </a:fld>
            <a:endParaRPr lang="en-AU"/>
          </a:p>
        </p:txBody>
      </p:sp>
    </p:spTree>
    <p:extLst>
      <p:ext uri="{BB962C8B-B14F-4D97-AF65-F5344CB8AC3E}">
        <p14:creationId xmlns:p14="http://schemas.microsoft.com/office/powerpoint/2010/main" val="622755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10"/>
          </p:nvPr>
        </p:nvSpPr>
        <p:spPr/>
        <p:txBody>
          <a:bodyPr/>
          <a:lstStyle/>
          <a:p>
            <a:fld id="{7240F182-435B-4D5E-AD3E-DF4D7B572D94}" type="slidenum">
              <a:rPr lang="en-AU" smtClean="0"/>
              <a:pPr/>
              <a:t>7</a:t>
            </a:fld>
            <a:endParaRPr lang="en-AU"/>
          </a:p>
        </p:txBody>
      </p:sp>
    </p:spTree>
    <p:extLst>
      <p:ext uri="{BB962C8B-B14F-4D97-AF65-F5344CB8AC3E}">
        <p14:creationId xmlns:p14="http://schemas.microsoft.com/office/powerpoint/2010/main" val="15705186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1"/>
      </p:bgRef>
    </p:bg>
    <p:spTree>
      <p:nvGrpSpPr>
        <p:cNvPr id="1" name=""/>
        <p:cNvGrpSpPr/>
        <p:nvPr/>
      </p:nvGrpSpPr>
      <p:grpSpPr>
        <a:xfrm>
          <a:off x="0" y="0"/>
          <a:ext cx="0" cy="0"/>
          <a:chOff x="0" y="0"/>
          <a:chExt cx="0" cy="0"/>
        </a:xfrm>
      </p:grpSpPr>
      <p:sp>
        <p:nvSpPr>
          <p:cNvPr id="8" name="Title 7"/>
          <p:cNvSpPr>
            <a:spLocks noGrp="1"/>
          </p:cNvSpPr>
          <p:nvPr>
            <p:ph type="ctrTitle"/>
          </p:nvPr>
        </p:nvSpPr>
        <p:spPr>
          <a:xfrm>
            <a:off x="2286000" y="3124200"/>
            <a:ext cx="6172200" cy="1894362"/>
          </a:xfrm>
        </p:spPr>
        <p:txBody>
          <a:bodyPr/>
          <a:lstStyle>
            <a:lvl1pPr>
              <a:defRPr b="1"/>
            </a:lvl1pPr>
          </a:lstStyle>
          <a:p>
            <a:r>
              <a:rPr kumimoji="0" lang="en-US" smtClean="0"/>
              <a:t>Click to edit Master title style</a:t>
            </a:r>
            <a:endParaRPr kumimoji="0" lang="en-US"/>
          </a:p>
        </p:txBody>
      </p:sp>
      <p:sp>
        <p:nvSpPr>
          <p:cNvPr id="9" name="Subtitle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bwMode="auto">
          <a:xfrm rot="5400000">
            <a:off x="7764621" y="1174097"/>
            <a:ext cx="2286000" cy="381000"/>
          </a:xfrm>
        </p:spPr>
        <p:txBody>
          <a:bodyPr/>
          <a:lstStyle/>
          <a:p>
            <a:fld id="{1D8BD707-D9CF-40AE-B4C6-C98DA3205C09}" type="datetimeFigureOut">
              <a:rPr lang="en-US" smtClean="0"/>
              <a:pPr/>
              <a:t>7/10/2018</a:t>
            </a:fld>
            <a:endParaRPr lang="en-US"/>
          </a:p>
        </p:txBody>
      </p:sp>
      <p:sp>
        <p:nvSpPr>
          <p:cNvPr id="17" name="Footer Placeholder 16"/>
          <p:cNvSpPr>
            <a:spLocks noGrp="1"/>
          </p:cNvSpPr>
          <p:nvPr>
            <p:ph type="ftr" sz="quarter" idx="11"/>
          </p:nvPr>
        </p:nvSpPr>
        <p:spPr bwMode="auto">
          <a:xfrm rot="5400000">
            <a:off x="7077269" y="4181669"/>
            <a:ext cx="3657600" cy="384048"/>
          </a:xfrm>
        </p:spPr>
        <p:txBody>
          <a:bodyPr/>
          <a:lstStyle/>
          <a:p>
            <a:endParaRPr lang="en-US"/>
          </a:p>
        </p:txBody>
      </p:sp>
      <p:sp>
        <p:nvSpPr>
          <p:cNvPr id="10" name="Rectangle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Rectangle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Rectangle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Straight Connector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Straight Connector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Straight Connector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Rectangle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ide Number Placeholder 28"/>
          <p:cNvSpPr>
            <a:spLocks noGrp="1"/>
          </p:cNvSpPr>
          <p:nvPr>
            <p:ph type="sldNum" sz="quarter" idx="12"/>
          </p:nvPr>
        </p:nvSpPr>
        <p:spPr bwMode="auto">
          <a:xfrm>
            <a:off x="1325544" y="4928702"/>
            <a:ext cx="609600" cy="517524"/>
          </a:xfrm>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8" name="Content Placeholder 7"/>
          <p:cNvSpPr>
            <a:spLocks noGrp="1"/>
          </p:cNvSpPr>
          <p:nvPr>
            <p:ph sz="quarter" idx="1"/>
          </p:nvPr>
        </p:nvSpPr>
        <p:spPr>
          <a:xfrm>
            <a:off x="457200" y="1600200"/>
            <a:ext cx="7467600" cy="487375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4"/>
          </p:nvPr>
        </p:nvSpPr>
        <p:spPr/>
        <p:txBody>
          <a:bodyPr rtlCol="0"/>
          <a:lstStyle/>
          <a:p>
            <a:fld id="{1D8BD707-D9CF-40AE-B4C6-C98DA3205C09}" type="datetimeFigureOut">
              <a:rPr lang="en-US" smtClean="0"/>
              <a:pPr/>
              <a:t>7/10/2018</a:t>
            </a:fld>
            <a:endParaRPr lang="en-US"/>
          </a:p>
        </p:txBody>
      </p:sp>
      <p:sp>
        <p:nvSpPr>
          <p:cNvPr id="9" name="Slide Number Placeholder 8"/>
          <p:cNvSpPr>
            <a:spLocks noGrp="1"/>
          </p:cNvSpPr>
          <p:nvPr>
            <p:ph type="sldNum" sz="quarter" idx="15"/>
          </p:nvPr>
        </p:nvSpPr>
        <p:spPr/>
        <p:txBody>
          <a:bodyPr rtlCol="0"/>
          <a:lstStyle/>
          <a:p>
            <a:fld id="{B6F15528-21DE-4FAA-801E-634DDDAF4B2B}" type="slidenum">
              <a:rPr lang="en-US" smtClean="0"/>
              <a:pPr/>
              <a:t>‹#›</a:t>
            </a:fld>
            <a:endParaRPr lang="en-US"/>
          </a:p>
        </p:txBody>
      </p:sp>
      <p:sp>
        <p:nvSpPr>
          <p:cNvPr id="10" name="Footer Placeholder 9"/>
          <p:cNvSpPr>
            <a:spLocks noGrp="1"/>
          </p:cNvSpPr>
          <p:nvPr>
            <p:ph type="ftr" sz="quarter" idx="16"/>
          </p:nvPr>
        </p:nvSpPr>
        <p:spPr/>
        <p:txBody>
          <a:bodyPr rtlCol="0"/>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286000" y="2895600"/>
            <a:ext cx="6172200" cy="2053590"/>
          </a:xfrm>
        </p:spPr>
        <p:txBody>
          <a:bodyPr/>
          <a:lstStyle>
            <a:lvl1pPr algn="l">
              <a:buNone/>
              <a:defRPr sz="3000" b="1" cap="small"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bwMode="auto">
          <a:xfrm rot="5400000">
            <a:off x="7763256" y="1170432"/>
            <a:ext cx="2286000" cy="381000"/>
          </a:xfrm>
        </p:spPr>
        <p:txBody>
          <a:bodyPr/>
          <a:lstStyle/>
          <a:p>
            <a:fld id="{1D8BD707-D9CF-40AE-B4C6-C98DA3205C09}" type="datetimeFigureOut">
              <a:rPr lang="en-US" smtClean="0"/>
              <a:pPr/>
              <a:t>7/10/2018</a:t>
            </a:fld>
            <a:endParaRPr lang="en-US"/>
          </a:p>
        </p:txBody>
      </p:sp>
      <p:sp>
        <p:nvSpPr>
          <p:cNvPr id="5" name="Footer Placeholder 4"/>
          <p:cNvSpPr>
            <a:spLocks noGrp="1"/>
          </p:cNvSpPr>
          <p:nvPr>
            <p:ph type="ftr" sz="quarter" idx="11"/>
          </p:nvPr>
        </p:nvSpPr>
        <p:spPr bwMode="auto">
          <a:xfrm rot="5400000">
            <a:off x="7077456" y="4178808"/>
            <a:ext cx="3657600" cy="384048"/>
          </a:xfrm>
        </p:spPr>
        <p:txBody>
          <a:bodyPr/>
          <a:lstStyle/>
          <a:p>
            <a:endParaRPr lang="en-US"/>
          </a:p>
        </p:txBody>
      </p:sp>
      <p:sp>
        <p:nvSpPr>
          <p:cNvPr id="9" name="Rectangle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Rectangle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ctangle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Straight Connector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Straight Connector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Straight Connector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Straight Connector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Rectangle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Straight Connector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ide Number Placeholder 5"/>
          <p:cNvSpPr>
            <a:spLocks noGrp="1"/>
          </p:cNvSpPr>
          <p:nvPr>
            <p:ph type="sldNum" sz="quarter" idx="12"/>
          </p:nvPr>
        </p:nvSpPr>
        <p:spPr bwMode="auto">
          <a:xfrm>
            <a:off x="1340616" y="4928702"/>
            <a:ext cx="609600" cy="517524"/>
          </a:xfrm>
        </p:spPr>
        <p:txBody>
          <a:bodyPr/>
          <a:lstStyle/>
          <a:p>
            <a:fld id="{B6F15528-21DE-4FAA-801E-634DDDAF4B2B}" type="slidenum">
              <a:rPr lang="en-US" smtClean="0"/>
              <a:pPr/>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7/10/2018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270248" y="1600200"/>
            <a:ext cx="365760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7543800" cy="1143000"/>
          </a:xfrm>
        </p:spPr>
        <p:txBody>
          <a:bodyPr anchor="b"/>
          <a:lstStyle>
            <a:lvl1pPr>
              <a:defRPr/>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1D8BD707-D9CF-40AE-B4C6-C98DA3205C09}" type="datetimeFigureOut">
              <a:rPr lang="en-US" smtClean="0"/>
              <a:pPr/>
              <a:t>7/10/2018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371975" y="2362200"/>
            <a:ext cx="3657600" cy="3886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Text Placeholder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
        <p:nvSpPr>
          <p:cNvPr id="14" name="Text Placeholder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smtClean="0"/>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6" name="Date Placeholder 5"/>
          <p:cNvSpPr>
            <a:spLocks noGrp="1"/>
          </p:cNvSpPr>
          <p:nvPr>
            <p:ph type="dt" sz="half" idx="10"/>
          </p:nvPr>
        </p:nvSpPr>
        <p:spPr/>
        <p:txBody>
          <a:bodyPr rtlCol="0"/>
          <a:lstStyle/>
          <a:p>
            <a:fld id="{1D8BD707-D9CF-40AE-B4C6-C98DA3205C09}" type="datetimeFigureOut">
              <a:rPr lang="en-US" smtClean="0"/>
              <a:pPr/>
              <a:t>7/10/2018</a:t>
            </a:fld>
            <a:endParaRPr lang="en-US"/>
          </a:p>
        </p:txBody>
      </p:sp>
      <p:sp>
        <p:nvSpPr>
          <p:cNvPr id="7" name="Slide Number Placeholder 6"/>
          <p:cNvSpPr>
            <a:spLocks noGrp="1"/>
          </p:cNvSpPr>
          <p:nvPr>
            <p:ph type="sldNum" sz="quarter" idx="11"/>
          </p:nvPr>
        </p:nvSpPr>
        <p:spPr/>
        <p:txBody>
          <a:bodyPr rtlCol="0"/>
          <a:lstStyle/>
          <a:p>
            <a:fld id="{B6F15528-21DE-4FAA-801E-634DDDAF4B2B}" type="slidenum">
              <a:rPr lang="en-US" smtClean="0"/>
              <a:pPr/>
              <a:t>‹#›</a:t>
            </a:fld>
            <a:endParaRPr lang="en-US"/>
          </a:p>
        </p:txBody>
      </p:sp>
      <p:sp>
        <p:nvSpPr>
          <p:cNvPr id="8" name="Footer Placeholder 7"/>
          <p:cNvSpPr>
            <a:spLocks noGrp="1"/>
          </p:cNvSpPr>
          <p:nvPr>
            <p:ph type="ftr" sz="quarter" idx="12"/>
          </p:nvPr>
        </p:nvSpPr>
        <p:spPr/>
        <p:txBody>
          <a:bodyPr rtlCol="0"/>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7/10/2018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Title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Straight Connector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Straight Connector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Straight Connector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Rectangle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Straight Connector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Content Placeholder 17"/>
          <p:cNvSpPr>
            <a:spLocks noGrp="1"/>
          </p:cNvSpPr>
          <p:nvPr>
            <p:ph sz="quarter" idx="1"/>
          </p:nvPr>
        </p:nvSpPr>
        <p:spPr>
          <a:xfrm>
            <a:off x="304800" y="274320"/>
            <a:ext cx="5638800" cy="6327648"/>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1" name="Date Placeholder 20"/>
          <p:cNvSpPr>
            <a:spLocks noGrp="1"/>
          </p:cNvSpPr>
          <p:nvPr>
            <p:ph type="dt" sz="half" idx="14"/>
          </p:nvPr>
        </p:nvSpPr>
        <p:spPr/>
        <p:txBody>
          <a:bodyPr rtlCol="0"/>
          <a:lstStyle/>
          <a:p>
            <a:fld id="{1D8BD707-D9CF-40AE-B4C6-C98DA3205C09}" type="datetimeFigureOut">
              <a:rPr lang="en-US" smtClean="0"/>
              <a:pPr/>
              <a:t>7/10/2018</a:t>
            </a:fld>
            <a:endParaRPr lang="en-US"/>
          </a:p>
        </p:txBody>
      </p:sp>
      <p:sp>
        <p:nvSpPr>
          <p:cNvPr id="22" name="Slide Number Placeholder 21"/>
          <p:cNvSpPr>
            <a:spLocks noGrp="1"/>
          </p:cNvSpPr>
          <p:nvPr>
            <p:ph type="sldNum" sz="quarter" idx="15"/>
          </p:nvPr>
        </p:nvSpPr>
        <p:spPr/>
        <p:txBody>
          <a:bodyPr rtlCol="0"/>
          <a:lstStyle/>
          <a:p>
            <a:fld id="{B6F15528-21DE-4FAA-801E-634DDDAF4B2B}" type="slidenum">
              <a:rPr lang="en-US" smtClean="0"/>
              <a:pPr/>
              <a:t>‹#›</a:t>
            </a:fld>
            <a:endParaRPr lang="en-US"/>
          </a:p>
        </p:txBody>
      </p:sp>
      <p:sp>
        <p:nvSpPr>
          <p:cNvPr id="23" name="Footer Placeholder 22"/>
          <p:cNvSpPr>
            <a:spLocks noGrp="1"/>
          </p:cNvSpPr>
          <p:nvPr>
            <p:ph type="ftr" sz="quarter" idx="16"/>
          </p:nvPr>
        </p:nvSpPr>
        <p:spPr/>
        <p:txBody>
          <a:bodyPr rtlCol="0"/>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Title 1"/>
          <p:cNvSpPr>
            <a:spLocks noGrp="1"/>
          </p:cNvSpPr>
          <p:nvPr>
            <p:ph type="title"/>
          </p:nvPr>
        </p:nvSpPr>
        <p:spPr>
          <a:xfrm rot="5400000">
            <a:off x="3350133" y="3200400"/>
            <a:ext cx="6309360" cy="457200"/>
          </a:xfrm>
        </p:spPr>
        <p:txBody>
          <a:bodyPr anchor="b"/>
          <a:lstStyle>
            <a:lvl1pPr algn="l">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smtClean="0"/>
              <a:t>Click icon to add picture</a:t>
            </a:r>
            <a:endParaRPr kumimoji="0" lang="en-US" dirty="0"/>
          </a:p>
        </p:txBody>
      </p:sp>
      <p:sp>
        <p:nvSpPr>
          <p:cNvPr id="4" name="Text Placeholder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0" name="Straight Connector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Rectangle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Straight Connector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Straight Connector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Straight Connector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Date Placeholder 16"/>
          <p:cNvSpPr>
            <a:spLocks noGrp="1"/>
          </p:cNvSpPr>
          <p:nvPr>
            <p:ph type="dt" sz="half" idx="10"/>
          </p:nvPr>
        </p:nvSpPr>
        <p:spPr/>
        <p:txBody>
          <a:bodyPr rtlCol="0"/>
          <a:lstStyle/>
          <a:p>
            <a:fld id="{1D8BD707-D9CF-40AE-B4C6-C98DA3205C09}" type="datetimeFigureOut">
              <a:rPr lang="en-US" smtClean="0"/>
              <a:pPr/>
              <a:t>7/10/2018</a:t>
            </a:fld>
            <a:endParaRPr lang="en-US"/>
          </a:p>
        </p:txBody>
      </p:sp>
      <p:sp>
        <p:nvSpPr>
          <p:cNvPr id="18" name="Slide Number Placeholder 17"/>
          <p:cNvSpPr>
            <a:spLocks noGrp="1"/>
          </p:cNvSpPr>
          <p:nvPr>
            <p:ph type="sldNum" sz="quarter" idx="11"/>
          </p:nvPr>
        </p:nvSpPr>
        <p:spPr/>
        <p:txBody>
          <a:bodyPr rtlCol="0"/>
          <a:lstStyle/>
          <a:p>
            <a:fld id="{B6F15528-21DE-4FAA-801E-634DDDAF4B2B}" type="slidenum">
              <a:rPr lang="en-US" smtClean="0"/>
              <a:pPr/>
              <a:t>‹#›</a:t>
            </a:fld>
            <a:endParaRPr lang="en-US"/>
          </a:p>
        </p:txBody>
      </p:sp>
      <p:sp>
        <p:nvSpPr>
          <p:cNvPr id="21" name="Footer Placeholder 20"/>
          <p:cNvSpPr>
            <a:spLocks noGrp="1"/>
          </p:cNvSpPr>
          <p:nvPr>
            <p:ph type="ftr" sz="quarter" idx="12"/>
          </p:nvPr>
        </p:nvSpPr>
        <p:spPr/>
        <p:txBody>
          <a:bodyPr rtlCol="0"/>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1676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7/10/2018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Title Placeholder 21"/>
          <p:cNvSpPr>
            <a:spLocks noGrp="1"/>
          </p:cNvSpPr>
          <p:nvPr>
            <p:ph type="title"/>
          </p:nvPr>
        </p:nvSpPr>
        <p:spPr>
          <a:xfrm>
            <a:off x="457200" y="274638"/>
            <a:ext cx="7467600" cy="1143000"/>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1D8BD707-D9CF-40AE-B4C6-C98DA3205C09}" type="datetimeFigureOut">
              <a:rPr lang="en-US" smtClean="0"/>
              <a:pPr/>
              <a:t>7/10/2018</a:t>
            </a:fld>
            <a:endParaRPr lang="en-US"/>
          </a:p>
        </p:txBody>
      </p:sp>
      <p:sp>
        <p:nvSpPr>
          <p:cNvPr id="3" name="Footer Placeholder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Straight Connector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Rectangle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Straight Connector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ide Number Placeholder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3124200"/>
            <a:ext cx="6477000" cy="1894362"/>
          </a:xfrm>
        </p:spPr>
        <p:txBody>
          <a:bodyPr/>
          <a:lstStyle/>
          <a:p>
            <a:r>
              <a:rPr lang="en-AU" dirty="0" smtClean="0"/>
              <a:t>Production and Costs (Part 3)</a:t>
            </a:r>
            <a:endParaRPr lang="en-AU" dirty="0"/>
          </a:p>
        </p:txBody>
      </p:sp>
      <p:sp>
        <p:nvSpPr>
          <p:cNvPr id="3" name="Subtitle 2"/>
          <p:cNvSpPr>
            <a:spLocks noGrp="1"/>
          </p:cNvSpPr>
          <p:nvPr>
            <p:ph type="subTitle" idx="1"/>
          </p:nvPr>
        </p:nvSpPr>
        <p:spPr/>
        <p:txBody>
          <a:bodyPr/>
          <a:lstStyle/>
          <a:p>
            <a:r>
              <a:rPr lang="en-AU" dirty="0" smtClean="0"/>
              <a:t>Chapter 19.</a:t>
            </a:r>
            <a:endParaRPr lang="en-AU" dirty="0"/>
          </a:p>
        </p:txBody>
      </p:sp>
    </p:spTree>
    <p:extLst>
      <p:ext uri="{BB962C8B-B14F-4D97-AF65-F5344CB8AC3E}">
        <p14:creationId xmlns:p14="http://schemas.microsoft.com/office/powerpoint/2010/main" val="1448275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The AVC and ATC Curves in Relation to the MC Curve</a:t>
            </a:r>
            <a:endParaRPr lang="en-AU" dirty="0"/>
          </a:p>
        </p:txBody>
      </p:sp>
      <p:sp>
        <p:nvSpPr>
          <p:cNvPr id="3" name="Content Placeholder 2"/>
          <p:cNvSpPr>
            <a:spLocks noGrp="1"/>
          </p:cNvSpPr>
          <p:nvPr>
            <p:ph sz="quarter" idx="1"/>
          </p:nvPr>
        </p:nvSpPr>
        <p:spPr/>
        <p:txBody>
          <a:bodyPr/>
          <a:lstStyle/>
          <a:p>
            <a:r>
              <a:rPr lang="en-AU" dirty="0" smtClean="0"/>
              <a:t>The Average – Marginal Rule: </a:t>
            </a:r>
            <a:r>
              <a:rPr lang="en-US" altLang="en-US" dirty="0"/>
              <a:t>When the marginal magnitude is above the average magnitude, the average magnitude rises;  when the marginal magnitude is below the average magnitude, the average magnitude falls.</a:t>
            </a:r>
          </a:p>
          <a:p>
            <a:endParaRPr lang="en-AU" dirty="0" smtClean="0"/>
          </a:p>
          <a:p>
            <a:r>
              <a:rPr lang="en-AU" dirty="0" smtClean="0"/>
              <a:t>Marginal &gt; Average </a:t>
            </a:r>
            <a:r>
              <a:rPr lang="en-AU" dirty="0" smtClean="0">
                <a:sym typeface="Wingdings" panose="05000000000000000000" pitchFamily="2" charset="2"/>
              </a:rPr>
              <a:t> Average </a:t>
            </a:r>
            <a:r>
              <a:rPr lang="en-AU" dirty="0" smtClean="0">
                <a:sym typeface="Wingdings" panose="05000000000000000000" pitchFamily="2" charset="2"/>
              </a:rPr>
              <a:t>Goes Up</a:t>
            </a:r>
            <a:endParaRPr lang="en-AU" dirty="0" smtClean="0">
              <a:sym typeface="Wingdings" panose="05000000000000000000" pitchFamily="2" charset="2"/>
            </a:endParaRPr>
          </a:p>
          <a:p>
            <a:r>
              <a:rPr lang="en-AU" dirty="0" smtClean="0">
                <a:sym typeface="Wingdings" panose="05000000000000000000" pitchFamily="2" charset="2"/>
              </a:rPr>
              <a:t>Marginal &lt; Average  Average </a:t>
            </a:r>
            <a:r>
              <a:rPr lang="en-AU" dirty="0" smtClean="0">
                <a:sym typeface="Wingdings" panose="05000000000000000000" pitchFamily="2" charset="2"/>
              </a:rPr>
              <a:t>Falls</a:t>
            </a:r>
          </a:p>
          <a:p>
            <a:pPr marL="0" indent="0">
              <a:buNone/>
            </a:pPr>
            <a:endParaRPr lang="en-AU" dirty="0">
              <a:sym typeface="Wingdings" panose="05000000000000000000" pitchFamily="2" charset="2"/>
            </a:endParaRPr>
          </a:p>
          <a:p>
            <a:pPr marL="0" indent="0">
              <a:buNone/>
            </a:pPr>
            <a:endParaRPr lang="en-AU" dirty="0">
              <a:sym typeface="Wingdings" panose="05000000000000000000" pitchFamily="2" charset="2"/>
            </a:endParaRPr>
          </a:p>
          <a:p>
            <a:r>
              <a:rPr lang="en-AU" dirty="0" smtClean="0">
                <a:sym typeface="Wingdings" panose="05000000000000000000" pitchFamily="2" charset="2"/>
              </a:rPr>
              <a:t>Numerically..</a:t>
            </a:r>
            <a:endParaRPr lang="en-AU" dirty="0"/>
          </a:p>
        </p:txBody>
      </p:sp>
    </p:spTree>
    <p:extLst>
      <p:ext uri="{BB962C8B-B14F-4D97-AF65-F5344CB8AC3E}">
        <p14:creationId xmlns:p14="http://schemas.microsoft.com/office/powerpoint/2010/main" val="41899816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457200" y="457200"/>
            <a:ext cx="7696200" cy="1600200"/>
          </a:xfrm>
        </p:spPr>
        <p:txBody>
          <a:bodyPr>
            <a:normAutofit fontScale="92500" lnSpcReduction="20000"/>
          </a:bodyPr>
          <a:lstStyle/>
          <a:p>
            <a:r>
              <a:rPr lang="en-AU" dirty="0" smtClean="0"/>
              <a:t>If MC &lt; AVC </a:t>
            </a:r>
            <a:r>
              <a:rPr lang="en-AU" dirty="0" smtClean="0">
                <a:sym typeface="Wingdings" panose="05000000000000000000" pitchFamily="2" charset="2"/>
              </a:rPr>
              <a:t> AVC is falling; if MC &gt; AVC  AVC is rising, MC = AVC when AVC is minimum</a:t>
            </a:r>
          </a:p>
          <a:p>
            <a:r>
              <a:rPr lang="en-AU" dirty="0"/>
              <a:t>If MC &lt;</a:t>
            </a:r>
            <a:r>
              <a:rPr lang="en-AU" dirty="0" smtClean="0"/>
              <a:t> ATC </a:t>
            </a:r>
            <a:r>
              <a:rPr lang="en-AU" dirty="0">
                <a:sym typeface="Wingdings" panose="05000000000000000000" pitchFamily="2" charset="2"/>
              </a:rPr>
              <a:t> </a:t>
            </a:r>
            <a:r>
              <a:rPr lang="en-AU" dirty="0" smtClean="0">
                <a:sym typeface="Wingdings" panose="05000000000000000000" pitchFamily="2" charset="2"/>
              </a:rPr>
              <a:t>ATC </a:t>
            </a:r>
            <a:r>
              <a:rPr lang="en-AU" dirty="0">
                <a:sym typeface="Wingdings" panose="05000000000000000000" pitchFamily="2" charset="2"/>
              </a:rPr>
              <a:t>is falling; if MC &gt; </a:t>
            </a:r>
            <a:r>
              <a:rPr lang="en-AU" dirty="0" smtClean="0">
                <a:sym typeface="Wingdings" panose="05000000000000000000" pitchFamily="2" charset="2"/>
              </a:rPr>
              <a:t>ATC </a:t>
            </a:r>
            <a:r>
              <a:rPr lang="en-AU" dirty="0">
                <a:sym typeface="Wingdings" panose="05000000000000000000" pitchFamily="2" charset="2"/>
              </a:rPr>
              <a:t> </a:t>
            </a:r>
            <a:r>
              <a:rPr lang="en-AU" dirty="0" smtClean="0">
                <a:sym typeface="Wingdings" panose="05000000000000000000" pitchFamily="2" charset="2"/>
              </a:rPr>
              <a:t>ATC </a:t>
            </a:r>
            <a:r>
              <a:rPr lang="en-AU" dirty="0">
                <a:sym typeface="Wingdings" panose="05000000000000000000" pitchFamily="2" charset="2"/>
              </a:rPr>
              <a:t>is rising, MC = </a:t>
            </a:r>
            <a:r>
              <a:rPr lang="en-AU" dirty="0" smtClean="0">
                <a:sym typeface="Wingdings" panose="05000000000000000000" pitchFamily="2" charset="2"/>
              </a:rPr>
              <a:t>ATC </a:t>
            </a:r>
            <a:r>
              <a:rPr lang="en-AU" dirty="0">
                <a:sym typeface="Wingdings" panose="05000000000000000000" pitchFamily="2" charset="2"/>
              </a:rPr>
              <a:t>when </a:t>
            </a:r>
            <a:r>
              <a:rPr lang="en-AU" dirty="0" smtClean="0">
                <a:sym typeface="Wingdings" panose="05000000000000000000" pitchFamily="2" charset="2"/>
              </a:rPr>
              <a:t>ATC </a:t>
            </a:r>
            <a:r>
              <a:rPr lang="en-AU" dirty="0">
                <a:sym typeface="Wingdings" panose="05000000000000000000" pitchFamily="2" charset="2"/>
              </a:rPr>
              <a:t>is </a:t>
            </a:r>
            <a:r>
              <a:rPr lang="en-AU" dirty="0" smtClean="0">
                <a:sym typeface="Wingdings" panose="05000000000000000000" pitchFamily="2" charset="2"/>
              </a:rPr>
              <a:t>minimum</a:t>
            </a:r>
          </a:p>
          <a:p>
            <a:r>
              <a:rPr lang="en-AU" dirty="0" smtClean="0">
                <a:sym typeface="Wingdings" panose="05000000000000000000" pitchFamily="2" charset="2"/>
              </a:rPr>
              <a:t>No relationship between AFC and MC. </a:t>
            </a:r>
            <a:endParaRPr lang="en-AU" dirty="0">
              <a:sym typeface="Wingdings" panose="05000000000000000000" pitchFamily="2" charset="2"/>
            </a:endParaRPr>
          </a:p>
          <a:p>
            <a:endParaRPr lang="en-AU" dirty="0" smtClean="0">
              <a:sym typeface="Wingdings" panose="05000000000000000000" pitchFamily="2" charset="2"/>
            </a:endParaRPr>
          </a:p>
          <a:p>
            <a:endParaRPr lang="en-AU" dirty="0" smtClean="0">
              <a:sym typeface="Wingdings" panose="05000000000000000000" pitchFamily="2" charset="2"/>
            </a:endParaRPr>
          </a:p>
          <a:p>
            <a:pPr marL="0" indent="0">
              <a:buNone/>
            </a:pPr>
            <a:endParaRPr lang="en-AU" dirty="0"/>
          </a:p>
        </p:txBody>
      </p:sp>
      <p:grpSp>
        <p:nvGrpSpPr>
          <p:cNvPr id="4" name="Group 3"/>
          <p:cNvGrpSpPr>
            <a:grpSpLocks/>
          </p:cNvGrpSpPr>
          <p:nvPr/>
        </p:nvGrpSpPr>
        <p:grpSpPr bwMode="auto">
          <a:xfrm>
            <a:off x="6927" y="2386048"/>
            <a:ext cx="8839200" cy="4397569"/>
            <a:chOff x="873" y="1209"/>
            <a:chExt cx="3981" cy="1891"/>
          </a:xfrm>
        </p:grpSpPr>
        <p:sp>
          <p:nvSpPr>
            <p:cNvPr id="5" name="Rectangle 4"/>
            <p:cNvSpPr>
              <a:spLocks noChangeArrowheads="1"/>
            </p:cNvSpPr>
            <p:nvPr/>
          </p:nvSpPr>
          <p:spPr bwMode="auto">
            <a:xfrm>
              <a:off x="873" y="1209"/>
              <a:ext cx="3981" cy="1891"/>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AU"/>
            </a:p>
          </p:txBody>
        </p:sp>
        <p:pic>
          <p:nvPicPr>
            <p:cNvPr id="6" name="Picture 5" descr="D:\ESWORK\SWPUB\Arnold PPT\Art\Art Ch21\arn17456_21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49" y="1256"/>
              <a:ext cx="3862" cy="1807"/>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741150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Tying Short-Run Production to Costs</a:t>
            </a:r>
          </a:p>
        </p:txBody>
      </p:sp>
      <p:grpSp>
        <p:nvGrpSpPr>
          <p:cNvPr id="4" name="Group 3"/>
          <p:cNvGrpSpPr>
            <a:grpSpLocks/>
          </p:cNvGrpSpPr>
          <p:nvPr/>
        </p:nvGrpSpPr>
        <p:grpSpPr bwMode="auto">
          <a:xfrm>
            <a:off x="231489" y="1705554"/>
            <a:ext cx="8456613" cy="3706813"/>
            <a:chOff x="1445" y="1536"/>
            <a:chExt cx="2864" cy="1255"/>
          </a:xfrm>
        </p:grpSpPr>
        <p:sp>
          <p:nvSpPr>
            <p:cNvPr id="5" name="Rectangle 4"/>
            <p:cNvSpPr>
              <a:spLocks noChangeArrowheads="1"/>
            </p:cNvSpPr>
            <p:nvPr/>
          </p:nvSpPr>
          <p:spPr bwMode="auto">
            <a:xfrm>
              <a:off x="1445" y="1536"/>
              <a:ext cx="2864" cy="1255"/>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AU"/>
            </a:p>
          </p:txBody>
        </p:sp>
        <p:pic>
          <p:nvPicPr>
            <p:cNvPr id="6" name="Picture 5" descr="D:\ESWORK\SWPUB\Arnold PPT\Art\Art Ch21\arn17456_210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9" y="1580"/>
              <a:ext cx="2782" cy="1160"/>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12870503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One More Cost Concept: Sunk Cost</a:t>
            </a:r>
            <a:endParaRPr lang="en-AU" dirty="0"/>
          </a:p>
        </p:txBody>
      </p:sp>
      <p:sp>
        <p:nvSpPr>
          <p:cNvPr id="3" name="Content Placeholder 2"/>
          <p:cNvSpPr>
            <a:spLocks noGrp="1"/>
          </p:cNvSpPr>
          <p:nvPr>
            <p:ph sz="quarter" idx="1"/>
          </p:nvPr>
        </p:nvSpPr>
        <p:spPr>
          <a:xfrm>
            <a:off x="457200" y="1600200"/>
            <a:ext cx="7848600" cy="4873752"/>
          </a:xfrm>
        </p:spPr>
        <p:txBody>
          <a:bodyPr>
            <a:normAutofit lnSpcReduction="10000"/>
          </a:bodyPr>
          <a:lstStyle/>
          <a:p>
            <a:r>
              <a:rPr lang="en-AU" dirty="0" smtClean="0"/>
              <a:t>Sunk Cost: A cost incurred in the past that cannot be changed by current decisions and therefore cannot be recovered.</a:t>
            </a:r>
          </a:p>
          <a:p>
            <a:pPr marL="0" indent="0">
              <a:buNone/>
            </a:pPr>
            <a:endParaRPr lang="en-AU" dirty="0"/>
          </a:p>
          <a:p>
            <a:pPr marL="0" indent="0">
              <a:buNone/>
            </a:pPr>
            <a:r>
              <a:rPr lang="en-AU" b="1" dirty="0" smtClean="0"/>
              <a:t>ECONOMISTS’ ADVICE: IGNORE SUNK COSTS</a:t>
            </a:r>
          </a:p>
          <a:p>
            <a:r>
              <a:rPr lang="en-AU" dirty="0" smtClean="0"/>
              <a:t>Once a sunk cost in incurred, it cannot be recovered.</a:t>
            </a:r>
          </a:p>
          <a:p>
            <a:r>
              <a:rPr lang="en-AU" dirty="0" smtClean="0"/>
              <a:t>Taking sunk costs into the decision making process leads to opportunity costs being ignored, since everything (even time) has an opportunity cost. </a:t>
            </a:r>
          </a:p>
          <a:p>
            <a:r>
              <a:rPr lang="en-AU" dirty="0" smtClean="0"/>
              <a:t>Further, it leads to a risk of compounding the cost.</a:t>
            </a:r>
          </a:p>
          <a:p>
            <a:r>
              <a:rPr lang="en-AU" dirty="0" smtClean="0"/>
              <a:t>Bottom line: A present decision can affect only the future, not the past. Ignore sunk costs as they happened in the past. </a:t>
            </a:r>
            <a:endParaRPr lang="en-AU" dirty="0"/>
          </a:p>
        </p:txBody>
      </p:sp>
    </p:spTree>
    <p:extLst>
      <p:ext uri="{BB962C8B-B14F-4D97-AF65-F5344CB8AC3E}">
        <p14:creationId xmlns:p14="http://schemas.microsoft.com/office/powerpoint/2010/main" val="1117620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Production and Costs In The Long Run</a:t>
            </a:r>
            <a:endParaRPr lang="en-AU" dirty="0"/>
          </a:p>
        </p:txBody>
      </p:sp>
      <p:sp>
        <p:nvSpPr>
          <p:cNvPr id="3" name="Content Placeholder 2"/>
          <p:cNvSpPr>
            <a:spLocks noGrp="1"/>
          </p:cNvSpPr>
          <p:nvPr>
            <p:ph sz="quarter" idx="1"/>
          </p:nvPr>
        </p:nvSpPr>
        <p:spPr/>
        <p:txBody>
          <a:bodyPr/>
          <a:lstStyle/>
          <a:p>
            <a:r>
              <a:rPr lang="en-AU" dirty="0" smtClean="0"/>
              <a:t>In the long run, no inputs are fixed inputs and no fixed costs</a:t>
            </a:r>
          </a:p>
          <a:p>
            <a:r>
              <a:rPr lang="en-AU" dirty="0" smtClean="0"/>
              <a:t>All costs are variable </a:t>
            </a:r>
            <a:r>
              <a:rPr lang="en-AU" dirty="0" smtClean="0">
                <a:sym typeface="Wingdings" panose="05000000000000000000" pitchFamily="2" charset="2"/>
              </a:rPr>
              <a:t> Firm has greater flexibility in long run.</a:t>
            </a:r>
          </a:p>
          <a:p>
            <a:pPr marL="0" indent="0">
              <a:buNone/>
            </a:pPr>
            <a:endParaRPr lang="en-AU" dirty="0">
              <a:sym typeface="Wingdings" panose="05000000000000000000" pitchFamily="2" charset="2"/>
            </a:endParaRPr>
          </a:p>
          <a:p>
            <a:pPr marL="0" indent="0">
              <a:buNone/>
            </a:pPr>
            <a:r>
              <a:rPr lang="en-AU" b="1" dirty="0" smtClean="0">
                <a:sym typeface="Wingdings" panose="05000000000000000000" pitchFamily="2" charset="2"/>
              </a:rPr>
              <a:t>Long-run Average Total Cost</a:t>
            </a:r>
          </a:p>
          <a:p>
            <a:r>
              <a:rPr lang="en-AU" dirty="0" smtClean="0">
                <a:sym typeface="Wingdings" panose="05000000000000000000" pitchFamily="2" charset="2"/>
              </a:rPr>
              <a:t>TVC = TC (TFC = 0 in long run)</a:t>
            </a:r>
          </a:p>
          <a:p>
            <a:r>
              <a:rPr lang="en-US" altLang="en-US" b="1" dirty="0"/>
              <a:t>Long Run Average Total Cost Curve </a:t>
            </a:r>
            <a:r>
              <a:rPr lang="en-US" altLang="en-US" dirty="0"/>
              <a:t>shows the lowest unit cost at which the firm can produce any given level of output.</a:t>
            </a:r>
          </a:p>
          <a:p>
            <a:endParaRPr lang="en-AU" dirty="0" smtClean="0">
              <a:sym typeface="Wingdings" panose="05000000000000000000" pitchFamily="2" charset="2"/>
            </a:endParaRPr>
          </a:p>
        </p:txBody>
      </p:sp>
    </p:spTree>
    <p:extLst>
      <p:ext uri="{BB962C8B-B14F-4D97-AF65-F5344CB8AC3E}">
        <p14:creationId xmlns:p14="http://schemas.microsoft.com/office/powerpoint/2010/main" val="3126788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Production and Costs In The Long Run</a:t>
            </a:r>
          </a:p>
        </p:txBody>
      </p:sp>
      <p:grpSp>
        <p:nvGrpSpPr>
          <p:cNvPr id="4" name="Group 3"/>
          <p:cNvGrpSpPr>
            <a:grpSpLocks/>
          </p:cNvGrpSpPr>
          <p:nvPr/>
        </p:nvGrpSpPr>
        <p:grpSpPr bwMode="auto">
          <a:xfrm>
            <a:off x="6927" y="2438400"/>
            <a:ext cx="9144000" cy="3962400"/>
            <a:chOff x="872" y="1327"/>
            <a:chExt cx="4000" cy="1664"/>
          </a:xfrm>
        </p:grpSpPr>
        <p:sp>
          <p:nvSpPr>
            <p:cNvPr id="5" name="Rectangle 4"/>
            <p:cNvSpPr>
              <a:spLocks noChangeArrowheads="1"/>
            </p:cNvSpPr>
            <p:nvPr/>
          </p:nvSpPr>
          <p:spPr bwMode="auto">
            <a:xfrm>
              <a:off x="872" y="1327"/>
              <a:ext cx="4000" cy="1664"/>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AU"/>
            </a:p>
          </p:txBody>
        </p:sp>
        <p:pic>
          <p:nvPicPr>
            <p:cNvPr id="6" name="Picture 5" descr="D:\ESWORK\SWPUB\Arnold PPT\Art\Art Ch21\arn17456_21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1" y="1371"/>
              <a:ext cx="3877" cy="157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171201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Economies of Scale, Diseconomies of Scale and Constant Returns to Scale </a:t>
            </a:r>
            <a:endParaRPr lang="en-AU" dirty="0"/>
          </a:p>
        </p:txBody>
      </p:sp>
      <p:sp>
        <p:nvSpPr>
          <p:cNvPr id="3" name="Content Placeholder 2"/>
          <p:cNvSpPr>
            <a:spLocks noGrp="1"/>
          </p:cNvSpPr>
          <p:nvPr>
            <p:ph sz="quarter" idx="1"/>
          </p:nvPr>
        </p:nvSpPr>
        <p:spPr>
          <a:xfrm>
            <a:off x="457200" y="1600200"/>
            <a:ext cx="7848600" cy="5105400"/>
          </a:xfrm>
        </p:spPr>
        <p:txBody>
          <a:bodyPr>
            <a:normAutofit fontScale="92500" lnSpcReduction="10000"/>
          </a:bodyPr>
          <a:lstStyle/>
          <a:p>
            <a:r>
              <a:rPr lang="en-US" altLang="en-US" b="1" dirty="0"/>
              <a:t>Economies of Scale </a:t>
            </a:r>
            <a:r>
              <a:rPr lang="en-US" altLang="en-US" dirty="0"/>
              <a:t>exist when inputs are increased by some percentage and output increases by a greater percentage, causing unit costs to fall</a:t>
            </a:r>
            <a:r>
              <a:rPr lang="en-US" altLang="en-US" dirty="0" smtClean="0"/>
              <a:t>. </a:t>
            </a:r>
            <a:r>
              <a:rPr lang="en-US" altLang="en-US" dirty="0" smtClean="0">
                <a:sym typeface="Wingdings" panose="05000000000000000000" pitchFamily="2" charset="2"/>
              </a:rPr>
              <a:t> LRATC is falling</a:t>
            </a:r>
            <a:endParaRPr lang="en-US" altLang="en-US" dirty="0"/>
          </a:p>
          <a:p>
            <a:r>
              <a:rPr lang="en-US" altLang="en-US" b="1" dirty="0"/>
              <a:t>Constant Returns to Scale </a:t>
            </a:r>
            <a:r>
              <a:rPr lang="en-US" altLang="en-US" dirty="0"/>
              <a:t>exist when inputs are increased by some percentage and output increases by an equal percentage, causing unit costs to remain constant</a:t>
            </a:r>
            <a:r>
              <a:rPr lang="en-US" altLang="en-US" dirty="0" smtClean="0"/>
              <a:t>.</a:t>
            </a:r>
            <a:r>
              <a:rPr lang="en-US" altLang="en-US" dirty="0">
                <a:sym typeface="Wingdings" panose="05000000000000000000" pitchFamily="2" charset="2"/>
              </a:rPr>
              <a:t>  LRATC is </a:t>
            </a:r>
            <a:r>
              <a:rPr lang="en-US" altLang="en-US" dirty="0" smtClean="0">
                <a:sym typeface="Wingdings" panose="05000000000000000000" pitchFamily="2" charset="2"/>
              </a:rPr>
              <a:t>constant</a:t>
            </a:r>
            <a:endParaRPr lang="en-US" altLang="en-US" dirty="0"/>
          </a:p>
          <a:p>
            <a:r>
              <a:rPr lang="en-US" altLang="en-US" b="1" dirty="0"/>
              <a:t>Diseconomies of Scale </a:t>
            </a:r>
            <a:r>
              <a:rPr lang="en-US" altLang="en-US" dirty="0"/>
              <a:t>exist when inputs are increased by some percentage and output increases by a smaller percentage, causing unit costs to rise</a:t>
            </a:r>
            <a:r>
              <a:rPr lang="en-US" altLang="en-US" dirty="0" smtClean="0"/>
              <a:t>. </a:t>
            </a:r>
            <a:r>
              <a:rPr lang="en-US" altLang="en-US" dirty="0">
                <a:sym typeface="Wingdings" panose="05000000000000000000" pitchFamily="2" charset="2"/>
              </a:rPr>
              <a:t> LRATC is </a:t>
            </a:r>
            <a:r>
              <a:rPr lang="en-US" altLang="en-US" dirty="0" smtClean="0">
                <a:sym typeface="Wingdings" panose="05000000000000000000" pitchFamily="2" charset="2"/>
              </a:rPr>
              <a:t>rising</a:t>
            </a:r>
            <a:endParaRPr lang="en-US" altLang="en-US" dirty="0"/>
          </a:p>
          <a:p>
            <a:endParaRPr lang="en-US" altLang="en-US" dirty="0"/>
          </a:p>
          <a:p>
            <a:r>
              <a:rPr lang="en-US" altLang="en-US" b="1" dirty="0"/>
              <a:t>Minimum Efficient Scale  </a:t>
            </a:r>
            <a:r>
              <a:rPr lang="en-US" altLang="en-US" dirty="0"/>
              <a:t>is the lowest output level at which average total costs are minimized.</a:t>
            </a:r>
          </a:p>
          <a:p>
            <a:endParaRPr lang="en-AU" dirty="0"/>
          </a:p>
        </p:txBody>
      </p:sp>
    </p:spTree>
    <p:extLst>
      <p:ext uri="{BB962C8B-B14F-4D97-AF65-F5344CB8AC3E}">
        <p14:creationId xmlns:p14="http://schemas.microsoft.com/office/powerpoint/2010/main" val="37097879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dirty="0" smtClean="0"/>
              <a:t>Why Economies of Scale?</a:t>
            </a:r>
            <a:endParaRPr lang="en-AU" dirty="0"/>
          </a:p>
        </p:txBody>
      </p:sp>
      <p:sp>
        <p:nvSpPr>
          <p:cNvPr id="3" name="Content Placeholder 2"/>
          <p:cNvSpPr>
            <a:spLocks noGrp="1"/>
          </p:cNvSpPr>
          <p:nvPr>
            <p:ph sz="quarter" idx="1"/>
          </p:nvPr>
        </p:nvSpPr>
        <p:spPr/>
        <p:txBody>
          <a:bodyPr/>
          <a:lstStyle/>
          <a:p>
            <a:pPr marL="0" indent="0">
              <a:buNone/>
            </a:pPr>
            <a:r>
              <a:rPr lang="en-US" altLang="en-US" dirty="0"/>
              <a:t>Up to a Certain Point, Long – Run unit Costs of Production Fall as a Firm </a:t>
            </a:r>
            <a:r>
              <a:rPr lang="en-US" altLang="en-US" dirty="0" smtClean="0"/>
              <a:t>Grows because of the following reasons:</a:t>
            </a:r>
          </a:p>
          <a:p>
            <a:endParaRPr lang="en-AU" dirty="0" smtClean="0"/>
          </a:p>
          <a:p>
            <a:pPr>
              <a:lnSpc>
                <a:spcPct val="90000"/>
              </a:lnSpc>
            </a:pPr>
            <a:r>
              <a:rPr lang="en-US" altLang="en-US" dirty="0"/>
              <a:t>Growing firms offer greater opportunities for employees to specialize</a:t>
            </a:r>
            <a:r>
              <a:rPr lang="en-US" altLang="en-US" dirty="0" smtClean="0"/>
              <a:t>.</a:t>
            </a:r>
          </a:p>
          <a:p>
            <a:pPr marL="0" indent="0">
              <a:lnSpc>
                <a:spcPct val="90000"/>
              </a:lnSpc>
              <a:buNone/>
            </a:pPr>
            <a:endParaRPr lang="en-US" altLang="en-US" dirty="0"/>
          </a:p>
          <a:p>
            <a:pPr>
              <a:lnSpc>
                <a:spcPct val="90000"/>
              </a:lnSpc>
            </a:pPr>
            <a:r>
              <a:rPr lang="en-US" altLang="en-US" dirty="0"/>
              <a:t>Growing firms can take advantage of highly efficient mass production techniques and equipment that ordinarily require large setup costs and thus are economical only if they can be spread over a large number of units</a:t>
            </a:r>
          </a:p>
          <a:p>
            <a:pPr marL="0" indent="0">
              <a:buNone/>
            </a:pPr>
            <a:endParaRPr lang="en-AU" dirty="0"/>
          </a:p>
        </p:txBody>
      </p:sp>
    </p:spTree>
    <p:extLst>
      <p:ext uri="{BB962C8B-B14F-4D97-AF65-F5344CB8AC3E}">
        <p14:creationId xmlns:p14="http://schemas.microsoft.com/office/powerpoint/2010/main" val="4381878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Why Diseconomies of Scale?</a:t>
            </a:r>
            <a:endParaRPr lang="en-AU" dirty="0"/>
          </a:p>
        </p:txBody>
      </p:sp>
      <p:sp>
        <p:nvSpPr>
          <p:cNvPr id="3" name="Content Placeholder 2"/>
          <p:cNvSpPr>
            <a:spLocks noGrp="1"/>
          </p:cNvSpPr>
          <p:nvPr>
            <p:ph sz="quarter" idx="1"/>
          </p:nvPr>
        </p:nvSpPr>
        <p:spPr/>
        <p:txBody>
          <a:bodyPr/>
          <a:lstStyle/>
          <a:p>
            <a:pPr marL="0" indent="0">
              <a:buNone/>
            </a:pPr>
            <a:r>
              <a:rPr lang="en-AU" dirty="0" smtClean="0"/>
              <a:t>Arises due to the following issues coming up because the firm is too big:</a:t>
            </a:r>
          </a:p>
          <a:p>
            <a:r>
              <a:rPr lang="en-AU" dirty="0" smtClean="0"/>
              <a:t>Difficulty in coordinating work activities</a:t>
            </a:r>
          </a:p>
          <a:p>
            <a:r>
              <a:rPr lang="en-AU" dirty="0" smtClean="0"/>
              <a:t>Communicate the tasks to the right people in a timely way</a:t>
            </a:r>
          </a:p>
          <a:p>
            <a:r>
              <a:rPr lang="en-AU" dirty="0" smtClean="0"/>
              <a:t>Monitoring employees effectively</a:t>
            </a:r>
          </a:p>
          <a:p>
            <a:pPr marL="0" indent="0">
              <a:buNone/>
            </a:pPr>
            <a:endParaRPr lang="en-AU" dirty="0"/>
          </a:p>
          <a:p>
            <a:pPr marL="0" indent="0">
              <a:buNone/>
            </a:pPr>
            <a:r>
              <a:rPr lang="en-AU" dirty="0" smtClean="0"/>
              <a:t>These are avoided by:</a:t>
            </a:r>
          </a:p>
          <a:p>
            <a:r>
              <a:rPr lang="en-AU" dirty="0" smtClean="0"/>
              <a:t>Reorganizing and dividing tasks and operations </a:t>
            </a:r>
            <a:r>
              <a:rPr lang="en-AU" dirty="0" smtClean="0">
                <a:sym typeface="Wingdings" panose="05000000000000000000" pitchFamily="2" charset="2"/>
              </a:rPr>
              <a:t> more specialization</a:t>
            </a:r>
          </a:p>
          <a:p>
            <a:r>
              <a:rPr lang="en-AU" dirty="0" smtClean="0">
                <a:sym typeface="Wingdings" panose="05000000000000000000" pitchFamily="2" charset="2"/>
              </a:rPr>
              <a:t>Hire new managers, etc.</a:t>
            </a:r>
            <a:endParaRPr lang="en-AU" dirty="0" smtClean="0"/>
          </a:p>
        </p:txBody>
      </p:sp>
    </p:spTree>
    <p:extLst>
      <p:ext uri="{BB962C8B-B14F-4D97-AF65-F5344CB8AC3E}">
        <p14:creationId xmlns:p14="http://schemas.microsoft.com/office/powerpoint/2010/main" val="4023955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868362"/>
          </a:xfrm>
        </p:spPr>
        <p:txBody>
          <a:bodyPr>
            <a:normAutofit fontScale="90000"/>
          </a:bodyPr>
          <a:lstStyle/>
          <a:p>
            <a:r>
              <a:rPr lang="en-AU" dirty="0" smtClean="0"/>
              <a:t>Minimum Efficient Scale and Number of Firms in an Industry</a:t>
            </a:r>
            <a:endParaRPr lang="en-AU" dirty="0"/>
          </a:p>
        </p:txBody>
      </p:sp>
      <p:sp>
        <p:nvSpPr>
          <p:cNvPr id="3" name="Content Placeholder 2"/>
          <p:cNvSpPr>
            <a:spLocks noGrp="1"/>
          </p:cNvSpPr>
          <p:nvPr>
            <p:ph sz="quarter" idx="1"/>
          </p:nvPr>
        </p:nvSpPr>
        <p:spPr>
          <a:xfrm>
            <a:off x="457200" y="1143000"/>
            <a:ext cx="5460162" cy="5715000"/>
          </a:xfrm>
        </p:spPr>
        <p:txBody>
          <a:bodyPr>
            <a:normAutofit fontScale="92500"/>
          </a:bodyPr>
          <a:lstStyle/>
          <a:p>
            <a:r>
              <a:rPr lang="en-AU" sz="2000" dirty="0" smtClean="0"/>
              <a:t>The MES as a percentage of US consumption or total sales is not same for all industries.</a:t>
            </a:r>
          </a:p>
          <a:p>
            <a:endParaRPr lang="en-AU" sz="2000" dirty="0"/>
          </a:p>
          <a:p>
            <a:r>
              <a:rPr lang="en-AU" sz="2000" dirty="0" smtClean="0"/>
              <a:t>Firms in the cigarette industry reach MES of plant and thus exhaust economies of scale at an output level of 6.6% of total industry sales, compared to the shoes industry. </a:t>
            </a:r>
          </a:p>
          <a:p>
            <a:endParaRPr lang="en-AU" sz="2000" dirty="0"/>
          </a:p>
          <a:p>
            <a:r>
              <a:rPr lang="en-US" altLang="en-US" sz="2000" dirty="0"/>
              <a:t>Minimum Efficient Scale  can be divided as a percentage of U.S. consumption into 100, we can estimate the number of efficient firms it takes to satisfy U.S. consumption for a particular product</a:t>
            </a:r>
            <a:r>
              <a:rPr lang="en-US" altLang="en-US" sz="2000" dirty="0" smtClean="0"/>
              <a:t>.</a:t>
            </a:r>
          </a:p>
          <a:p>
            <a:endParaRPr lang="en-US" altLang="en-US" sz="2000" dirty="0"/>
          </a:p>
          <a:p>
            <a:r>
              <a:rPr lang="en-AU" sz="2000" dirty="0" smtClean="0"/>
              <a:t>The higher the MES, the fewer firms needed to satisfy the demand for that product</a:t>
            </a:r>
            <a:endParaRPr lang="en-AU" sz="2000" dirty="0"/>
          </a:p>
        </p:txBody>
      </p:sp>
      <p:grpSp>
        <p:nvGrpSpPr>
          <p:cNvPr id="4" name="Group 3"/>
          <p:cNvGrpSpPr>
            <a:grpSpLocks/>
          </p:cNvGrpSpPr>
          <p:nvPr/>
        </p:nvGrpSpPr>
        <p:grpSpPr bwMode="auto">
          <a:xfrm>
            <a:off x="5855975" y="1828800"/>
            <a:ext cx="3233074" cy="4134364"/>
            <a:chOff x="1648" y="768"/>
            <a:chExt cx="2528" cy="2288"/>
          </a:xfrm>
        </p:grpSpPr>
        <p:sp>
          <p:nvSpPr>
            <p:cNvPr id="5" name="Rectangle 4"/>
            <p:cNvSpPr>
              <a:spLocks noChangeArrowheads="1"/>
            </p:cNvSpPr>
            <p:nvPr/>
          </p:nvSpPr>
          <p:spPr bwMode="auto">
            <a:xfrm>
              <a:off x="1648" y="768"/>
              <a:ext cx="2528" cy="2288"/>
            </a:xfrm>
            <a:prstGeom prst="rect">
              <a:avLst/>
            </a:prstGeom>
            <a:solidFill>
              <a:schemeClr val="bg1"/>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a:lstStyle>
            <a:p>
              <a:endParaRPr lang="en-AU"/>
            </a:p>
          </p:txBody>
        </p:sp>
        <p:pic>
          <p:nvPicPr>
            <p:cNvPr id="6" name="Picture 5" descr="D:\ESWORK\SWPUB\Arnold PPT\Art\Art Ch21\Ch21Ex9Tbl.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6" y="807"/>
              <a:ext cx="2439" cy="222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91098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Shifts in Cost Curves</a:t>
            </a:r>
            <a:endParaRPr lang="en-AU" dirty="0"/>
          </a:p>
        </p:txBody>
      </p:sp>
      <p:sp>
        <p:nvSpPr>
          <p:cNvPr id="3" name="Content Placeholder 2"/>
          <p:cNvSpPr>
            <a:spLocks noGrp="1"/>
          </p:cNvSpPr>
          <p:nvPr>
            <p:ph sz="quarter" idx="1"/>
          </p:nvPr>
        </p:nvSpPr>
        <p:spPr>
          <a:xfrm>
            <a:off x="457200" y="1600200"/>
            <a:ext cx="7467600" cy="5105400"/>
          </a:xfrm>
        </p:spPr>
        <p:txBody>
          <a:bodyPr>
            <a:normAutofit fontScale="92500"/>
          </a:bodyPr>
          <a:lstStyle/>
          <a:p>
            <a:r>
              <a:rPr lang="en-US" altLang="en-US" b="1" dirty="0"/>
              <a:t>Taxes</a:t>
            </a:r>
            <a:r>
              <a:rPr lang="en-US" altLang="en-US" dirty="0"/>
              <a:t>: affects variable costs.  Because variable costs rise, total costs rise, and their average curves are shifted upward.  Because marginal cost is the change in total cost divided by the change in output, marginal cost rises</a:t>
            </a:r>
            <a:r>
              <a:rPr lang="en-US" altLang="en-US" dirty="0" smtClean="0"/>
              <a:t>. All curves shift up in taxes increase, vice versa.</a:t>
            </a:r>
            <a:endParaRPr lang="en-US" altLang="en-US" dirty="0"/>
          </a:p>
          <a:p>
            <a:r>
              <a:rPr lang="en-US" altLang="en-US" b="1" dirty="0"/>
              <a:t>Input Prices</a:t>
            </a:r>
            <a:r>
              <a:rPr lang="en-US" altLang="en-US" dirty="0"/>
              <a:t>: A rise or a fall in variable input prices causes a corresponding change in the firm’s average total, variable, and marginal cost curves</a:t>
            </a:r>
            <a:r>
              <a:rPr lang="en-US" altLang="en-US" dirty="0" smtClean="0"/>
              <a:t>. </a:t>
            </a:r>
            <a:r>
              <a:rPr lang="en-US" altLang="en-US" dirty="0"/>
              <a:t>All curves shift up in </a:t>
            </a:r>
            <a:r>
              <a:rPr lang="en-US" altLang="en-US" dirty="0" smtClean="0"/>
              <a:t>input prices </a:t>
            </a:r>
            <a:r>
              <a:rPr lang="en-US" altLang="en-US" dirty="0"/>
              <a:t>increase, vice versa.</a:t>
            </a:r>
          </a:p>
          <a:p>
            <a:r>
              <a:rPr lang="en-US" altLang="en-US" b="1" dirty="0"/>
              <a:t>Technological changes</a:t>
            </a:r>
            <a:r>
              <a:rPr lang="en-US" altLang="en-US" dirty="0"/>
              <a:t> often bring either the capability of using fewer inputs to produce a good or lower input prices</a:t>
            </a:r>
            <a:r>
              <a:rPr lang="en-US" altLang="en-US" dirty="0" smtClean="0"/>
              <a:t>. </a:t>
            </a:r>
            <a:r>
              <a:rPr lang="en-US" altLang="en-US" dirty="0"/>
              <a:t>. All curves shift </a:t>
            </a:r>
            <a:r>
              <a:rPr lang="en-US" altLang="en-US" dirty="0" smtClean="0"/>
              <a:t>down if positive technology change comes, </a:t>
            </a:r>
            <a:r>
              <a:rPr lang="en-US" altLang="en-US" dirty="0"/>
              <a:t>vice versa.</a:t>
            </a:r>
          </a:p>
          <a:p>
            <a:endParaRPr lang="en-AU" dirty="0"/>
          </a:p>
        </p:txBody>
      </p:sp>
    </p:spTree>
    <p:extLst>
      <p:ext uri="{BB962C8B-B14F-4D97-AF65-F5344CB8AC3E}">
        <p14:creationId xmlns:p14="http://schemas.microsoft.com/office/powerpoint/2010/main" val="246905708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Oriel">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106</TotalTime>
  <Words>822</Words>
  <Application>Microsoft Office PowerPoint</Application>
  <PresentationFormat>On-screen Show (4:3)</PresentationFormat>
  <Paragraphs>65</Paragraphs>
  <Slides>12</Slides>
  <Notes>1</Notes>
  <HiddenSlides>0</HiddenSlides>
  <MMClips>0</MMClip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Oriel</vt:lpstr>
      <vt:lpstr>Production and Costs (Part 3)</vt:lpstr>
      <vt:lpstr>The AVC and ATC Curves in Relation to the MC Curve</vt:lpstr>
      <vt:lpstr>PowerPoint Presentation</vt:lpstr>
      <vt:lpstr>Tying Short-Run Production to Costs</vt:lpstr>
      <vt:lpstr>One More Cost Concept: Sunk Cost</vt:lpstr>
      <vt:lpstr>Production and Costs In The Long Run</vt:lpstr>
      <vt:lpstr>Production and Costs In The Long Run</vt:lpstr>
      <vt:lpstr>Economies of Scale, Diseconomies of Scale and Constant Returns to Scale </vt:lpstr>
      <vt:lpstr>Why Economies of Scale?</vt:lpstr>
      <vt:lpstr>Why Diseconomies of Scale?</vt:lpstr>
      <vt:lpstr>Minimum Efficient Scale and Number of Firms in an Industry</vt:lpstr>
      <vt:lpstr>Shifts in Cost Curves</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Production and Costs (Part 3)</dc:title>
  <dc:creator>User</dc:creator>
  <cp:lastModifiedBy>Ahmed</cp:lastModifiedBy>
  <cp:revision>20</cp:revision>
  <dcterms:created xsi:type="dcterms:W3CDTF">2006-08-16T00:00:00Z</dcterms:created>
  <dcterms:modified xsi:type="dcterms:W3CDTF">2018-07-10T04:48:25Z</dcterms:modified>
</cp:coreProperties>
</file>
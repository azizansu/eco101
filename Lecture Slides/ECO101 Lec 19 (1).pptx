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9144000"/>
  <p:notesSz cx="6797675" cy="9874250"/>
  <p:embeddedFontLst>
    <p:embeddedFont>
      <p:font typeface="Century Schoolbook"/>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http://customooxmlschemas.google.com/">
      <go:slidesCustomData xmlns:go="http://customooxmlschemas.google.com/" r:id="rId24" roundtripDataSignature="AMtx7miI+3Kp0wL47xCoPB++m+KJD/uR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CenturySchoolbook-regular.fntdata"/><Relationship Id="rId11" Type="http://schemas.openxmlformats.org/officeDocument/2006/relationships/slide" Target="slides/slide6.xml"/><Relationship Id="rId22" Type="http://schemas.openxmlformats.org/officeDocument/2006/relationships/font" Target="fonts/CenturySchoolbook-italic.fntdata"/><Relationship Id="rId10" Type="http://schemas.openxmlformats.org/officeDocument/2006/relationships/slide" Target="slides/slide5.xml"/><Relationship Id="rId21" Type="http://schemas.openxmlformats.org/officeDocument/2006/relationships/font" Target="fonts/CenturySchoolbook-bold.fntdata"/><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font" Target="fonts/CenturySchoolbook-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45659" cy="49371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50443" y="0"/>
            <a:ext cx="2945659" cy="493713"/>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931863" y="741363"/>
            <a:ext cx="4933950"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768" y="4690269"/>
            <a:ext cx="5438140" cy="444341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378824"/>
            <a:ext cx="2945659" cy="4937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50443" y="9378824"/>
            <a:ext cx="2945659" cy="4937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notes"/>
          <p:cNvSpPr txBox="1"/>
          <p:nvPr>
            <p:ph idx="1" type="body"/>
          </p:nvPr>
        </p:nvSpPr>
        <p:spPr>
          <a:xfrm>
            <a:off x="679768" y="4690269"/>
            <a:ext cx="5438140" cy="444341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1:notes"/>
          <p:cNvSpPr/>
          <p:nvPr>
            <p:ph idx="2" type="sldImg"/>
          </p:nvPr>
        </p:nvSpPr>
        <p:spPr>
          <a:xfrm>
            <a:off x="931863" y="741363"/>
            <a:ext cx="4933950"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2:notes"/>
          <p:cNvSpPr/>
          <p:nvPr>
            <p:ph idx="2" type="sldImg"/>
          </p:nvPr>
        </p:nvSpPr>
        <p:spPr>
          <a:xfrm>
            <a:off x="931863" y="741363"/>
            <a:ext cx="4933950"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2:notes"/>
          <p:cNvSpPr txBox="1"/>
          <p:nvPr>
            <p:ph idx="1" type="body"/>
          </p:nvPr>
        </p:nvSpPr>
        <p:spPr>
          <a:xfrm>
            <a:off x="679768" y="4690269"/>
            <a:ext cx="5438140" cy="444341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2:notes"/>
          <p:cNvSpPr txBox="1"/>
          <p:nvPr>
            <p:ph idx="12" type="sldNum"/>
          </p:nvPr>
        </p:nvSpPr>
        <p:spPr>
          <a:xfrm>
            <a:off x="3850443" y="9378824"/>
            <a:ext cx="2945659" cy="4937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3:notes"/>
          <p:cNvSpPr txBox="1"/>
          <p:nvPr>
            <p:ph idx="12" type="sldNum"/>
          </p:nvPr>
        </p:nvSpPr>
        <p:spPr>
          <a:xfrm>
            <a:off x="3850443" y="9378824"/>
            <a:ext cx="2945659" cy="4937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1" name="Google Shape;151;p3:notes"/>
          <p:cNvSpPr/>
          <p:nvPr>
            <p:ph idx="2" type="sldImg"/>
          </p:nvPr>
        </p:nvSpPr>
        <p:spPr>
          <a:xfrm>
            <a:off x="931863" y="741363"/>
            <a:ext cx="4933950" cy="37020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 name="Google Shape;152;p3:notes"/>
          <p:cNvSpPr txBox="1"/>
          <p:nvPr>
            <p:ph idx="1" type="body"/>
          </p:nvPr>
        </p:nvSpPr>
        <p:spPr>
          <a:xfrm>
            <a:off x="679768" y="4690269"/>
            <a:ext cx="5438140" cy="444341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4:notes"/>
          <p:cNvSpPr txBox="1"/>
          <p:nvPr>
            <p:ph idx="1" type="body"/>
          </p:nvPr>
        </p:nvSpPr>
        <p:spPr>
          <a:xfrm>
            <a:off x="679768" y="4690269"/>
            <a:ext cx="5438140" cy="444341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4:notes"/>
          <p:cNvSpPr/>
          <p:nvPr>
            <p:ph idx="2" type="sldImg"/>
          </p:nvPr>
        </p:nvSpPr>
        <p:spPr>
          <a:xfrm>
            <a:off x="931863" y="741363"/>
            <a:ext cx="4933950"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5:notes"/>
          <p:cNvSpPr txBox="1"/>
          <p:nvPr>
            <p:ph idx="1" type="body"/>
          </p:nvPr>
        </p:nvSpPr>
        <p:spPr>
          <a:xfrm>
            <a:off x="679768" y="4690269"/>
            <a:ext cx="5438140" cy="444341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5:notes"/>
          <p:cNvSpPr/>
          <p:nvPr>
            <p:ph idx="2" type="sldImg"/>
          </p:nvPr>
        </p:nvSpPr>
        <p:spPr>
          <a:xfrm>
            <a:off x="931863" y="741363"/>
            <a:ext cx="4933950"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6:notes"/>
          <p:cNvSpPr txBox="1"/>
          <p:nvPr>
            <p:ph idx="1" type="body"/>
          </p:nvPr>
        </p:nvSpPr>
        <p:spPr>
          <a:xfrm>
            <a:off x="679768" y="4690269"/>
            <a:ext cx="5438140" cy="444341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6:notes"/>
          <p:cNvSpPr/>
          <p:nvPr>
            <p:ph idx="2" type="sldImg"/>
          </p:nvPr>
        </p:nvSpPr>
        <p:spPr>
          <a:xfrm>
            <a:off x="931863" y="741363"/>
            <a:ext cx="4933950"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7:notes"/>
          <p:cNvSpPr txBox="1"/>
          <p:nvPr>
            <p:ph idx="1" type="body"/>
          </p:nvPr>
        </p:nvSpPr>
        <p:spPr>
          <a:xfrm>
            <a:off x="679768" y="4690269"/>
            <a:ext cx="5438140" cy="444341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7:notes"/>
          <p:cNvSpPr/>
          <p:nvPr>
            <p:ph idx="2" type="sldImg"/>
          </p:nvPr>
        </p:nvSpPr>
        <p:spPr>
          <a:xfrm>
            <a:off x="931863" y="741363"/>
            <a:ext cx="4933950"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8:notes"/>
          <p:cNvSpPr txBox="1"/>
          <p:nvPr>
            <p:ph idx="1" type="body"/>
          </p:nvPr>
        </p:nvSpPr>
        <p:spPr>
          <a:xfrm>
            <a:off x="679768" y="4690269"/>
            <a:ext cx="5438140" cy="444341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8:notes"/>
          <p:cNvSpPr/>
          <p:nvPr>
            <p:ph idx="2" type="sldImg"/>
          </p:nvPr>
        </p:nvSpPr>
        <p:spPr>
          <a:xfrm>
            <a:off x="931863" y="741363"/>
            <a:ext cx="4933950"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9:notes"/>
          <p:cNvSpPr txBox="1"/>
          <p:nvPr>
            <p:ph idx="1" type="body"/>
          </p:nvPr>
        </p:nvSpPr>
        <p:spPr>
          <a:xfrm>
            <a:off x="679768" y="4690269"/>
            <a:ext cx="5438140" cy="444341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9:notes"/>
          <p:cNvSpPr/>
          <p:nvPr>
            <p:ph idx="2" type="sldImg"/>
          </p:nvPr>
        </p:nvSpPr>
        <p:spPr>
          <a:xfrm>
            <a:off x="931863" y="741363"/>
            <a:ext cx="4933950"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0:notes"/>
          <p:cNvSpPr txBox="1"/>
          <p:nvPr>
            <p:ph idx="1" type="body"/>
          </p:nvPr>
        </p:nvSpPr>
        <p:spPr>
          <a:xfrm>
            <a:off x="679768" y="4690269"/>
            <a:ext cx="5438140" cy="444341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0:notes"/>
          <p:cNvSpPr/>
          <p:nvPr>
            <p:ph idx="2" type="sldImg"/>
          </p:nvPr>
        </p:nvSpPr>
        <p:spPr>
          <a:xfrm>
            <a:off x="931863" y="741363"/>
            <a:ext cx="4933950"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1:notes"/>
          <p:cNvSpPr txBox="1"/>
          <p:nvPr>
            <p:ph idx="1" type="body"/>
          </p:nvPr>
        </p:nvSpPr>
        <p:spPr>
          <a:xfrm>
            <a:off x="679768" y="4690269"/>
            <a:ext cx="5438140" cy="444341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1:notes"/>
          <p:cNvSpPr/>
          <p:nvPr>
            <p:ph idx="2" type="sldImg"/>
          </p:nvPr>
        </p:nvSpPr>
        <p:spPr>
          <a:xfrm>
            <a:off x="931863" y="741363"/>
            <a:ext cx="4933950"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2:notes"/>
          <p:cNvSpPr txBox="1"/>
          <p:nvPr>
            <p:ph idx="1" type="body"/>
          </p:nvPr>
        </p:nvSpPr>
        <p:spPr>
          <a:xfrm>
            <a:off x="679768" y="4690269"/>
            <a:ext cx="5438140" cy="444341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2:notes"/>
          <p:cNvSpPr/>
          <p:nvPr>
            <p:ph idx="2" type="sldImg"/>
          </p:nvPr>
        </p:nvSpPr>
        <p:spPr>
          <a:xfrm>
            <a:off x="931863" y="741363"/>
            <a:ext cx="4933950"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3:notes"/>
          <p:cNvSpPr txBox="1"/>
          <p:nvPr>
            <p:ph idx="1" type="body"/>
          </p:nvPr>
        </p:nvSpPr>
        <p:spPr>
          <a:xfrm>
            <a:off x="679768" y="4690269"/>
            <a:ext cx="5438140" cy="4443413"/>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3:notes"/>
          <p:cNvSpPr/>
          <p:nvPr>
            <p:ph idx="2" type="sldImg"/>
          </p:nvPr>
        </p:nvSpPr>
        <p:spPr>
          <a:xfrm>
            <a:off x="931863" y="741363"/>
            <a:ext cx="4933950" cy="37020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4:notes"/>
          <p:cNvSpPr/>
          <p:nvPr>
            <p:ph idx="2" type="sldImg"/>
          </p:nvPr>
        </p:nvSpPr>
        <p:spPr>
          <a:xfrm>
            <a:off x="931863" y="741363"/>
            <a:ext cx="4933950" cy="3702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14:notes"/>
          <p:cNvSpPr txBox="1"/>
          <p:nvPr>
            <p:ph idx="1" type="body"/>
          </p:nvPr>
        </p:nvSpPr>
        <p:spPr>
          <a:xfrm>
            <a:off x="679768" y="4690269"/>
            <a:ext cx="5438140" cy="444341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Cents-off coupon. People who place less value on time will bother collecting coupons and availing a low price, while people who place less value on time will  NOT bother collecting coupons and hence pay a high price.</a:t>
            </a:r>
            <a:endParaRPr/>
          </a:p>
          <a:p>
            <a:pPr indent="0" lvl="0" marL="0" rtl="0" algn="l">
              <a:spcBef>
                <a:spcPts val="0"/>
              </a:spcBef>
              <a:spcAft>
                <a:spcPts val="0"/>
              </a:spcAft>
              <a:buNone/>
            </a:pPr>
            <a:r>
              <a:t/>
            </a:r>
            <a:endParaRPr/>
          </a:p>
        </p:txBody>
      </p:sp>
      <p:sp>
        <p:nvSpPr>
          <p:cNvPr id="231" name="Google Shape;231;p14:notes"/>
          <p:cNvSpPr txBox="1"/>
          <p:nvPr>
            <p:ph idx="12" type="sldNum"/>
          </p:nvPr>
        </p:nvSpPr>
        <p:spPr>
          <a:xfrm>
            <a:off x="3850443" y="9378824"/>
            <a:ext cx="2945659" cy="4937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lt1"/>
        </a:solidFill>
      </p:bgPr>
    </p:bg>
    <p:spTree>
      <p:nvGrpSpPr>
        <p:cNvPr id="21" name="Shape 21"/>
        <p:cNvGrpSpPr/>
        <p:nvPr/>
      </p:nvGrpSpPr>
      <p:grpSpPr>
        <a:xfrm>
          <a:off x="0" y="0"/>
          <a:ext cx="0" cy="0"/>
          <a:chOff x="0" y="0"/>
          <a:chExt cx="0" cy="0"/>
        </a:xfrm>
      </p:grpSpPr>
      <p:sp>
        <p:nvSpPr>
          <p:cNvPr id="22" name="Google Shape;22;p16"/>
          <p:cNvSpPr txBox="1"/>
          <p:nvPr>
            <p:ph type="ctrTitle"/>
          </p:nvPr>
        </p:nvSpPr>
        <p:spPr>
          <a:xfrm>
            <a:off x="2286000" y="3124200"/>
            <a:ext cx="6172200" cy="189436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3000"/>
              <a:buFont typeface="Century Schoolbook"/>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6"/>
          <p:cNvSpPr txBox="1"/>
          <p:nvPr>
            <p:ph idx="1" type="subTitle"/>
          </p:nvPr>
        </p:nvSpPr>
        <p:spPr>
          <a:xfrm>
            <a:off x="2286000" y="5003322"/>
            <a:ext cx="6172200" cy="1371600"/>
          </a:xfrm>
          <a:prstGeom prst="rect">
            <a:avLst/>
          </a:prstGeom>
          <a:noFill/>
          <a:ln>
            <a:noFill/>
          </a:ln>
        </p:spPr>
        <p:txBody>
          <a:bodyPr anchorCtr="0" anchor="t" bIns="45700" lIns="91425" spcFirstLastPara="1" rIns="91425" wrap="square" tIns="45700">
            <a:normAutofit/>
          </a:bodyPr>
          <a:lstStyle>
            <a:lvl1pPr lvl="0" algn="l">
              <a:spcBef>
                <a:spcPts val="600"/>
              </a:spcBef>
              <a:spcAft>
                <a:spcPts val="0"/>
              </a:spcAft>
              <a:buSzPts val="1260"/>
              <a:buNone/>
              <a:defRPr b="1" sz="1800">
                <a:solidFill>
                  <a:schemeClr val="dk2"/>
                </a:solidFill>
              </a:defRPr>
            </a:lvl1pPr>
            <a:lvl2pPr lvl="1" algn="ctr">
              <a:spcBef>
                <a:spcPts val="360"/>
              </a:spcBef>
              <a:spcAft>
                <a:spcPts val="0"/>
              </a:spcAft>
              <a:buSzPts val="1440"/>
              <a:buNone/>
              <a:defRPr/>
            </a:lvl2pPr>
            <a:lvl3pPr lvl="2" algn="ctr">
              <a:spcBef>
                <a:spcPts val="360"/>
              </a:spcBef>
              <a:spcAft>
                <a:spcPts val="0"/>
              </a:spcAft>
              <a:buSzPts val="1080"/>
              <a:buNone/>
              <a:defRPr/>
            </a:lvl3pPr>
            <a:lvl4pPr lvl="3" algn="ctr">
              <a:spcBef>
                <a:spcPts val="360"/>
              </a:spcBef>
              <a:spcAft>
                <a:spcPts val="0"/>
              </a:spcAft>
              <a:buSzPts val="1080"/>
              <a:buNone/>
              <a:defRPr/>
            </a:lvl4pPr>
            <a:lvl5pPr lvl="4" algn="ctr">
              <a:spcBef>
                <a:spcPts val="360"/>
              </a:spcBef>
              <a:spcAft>
                <a:spcPts val="0"/>
              </a:spcAft>
              <a:buSzPts val="1224"/>
              <a:buNone/>
              <a:defRPr/>
            </a:lvl5pPr>
            <a:lvl6pPr lvl="5" algn="ctr">
              <a:spcBef>
                <a:spcPts val="360"/>
              </a:spcBef>
              <a:spcAft>
                <a:spcPts val="0"/>
              </a:spcAft>
              <a:buSzPts val="1800"/>
              <a:buNone/>
              <a:defRPr/>
            </a:lvl6pPr>
            <a:lvl7pPr lvl="6" algn="ctr">
              <a:spcBef>
                <a:spcPts val="360"/>
              </a:spcBef>
              <a:spcAft>
                <a:spcPts val="0"/>
              </a:spcAft>
              <a:buSzPts val="108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4" name="Google Shape;24;p16"/>
          <p:cNvSpPr txBox="1"/>
          <p:nvPr>
            <p:ph idx="10" type="dt"/>
          </p:nvPr>
        </p:nvSpPr>
        <p:spPr>
          <a:xfrm rot="5400000">
            <a:off x="7764621" y="1174097"/>
            <a:ext cx="2286000" cy="381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6"/>
          <p:cNvSpPr txBox="1"/>
          <p:nvPr>
            <p:ph idx="11" type="ftr"/>
          </p:nvPr>
        </p:nvSpPr>
        <p:spPr>
          <a:xfrm rot="5400000">
            <a:off x="7077269" y="4181669"/>
            <a:ext cx="3657600" cy="38404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p:nvPr/>
        </p:nvSpPr>
        <p:spPr>
          <a:xfrm>
            <a:off x="381000" y="0"/>
            <a:ext cx="609600" cy="6858000"/>
          </a:xfrm>
          <a:prstGeom prst="rect">
            <a:avLst/>
          </a:prstGeom>
          <a:solidFill>
            <a:srgbClr val="FEC2AC">
              <a:alpha val="5372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27" name="Google Shape;27;p16"/>
          <p:cNvSpPr/>
          <p:nvPr/>
        </p:nvSpPr>
        <p:spPr>
          <a:xfrm>
            <a:off x="276336" y="0"/>
            <a:ext cx="104664" cy="6858000"/>
          </a:xfrm>
          <a:prstGeom prst="rect">
            <a:avLst/>
          </a:prstGeom>
          <a:solidFill>
            <a:srgbClr val="FFD8CC">
              <a:alpha val="3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28" name="Google Shape;28;p16"/>
          <p:cNvSpPr/>
          <p:nvPr/>
        </p:nvSpPr>
        <p:spPr>
          <a:xfrm>
            <a:off x="990600" y="0"/>
            <a:ext cx="181872" cy="6858000"/>
          </a:xfrm>
          <a:prstGeom prst="rect">
            <a:avLst/>
          </a:prstGeom>
          <a:solidFill>
            <a:srgbClr val="FFD8CC">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29" name="Google Shape;29;p16"/>
          <p:cNvSpPr/>
          <p:nvPr/>
        </p:nvSpPr>
        <p:spPr>
          <a:xfrm>
            <a:off x="1141320" y="0"/>
            <a:ext cx="230280" cy="6858000"/>
          </a:xfrm>
          <a:prstGeom prst="rect">
            <a:avLst/>
          </a:prstGeom>
          <a:solidFill>
            <a:srgbClr val="FFEDE7">
              <a:alpha val="7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cxnSp>
        <p:nvCxnSpPr>
          <p:cNvPr id="30" name="Google Shape;30;p16"/>
          <p:cNvCxnSpPr/>
          <p:nvPr/>
        </p:nvCxnSpPr>
        <p:spPr>
          <a:xfrm>
            <a:off x="106344" y="0"/>
            <a:ext cx="0" cy="6858000"/>
          </a:xfrm>
          <a:prstGeom prst="straightConnector1">
            <a:avLst/>
          </a:prstGeom>
          <a:noFill/>
          <a:ln cap="flat" cmpd="sng" w="57150">
            <a:solidFill>
              <a:srgbClr val="FEC2AC">
                <a:alpha val="72941"/>
              </a:srgbClr>
            </a:solidFill>
            <a:prstDash val="solid"/>
            <a:round/>
            <a:headEnd len="sm" w="sm" type="none"/>
            <a:tailEnd len="sm" w="sm" type="none"/>
          </a:ln>
        </p:spPr>
      </p:cxnSp>
      <p:cxnSp>
        <p:nvCxnSpPr>
          <p:cNvPr id="31" name="Google Shape;31;p16"/>
          <p:cNvCxnSpPr/>
          <p:nvPr/>
        </p:nvCxnSpPr>
        <p:spPr>
          <a:xfrm>
            <a:off x="914400" y="0"/>
            <a:ext cx="0" cy="6858000"/>
          </a:xfrm>
          <a:prstGeom prst="straightConnector1">
            <a:avLst/>
          </a:prstGeom>
          <a:noFill/>
          <a:ln cap="flat" cmpd="sng" w="57150">
            <a:solidFill>
              <a:srgbClr val="FFEDE7">
                <a:alpha val="82745"/>
              </a:srgbClr>
            </a:solidFill>
            <a:prstDash val="solid"/>
            <a:round/>
            <a:headEnd len="sm" w="sm" type="none"/>
            <a:tailEnd len="sm" w="sm" type="none"/>
          </a:ln>
        </p:spPr>
      </p:cxnSp>
      <p:cxnSp>
        <p:nvCxnSpPr>
          <p:cNvPr id="32" name="Google Shape;32;p16"/>
          <p:cNvCxnSpPr/>
          <p:nvPr/>
        </p:nvCxnSpPr>
        <p:spPr>
          <a:xfrm>
            <a:off x="854112" y="0"/>
            <a:ext cx="0" cy="6858000"/>
          </a:xfrm>
          <a:prstGeom prst="straightConnector1">
            <a:avLst/>
          </a:prstGeom>
          <a:noFill/>
          <a:ln cap="flat" cmpd="sng" w="57150">
            <a:solidFill>
              <a:srgbClr val="FEC2AC"/>
            </a:solidFill>
            <a:prstDash val="solid"/>
            <a:round/>
            <a:headEnd len="sm" w="sm" type="none"/>
            <a:tailEnd len="sm" w="sm" type="none"/>
          </a:ln>
        </p:spPr>
      </p:cxnSp>
      <p:cxnSp>
        <p:nvCxnSpPr>
          <p:cNvPr id="33" name="Google Shape;33;p16"/>
          <p:cNvCxnSpPr/>
          <p:nvPr/>
        </p:nvCxnSpPr>
        <p:spPr>
          <a:xfrm>
            <a:off x="1726640" y="0"/>
            <a:ext cx="0" cy="6858000"/>
          </a:xfrm>
          <a:prstGeom prst="straightConnector1">
            <a:avLst/>
          </a:prstGeom>
          <a:noFill/>
          <a:ln cap="flat" cmpd="sng" w="28575">
            <a:solidFill>
              <a:srgbClr val="FEC2AC">
                <a:alpha val="81960"/>
              </a:srgbClr>
            </a:solidFill>
            <a:prstDash val="solid"/>
            <a:round/>
            <a:headEnd len="sm" w="sm" type="none"/>
            <a:tailEnd len="sm" w="sm" type="none"/>
          </a:ln>
        </p:spPr>
      </p:cxnSp>
      <p:cxnSp>
        <p:nvCxnSpPr>
          <p:cNvPr id="34" name="Google Shape;34;p16"/>
          <p:cNvCxnSpPr/>
          <p:nvPr/>
        </p:nvCxnSpPr>
        <p:spPr>
          <a:xfrm>
            <a:off x="1066800" y="0"/>
            <a:ext cx="0" cy="6858000"/>
          </a:xfrm>
          <a:prstGeom prst="straightConnector1">
            <a:avLst/>
          </a:prstGeom>
          <a:noFill/>
          <a:ln cap="flat" cmpd="sng" w="9525">
            <a:solidFill>
              <a:srgbClr val="FEC2AC"/>
            </a:solidFill>
            <a:prstDash val="solid"/>
            <a:round/>
            <a:headEnd len="sm" w="sm" type="none"/>
            <a:tailEnd len="sm" w="sm" type="none"/>
          </a:ln>
        </p:spPr>
      </p:cxnSp>
      <p:cxnSp>
        <p:nvCxnSpPr>
          <p:cNvPr id="35" name="Google Shape;35;p16"/>
          <p:cNvCxnSpPr/>
          <p:nvPr/>
        </p:nvCxnSpPr>
        <p:spPr>
          <a:xfrm>
            <a:off x="9113856" y="0"/>
            <a:ext cx="0" cy="6858000"/>
          </a:xfrm>
          <a:prstGeom prst="straightConnector1">
            <a:avLst/>
          </a:prstGeom>
          <a:noFill/>
          <a:ln cap="flat" cmpd="thickThin" w="57150">
            <a:solidFill>
              <a:srgbClr val="FEC2AC"/>
            </a:solidFill>
            <a:prstDash val="solid"/>
            <a:round/>
            <a:headEnd len="sm" w="sm" type="none"/>
            <a:tailEnd len="sm" w="sm" type="none"/>
          </a:ln>
        </p:spPr>
      </p:cxnSp>
      <p:sp>
        <p:nvSpPr>
          <p:cNvPr id="36" name="Google Shape;36;p16"/>
          <p:cNvSpPr/>
          <p:nvPr/>
        </p:nvSpPr>
        <p:spPr>
          <a:xfrm>
            <a:off x="1219200" y="0"/>
            <a:ext cx="76200" cy="6858000"/>
          </a:xfrm>
          <a:prstGeom prst="rect">
            <a:avLst/>
          </a:prstGeom>
          <a:solidFill>
            <a:srgbClr val="FEC2AC">
              <a:alpha val="5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37" name="Google Shape;37;p16"/>
          <p:cNvSpPr/>
          <p:nvPr/>
        </p:nvSpPr>
        <p:spPr>
          <a:xfrm>
            <a:off x="609600" y="3429000"/>
            <a:ext cx="1295400" cy="12954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38" name="Google Shape;38;p16"/>
          <p:cNvSpPr/>
          <p:nvPr/>
        </p:nvSpPr>
        <p:spPr>
          <a:xfrm>
            <a:off x="1309632" y="4866752"/>
            <a:ext cx="641424" cy="64142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39" name="Google Shape;39;p16"/>
          <p:cNvSpPr/>
          <p:nvPr/>
        </p:nvSpPr>
        <p:spPr>
          <a:xfrm>
            <a:off x="1091080" y="5500632"/>
            <a:ext cx="137160" cy="1371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40" name="Google Shape;40;p16"/>
          <p:cNvSpPr/>
          <p:nvPr/>
        </p:nvSpPr>
        <p:spPr>
          <a:xfrm>
            <a:off x="1664208" y="5788152"/>
            <a:ext cx="274320" cy="2743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41" name="Google Shape;41;p16"/>
          <p:cNvSpPr/>
          <p:nvPr/>
        </p:nvSpPr>
        <p:spPr>
          <a:xfrm>
            <a:off x="1905000" y="4495800"/>
            <a:ext cx="365760" cy="3657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42" name="Google Shape;42;p16"/>
          <p:cNvSpPr txBox="1"/>
          <p:nvPr>
            <p:ph idx="12" type="sldNum"/>
          </p:nvPr>
        </p:nvSpPr>
        <p:spPr>
          <a:xfrm>
            <a:off x="1325544" y="4928702"/>
            <a:ext cx="609600" cy="51752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3" name="Shape 43"/>
        <p:cNvGrpSpPr/>
        <p:nvPr/>
      </p:nvGrpSpPr>
      <p:grpSpPr>
        <a:xfrm>
          <a:off x="0" y="0"/>
          <a:ext cx="0" cy="0"/>
          <a:chOff x="0" y="0"/>
          <a:chExt cx="0" cy="0"/>
        </a:xfrm>
      </p:grpSpPr>
      <p:sp>
        <p:nvSpPr>
          <p:cNvPr id="44" name="Google Shape;44;p17"/>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17"/>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6" name="Google Shape;46;p17"/>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48" name="Google Shape;48;p17"/>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dk2"/>
        </a:solidFill>
      </p:bgPr>
    </p:bg>
    <p:spTree>
      <p:nvGrpSpPr>
        <p:cNvPr id="49" name="Shape 49"/>
        <p:cNvGrpSpPr/>
        <p:nvPr/>
      </p:nvGrpSpPr>
      <p:grpSpPr>
        <a:xfrm>
          <a:off x="0" y="0"/>
          <a:ext cx="0" cy="0"/>
          <a:chOff x="0" y="0"/>
          <a:chExt cx="0" cy="0"/>
        </a:xfrm>
      </p:grpSpPr>
      <p:sp>
        <p:nvSpPr>
          <p:cNvPr id="50" name="Google Shape;50;p18"/>
          <p:cNvSpPr txBox="1"/>
          <p:nvPr>
            <p:ph type="title"/>
          </p:nvPr>
        </p:nvSpPr>
        <p:spPr>
          <a:xfrm>
            <a:off x="2286000" y="2895600"/>
            <a:ext cx="6172200" cy="205359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3000"/>
              <a:buFont typeface="Century Schoolbook"/>
              <a:buNone/>
              <a:defRPr b="1" sz="3000" cap="small"/>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8"/>
          <p:cNvSpPr txBox="1"/>
          <p:nvPr>
            <p:ph idx="1" type="body"/>
          </p:nvPr>
        </p:nvSpPr>
        <p:spPr>
          <a:xfrm>
            <a:off x="2286000" y="5010150"/>
            <a:ext cx="6172200"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600"/>
              </a:spcBef>
              <a:spcAft>
                <a:spcPts val="0"/>
              </a:spcAft>
              <a:buSzPts val="1260"/>
              <a:buNone/>
              <a:defRPr b="1" sz="1800">
                <a:solidFill>
                  <a:schemeClr val="lt2"/>
                </a:solidFill>
              </a:defRPr>
            </a:lvl1pPr>
            <a:lvl2pPr indent="-228600" lvl="1" marL="914400" algn="l">
              <a:spcBef>
                <a:spcPts val="360"/>
              </a:spcBef>
              <a:spcAft>
                <a:spcPts val="0"/>
              </a:spcAft>
              <a:buSzPts val="1440"/>
              <a:buNone/>
              <a:defRPr sz="1800">
                <a:solidFill>
                  <a:schemeClr val="lt1"/>
                </a:solidFill>
              </a:defRPr>
            </a:lvl2pPr>
            <a:lvl3pPr indent="-228600" lvl="2" marL="1371600" algn="l">
              <a:spcBef>
                <a:spcPts val="320"/>
              </a:spcBef>
              <a:spcAft>
                <a:spcPts val="0"/>
              </a:spcAft>
              <a:buSzPts val="960"/>
              <a:buNone/>
              <a:defRPr sz="1600">
                <a:solidFill>
                  <a:schemeClr val="lt1"/>
                </a:solidFill>
              </a:defRPr>
            </a:lvl3pPr>
            <a:lvl4pPr indent="-228600" lvl="3" marL="1828800" algn="l">
              <a:spcBef>
                <a:spcPts val="280"/>
              </a:spcBef>
              <a:spcAft>
                <a:spcPts val="0"/>
              </a:spcAft>
              <a:buSzPts val="840"/>
              <a:buNone/>
              <a:defRPr sz="1400">
                <a:solidFill>
                  <a:schemeClr val="lt1"/>
                </a:solidFill>
              </a:defRPr>
            </a:lvl4pPr>
            <a:lvl5pPr indent="-228600" lvl="4" marL="2286000" algn="l">
              <a:spcBef>
                <a:spcPts val="280"/>
              </a:spcBef>
              <a:spcAft>
                <a:spcPts val="0"/>
              </a:spcAft>
              <a:buSzPts val="952"/>
              <a:buNone/>
              <a:defRPr sz="1400">
                <a:solidFill>
                  <a:schemeClr val="lt1"/>
                </a:solidFill>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2" name="Google Shape;52;p18"/>
          <p:cNvSpPr txBox="1"/>
          <p:nvPr>
            <p:ph idx="10" type="dt"/>
          </p:nvPr>
        </p:nvSpPr>
        <p:spPr>
          <a:xfrm rot="5400000">
            <a:off x="7763256" y="1170432"/>
            <a:ext cx="2286000" cy="381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1" type="ftr"/>
          </p:nvPr>
        </p:nvSpPr>
        <p:spPr>
          <a:xfrm rot="5400000">
            <a:off x="7077456" y="4178808"/>
            <a:ext cx="3657600" cy="38404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8"/>
          <p:cNvSpPr/>
          <p:nvPr/>
        </p:nvSpPr>
        <p:spPr>
          <a:xfrm>
            <a:off x="381000" y="0"/>
            <a:ext cx="609600" cy="6858000"/>
          </a:xfrm>
          <a:prstGeom prst="rect">
            <a:avLst/>
          </a:prstGeom>
          <a:solidFill>
            <a:srgbClr val="FEC2AC">
              <a:alpha val="5372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55" name="Google Shape;55;p18"/>
          <p:cNvSpPr/>
          <p:nvPr/>
        </p:nvSpPr>
        <p:spPr>
          <a:xfrm>
            <a:off x="276336" y="0"/>
            <a:ext cx="104664" cy="6858000"/>
          </a:xfrm>
          <a:prstGeom prst="rect">
            <a:avLst/>
          </a:prstGeom>
          <a:solidFill>
            <a:srgbClr val="FFD8CC">
              <a:alpha val="3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56" name="Google Shape;56;p18"/>
          <p:cNvSpPr/>
          <p:nvPr/>
        </p:nvSpPr>
        <p:spPr>
          <a:xfrm>
            <a:off x="990600" y="0"/>
            <a:ext cx="181872" cy="6858000"/>
          </a:xfrm>
          <a:prstGeom prst="rect">
            <a:avLst/>
          </a:prstGeom>
          <a:solidFill>
            <a:srgbClr val="FFD8CC">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57" name="Google Shape;57;p18"/>
          <p:cNvSpPr/>
          <p:nvPr/>
        </p:nvSpPr>
        <p:spPr>
          <a:xfrm>
            <a:off x="1141320" y="0"/>
            <a:ext cx="230280" cy="6858000"/>
          </a:xfrm>
          <a:prstGeom prst="rect">
            <a:avLst/>
          </a:prstGeom>
          <a:solidFill>
            <a:srgbClr val="FFEDE7">
              <a:alpha val="7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cxnSp>
        <p:nvCxnSpPr>
          <p:cNvPr id="58" name="Google Shape;58;p18"/>
          <p:cNvCxnSpPr/>
          <p:nvPr/>
        </p:nvCxnSpPr>
        <p:spPr>
          <a:xfrm>
            <a:off x="106344" y="0"/>
            <a:ext cx="0" cy="6858000"/>
          </a:xfrm>
          <a:prstGeom prst="straightConnector1">
            <a:avLst/>
          </a:prstGeom>
          <a:noFill/>
          <a:ln cap="flat" cmpd="sng" w="57150">
            <a:solidFill>
              <a:srgbClr val="FEC2AC">
                <a:alpha val="72941"/>
              </a:srgbClr>
            </a:solidFill>
            <a:prstDash val="solid"/>
            <a:round/>
            <a:headEnd len="sm" w="sm" type="none"/>
            <a:tailEnd len="sm" w="sm" type="none"/>
          </a:ln>
        </p:spPr>
      </p:cxnSp>
      <p:cxnSp>
        <p:nvCxnSpPr>
          <p:cNvPr id="59" name="Google Shape;59;p18"/>
          <p:cNvCxnSpPr/>
          <p:nvPr/>
        </p:nvCxnSpPr>
        <p:spPr>
          <a:xfrm>
            <a:off x="914400" y="0"/>
            <a:ext cx="0" cy="6858000"/>
          </a:xfrm>
          <a:prstGeom prst="straightConnector1">
            <a:avLst/>
          </a:prstGeom>
          <a:noFill/>
          <a:ln cap="flat" cmpd="sng" w="57150">
            <a:solidFill>
              <a:srgbClr val="FFEDE7">
                <a:alpha val="82745"/>
              </a:srgbClr>
            </a:solidFill>
            <a:prstDash val="solid"/>
            <a:round/>
            <a:headEnd len="sm" w="sm" type="none"/>
            <a:tailEnd len="sm" w="sm" type="none"/>
          </a:ln>
        </p:spPr>
      </p:cxnSp>
      <p:cxnSp>
        <p:nvCxnSpPr>
          <p:cNvPr id="60" name="Google Shape;60;p18"/>
          <p:cNvCxnSpPr/>
          <p:nvPr/>
        </p:nvCxnSpPr>
        <p:spPr>
          <a:xfrm>
            <a:off x="854112" y="0"/>
            <a:ext cx="0" cy="6858000"/>
          </a:xfrm>
          <a:prstGeom prst="straightConnector1">
            <a:avLst/>
          </a:prstGeom>
          <a:noFill/>
          <a:ln cap="flat" cmpd="sng" w="57150">
            <a:solidFill>
              <a:srgbClr val="FEC2AC"/>
            </a:solidFill>
            <a:prstDash val="solid"/>
            <a:round/>
            <a:headEnd len="sm" w="sm" type="none"/>
            <a:tailEnd len="sm" w="sm" type="none"/>
          </a:ln>
        </p:spPr>
      </p:cxnSp>
      <p:cxnSp>
        <p:nvCxnSpPr>
          <p:cNvPr id="61" name="Google Shape;61;p18"/>
          <p:cNvCxnSpPr/>
          <p:nvPr/>
        </p:nvCxnSpPr>
        <p:spPr>
          <a:xfrm>
            <a:off x="1726640" y="0"/>
            <a:ext cx="0" cy="6858000"/>
          </a:xfrm>
          <a:prstGeom prst="straightConnector1">
            <a:avLst/>
          </a:prstGeom>
          <a:noFill/>
          <a:ln cap="flat" cmpd="sng" w="28575">
            <a:solidFill>
              <a:srgbClr val="FEC2AC">
                <a:alpha val="81960"/>
              </a:srgbClr>
            </a:solidFill>
            <a:prstDash val="solid"/>
            <a:round/>
            <a:headEnd len="sm" w="sm" type="none"/>
            <a:tailEnd len="sm" w="sm" type="none"/>
          </a:ln>
        </p:spPr>
      </p:cxnSp>
      <p:cxnSp>
        <p:nvCxnSpPr>
          <p:cNvPr id="62" name="Google Shape;62;p18"/>
          <p:cNvCxnSpPr/>
          <p:nvPr/>
        </p:nvCxnSpPr>
        <p:spPr>
          <a:xfrm>
            <a:off x="1066800" y="0"/>
            <a:ext cx="0" cy="6858000"/>
          </a:xfrm>
          <a:prstGeom prst="straightConnector1">
            <a:avLst/>
          </a:prstGeom>
          <a:noFill/>
          <a:ln cap="flat" cmpd="sng" w="9525">
            <a:solidFill>
              <a:srgbClr val="FEC2AC"/>
            </a:solidFill>
            <a:prstDash val="solid"/>
            <a:round/>
            <a:headEnd len="sm" w="sm" type="none"/>
            <a:tailEnd len="sm" w="sm" type="none"/>
          </a:ln>
        </p:spPr>
      </p:cxnSp>
      <p:sp>
        <p:nvSpPr>
          <p:cNvPr id="63" name="Google Shape;63;p18"/>
          <p:cNvSpPr/>
          <p:nvPr/>
        </p:nvSpPr>
        <p:spPr>
          <a:xfrm>
            <a:off x="1219200" y="0"/>
            <a:ext cx="76200" cy="6858000"/>
          </a:xfrm>
          <a:prstGeom prst="rect">
            <a:avLst/>
          </a:prstGeom>
          <a:solidFill>
            <a:srgbClr val="FEC2AC">
              <a:alpha val="5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64" name="Google Shape;64;p18"/>
          <p:cNvSpPr/>
          <p:nvPr/>
        </p:nvSpPr>
        <p:spPr>
          <a:xfrm>
            <a:off x="609600" y="3429000"/>
            <a:ext cx="1295400" cy="12954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65" name="Google Shape;65;p18"/>
          <p:cNvSpPr/>
          <p:nvPr/>
        </p:nvSpPr>
        <p:spPr>
          <a:xfrm>
            <a:off x="1324704" y="4866752"/>
            <a:ext cx="641424" cy="64142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66" name="Google Shape;66;p18"/>
          <p:cNvSpPr/>
          <p:nvPr/>
        </p:nvSpPr>
        <p:spPr>
          <a:xfrm>
            <a:off x="1091080" y="5500632"/>
            <a:ext cx="137160" cy="1371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67" name="Google Shape;67;p18"/>
          <p:cNvSpPr/>
          <p:nvPr/>
        </p:nvSpPr>
        <p:spPr>
          <a:xfrm>
            <a:off x="1664208" y="5791200"/>
            <a:ext cx="274320" cy="2743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68" name="Google Shape;68;p18"/>
          <p:cNvSpPr/>
          <p:nvPr/>
        </p:nvSpPr>
        <p:spPr>
          <a:xfrm>
            <a:off x="1879040" y="4479888"/>
            <a:ext cx="365760" cy="3657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cxnSp>
        <p:nvCxnSpPr>
          <p:cNvPr id="69" name="Google Shape;69;p18"/>
          <p:cNvCxnSpPr/>
          <p:nvPr/>
        </p:nvCxnSpPr>
        <p:spPr>
          <a:xfrm>
            <a:off x="9097944" y="0"/>
            <a:ext cx="0" cy="6858000"/>
          </a:xfrm>
          <a:prstGeom prst="straightConnector1">
            <a:avLst/>
          </a:prstGeom>
          <a:noFill/>
          <a:ln cap="flat" cmpd="thickThin" w="57150">
            <a:solidFill>
              <a:srgbClr val="FEC2AC"/>
            </a:solidFill>
            <a:prstDash val="solid"/>
            <a:round/>
            <a:headEnd len="sm" w="sm" type="none"/>
            <a:tailEnd len="sm" w="sm" type="none"/>
          </a:ln>
        </p:spPr>
      </p:cxnSp>
      <p:sp>
        <p:nvSpPr>
          <p:cNvPr id="70" name="Google Shape;70;p18"/>
          <p:cNvSpPr txBox="1"/>
          <p:nvPr>
            <p:ph idx="12" type="sldNum"/>
          </p:nvPr>
        </p:nvSpPr>
        <p:spPr>
          <a:xfrm>
            <a:off x="1340616" y="4928702"/>
            <a:ext cx="609600" cy="51752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1" name="Shape 71"/>
        <p:cNvGrpSpPr/>
        <p:nvPr/>
      </p:nvGrpSpPr>
      <p:grpSpPr>
        <a:xfrm>
          <a:off x="0" y="0"/>
          <a:ext cx="0" cy="0"/>
          <a:chOff x="0" y="0"/>
          <a:chExt cx="0" cy="0"/>
        </a:xfrm>
      </p:grpSpPr>
      <p:sp>
        <p:nvSpPr>
          <p:cNvPr id="72" name="Google Shape;72;p19"/>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9"/>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9"/>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76" name="Google Shape;76;p19"/>
          <p:cNvSpPr txBox="1"/>
          <p:nvPr>
            <p:ph idx="1" type="body"/>
          </p:nvPr>
        </p:nvSpPr>
        <p:spPr>
          <a:xfrm>
            <a:off x="457200" y="1600200"/>
            <a:ext cx="3657600" cy="45720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7" name="Google Shape;77;p19"/>
          <p:cNvSpPr txBox="1"/>
          <p:nvPr>
            <p:ph idx="2" type="body"/>
          </p:nvPr>
        </p:nvSpPr>
        <p:spPr>
          <a:xfrm>
            <a:off x="4270248" y="1600200"/>
            <a:ext cx="3657600" cy="45720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8" name="Shape 78"/>
        <p:cNvGrpSpPr/>
        <p:nvPr/>
      </p:nvGrpSpPr>
      <p:grpSpPr>
        <a:xfrm>
          <a:off x="0" y="0"/>
          <a:ext cx="0" cy="0"/>
          <a:chOff x="0" y="0"/>
          <a:chExt cx="0" cy="0"/>
        </a:xfrm>
      </p:grpSpPr>
      <p:sp>
        <p:nvSpPr>
          <p:cNvPr id="79" name="Google Shape;79;p20"/>
          <p:cNvSpPr txBox="1"/>
          <p:nvPr>
            <p:ph type="title"/>
          </p:nvPr>
        </p:nvSpPr>
        <p:spPr>
          <a:xfrm>
            <a:off x="457200" y="273050"/>
            <a:ext cx="75438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3000"/>
              <a:buFont typeface="Century Schoolbook"/>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0"/>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0"/>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83" name="Google Shape;83;p20"/>
          <p:cNvSpPr txBox="1"/>
          <p:nvPr>
            <p:ph idx="1" type="body"/>
          </p:nvPr>
        </p:nvSpPr>
        <p:spPr>
          <a:xfrm>
            <a:off x="457200" y="2362200"/>
            <a:ext cx="3657600" cy="38862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4" name="Google Shape;84;p20"/>
          <p:cNvSpPr txBox="1"/>
          <p:nvPr>
            <p:ph idx="2" type="body"/>
          </p:nvPr>
        </p:nvSpPr>
        <p:spPr>
          <a:xfrm>
            <a:off x="4371975" y="2362200"/>
            <a:ext cx="3657600" cy="38862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5" name="Google Shape;85;p20"/>
          <p:cNvSpPr/>
          <p:nvPr>
            <p:ph idx="3" type="body"/>
          </p:nvPr>
        </p:nvSpPr>
        <p:spPr>
          <a:xfrm>
            <a:off x="457200" y="1569720"/>
            <a:ext cx="3657600" cy="658368"/>
          </a:xfrm>
          <a:prstGeom prst="roundRect">
            <a:avLst>
              <a:gd fmla="val 16667" name="adj"/>
            </a:avLst>
          </a:prstGeom>
          <a:solidFill>
            <a:schemeClr val="accent1"/>
          </a:solid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400"/>
              <a:buFont typeface="Century Schoolbook"/>
              <a:buNone/>
              <a:defRPr b="1" sz="2000">
                <a:solidFill>
                  <a:srgbClr val="FFFFFF"/>
                </a:solidFill>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6" name="Google Shape;86;p20"/>
          <p:cNvSpPr/>
          <p:nvPr>
            <p:ph idx="4" type="body"/>
          </p:nvPr>
        </p:nvSpPr>
        <p:spPr>
          <a:xfrm>
            <a:off x="4343400" y="1569720"/>
            <a:ext cx="3657600" cy="658368"/>
          </a:xfrm>
          <a:prstGeom prst="roundRect">
            <a:avLst>
              <a:gd fmla="val 16667" name="adj"/>
            </a:avLst>
          </a:prstGeom>
          <a:solidFill>
            <a:schemeClr val="accent1"/>
          </a:solid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400"/>
              <a:buFont typeface="Century Schoolbook"/>
              <a:buNone/>
              <a:defRPr b="1" sz="2000">
                <a:solidFill>
                  <a:srgbClr val="FFFFFF"/>
                </a:solidFill>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7" name="Shape 87"/>
        <p:cNvGrpSpPr/>
        <p:nvPr/>
      </p:nvGrpSpPr>
      <p:grpSpPr>
        <a:xfrm>
          <a:off x="0" y="0"/>
          <a:ext cx="0" cy="0"/>
          <a:chOff x="0" y="0"/>
          <a:chExt cx="0" cy="0"/>
        </a:xfrm>
      </p:grpSpPr>
      <p:sp>
        <p:nvSpPr>
          <p:cNvPr id="88" name="Google Shape;88;p21"/>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21"/>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91" name="Google Shape;91;p21"/>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2" name="Shape 92"/>
        <p:cNvGrpSpPr/>
        <p:nvPr/>
      </p:nvGrpSpPr>
      <p:grpSpPr>
        <a:xfrm>
          <a:off x="0" y="0"/>
          <a:ext cx="0" cy="0"/>
          <a:chOff x="0" y="0"/>
          <a:chExt cx="0" cy="0"/>
        </a:xfrm>
      </p:grpSpPr>
      <p:sp>
        <p:nvSpPr>
          <p:cNvPr id="93" name="Google Shape;93;p22"/>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2"/>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bg>
      <p:bgPr>
        <a:solidFill>
          <a:schemeClr val="lt1"/>
        </a:solidFill>
      </p:bgPr>
    </p:bg>
    <p:spTree>
      <p:nvGrpSpPr>
        <p:cNvPr id="96" name="Shape 96"/>
        <p:cNvGrpSpPr/>
        <p:nvPr/>
      </p:nvGrpSpPr>
      <p:grpSpPr>
        <a:xfrm>
          <a:off x="0" y="0"/>
          <a:ext cx="0" cy="0"/>
          <a:chOff x="0" y="0"/>
          <a:chExt cx="0" cy="0"/>
        </a:xfrm>
      </p:grpSpPr>
      <p:cxnSp>
        <p:nvCxnSpPr>
          <p:cNvPr id="97" name="Google Shape;97;p23"/>
          <p:cNvCxnSpPr/>
          <p:nvPr/>
        </p:nvCxnSpPr>
        <p:spPr>
          <a:xfrm>
            <a:off x="8763000" y="0"/>
            <a:ext cx="0" cy="6858000"/>
          </a:xfrm>
          <a:prstGeom prst="straightConnector1">
            <a:avLst/>
          </a:prstGeom>
          <a:noFill/>
          <a:ln cap="flat" cmpd="sng" w="38100">
            <a:solidFill>
              <a:srgbClr val="FEC2AC">
                <a:alpha val="92941"/>
              </a:srgbClr>
            </a:solidFill>
            <a:prstDash val="solid"/>
            <a:round/>
            <a:headEnd len="sm" w="sm" type="none"/>
            <a:tailEnd len="sm" w="sm" type="none"/>
          </a:ln>
        </p:spPr>
      </p:cxnSp>
      <p:sp>
        <p:nvSpPr>
          <p:cNvPr id="98" name="Google Shape;98;p23"/>
          <p:cNvSpPr txBox="1"/>
          <p:nvPr>
            <p:ph type="title"/>
          </p:nvPr>
        </p:nvSpPr>
        <p:spPr>
          <a:xfrm rot="5400000">
            <a:off x="3371850" y="3200400"/>
            <a:ext cx="6309360" cy="457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000"/>
              <a:buFont typeface="Century Schoolbook"/>
              <a:buNone/>
              <a:defRPr b="1" sz="2000" cap="small"/>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23"/>
          <p:cNvSpPr txBox="1"/>
          <p:nvPr>
            <p:ph idx="1" type="body"/>
          </p:nvPr>
        </p:nvSpPr>
        <p:spPr>
          <a:xfrm>
            <a:off x="6812280" y="274320"/>
            <a:ext cx="1527048" cy="4983480"/>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840"/>
              <a:buNone/>
              <a:defRPr sz="1200"/>
            </a:lvl1pPr>
            <a:lvl2pPr indent="-228600" lvl="1" marL="914400" algn="l">
              <a:spcBef>
                <a:spcPts val="1000"/>
              </a:spcBef>
              <a:spcAft>
                <a:spcPts val="0"/>
              </a:spcAft>
              <a:buSzPts val="960"/>
              <a:buNone/>
              <a:defRPr sz="1200"/>
            </a:lvl2pPr>
            <a:lvl3pPr indent="-228600" lvl="2" marL="1371600" algn="l">
              <a:spcBef>
                <a:spcPts val="200"/>
              </a:spcBef>
              <a:spcAft>
                <a:spcPts val="0"/>
              </a:spcAft>
              <a:buSzPts val="600"/>
              <a:buNone/>
              <a:defRPr sz="1000"/>
            </a:lvl3pPr>
            <a:lvl4pPr indent="-228600" lvl="3" marL="1828800" algn="l">
              <a:spcBef>
                <a:spcPts val="180"/>
              </a:spcBef>
              <a:spcAft>
                <a:spcPts val="0"/>
              </a:spcAft>
              <a:buSzPts val="540"/>
              <a:buNone/>
              <a:defRPr sz="900"/>
            </a:lvl4pPr>
            <a:lvl5pPr indent="-228600" lvl="4" marL="2286000" algn="l">
              <a:spcBef>
                <a:spcPts val="180"/>
              </a:spcBef>
              <a:spcAft>
                <a:spcPts val="0"/>
              </a:spcAft>
              <a:buSzPts val="612"/>
              <a:buNone/>
              <a:defRPr sz="900"/>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cxnSp>
        <p:nvCxnSpPr>
          <p:cNvPr id="100" name="Google Shape;100;p23"/>
          <p:cNvCxnSpPr/>
          <p:nvPr/>
        </p:nvCxnSpPr>
        <p:spPr>
          <a:xfrm>
            <a:off x="6248400" y="0"/>
            <a:ext cx="0" cy="6858000"/>
          </a:xfrm>
          <a:prstGeom prst="straightConnector1">
            <a:avLst/>
          </a:prstGeom>
          <a:noFill/>
          <a:ln cap="flat" cmpd="sng" w="38100">
            <a:solidFill>
              <a:srgbClr val="FEC2AC"/>
            </a:solidFill>
            <a:prstDash val="solid"/>
            <a:round/>
            <a:headEnd len="sm" w="sm" type="none"/>
            <a:tailEnd len="sm" w="sm" type="none"/>
          </a:ln>
        </p:spPr>
      </p:cxnSp>
      <p:cxnSp>
        <p:nvCxnSpPr>
          <p:cNvPr id="101" name="Google Shape;101;p23"/>
          <p:cNvCxnSpPr/>
          <p:nvPr/>
        </p:nvCxnSpPr>
        <p:spPr>
          <a:xfrm>
            <a:off x="6192296" y="0"/>
            <a:ext cx="0" cy="6858000"/>
          </a:xfrm>
          <a:prstGeom prst="straightConnector1">
            <a:avLst/>
          </a:prstGeom>
          <a:noFill/>
          <a:ln cap="flat" cmpd="sng" w="12700">
            <a:solidFill>
              <a:schemeClr val="accent1"/>
            </a:solidFill>
            <a:prstDash val="solid"/>
            <a:round/>
            <a:headEnd len="sm" w="sm" type="none"/>
            <a:tailEnd len="sm" w="sm" type="none"/>
          </a:ln>
        </p:spPr>
      </p:cxnSp>
      <p:cxnSp>
        <p:nvCxnSpPr>
          <p:cNvPr id="102" name="Google Shape;102;p23"/>
          <p:cNvCxnSpPr/>
          <p:nvPr/>
        </p:nvCxnSpPr>
        <p:spPr>
          <a:xfrm>
            <a:off x="8991600" y="0"/>
            <a:ext cx="0" cy="6858000"/>
          </a:xfrm>
          <a:prstGeom prst="straightConnector1">
            <a:avLst/>
          </a:prstGeom>
          <a:noFill/>
          <a:ln cap="flat" cmpd="sng" w="19050">
            <a:solidFill>
              <a:schemeClr val="accent1"/>
            </a:solidFill>
            <a:prstDash val="solid"/>
            <a:round/>
            <a:headEnd len="sm" w="sm" type="none"/>
            <a:tailEnd len="sm" w="sm" type="none"/>
          </a:ln>
        </p:spPr>
      </p:cxnSp>
      <p:sp>
        <p:nvSpPr>
          <p:cNvPr id="103" name="Google Shape;103;p23"/>
          <p:cNvSpPr/>
          <p:nvPr/>
        </p:nvSpPr>
        <p:spPr>
          <a:xfrm>
            <a:off x="8839200" y="0"/>
            <a:ext cx="304800" cy="6858000"/>
          </a:xfrm>
          <a:prstGeom prst="rect">
            <a:avLst/>
          </a:prstGeom>
          <a:solidFill>
            <a:srgbClr val="FEC2AC">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cxnSp>
        <p:nvCxnSpPr>
          <p:cNvPr id="104" name="Google Shape;104;p23"/>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sp>
        <p:nvSpPr>
          <p:cNvPr id="105" name="Google Shape;105;p23"/>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106" name="Google Shape;106;p23"/>
          <p:cNvSpPr txBox="1"/>
          <p:nvPr>
            <p:ph idx="2" type="body"/>
          </p:nvPr>
        </p:nvSpPr>
        <p:spPr>
          <a:xfrm>
            <a:off x="304800" y="274320"/>
            <a:ext cx="5638800" cy="6327648"/>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7" name="Google Shape;107;p23"/>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2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09" name="Google Shape;109;p23"/>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10" name="Shape 110"/>
        <p:cNvGrpSpPr/>
        <p:nvPr/>
      </p:nvGrpSpPr>
      <p:grpSpPr>
        <a:xfrm>
          <a:off x="0" y="0"/>
          <a:ext cx="0" cy="0"/>
          <a:chOff x="0" y="0"/>
          <a:chExt cx="0" cy="0"/>
        </a:xfrm>
      </p:grpSpPr>
      <p:cxnSp>
        <p:nvCxnSpPr>
          <p:cNvPr id="111" name="Google Shape;111;p24"/>
          <p:cNvCxnSpPr/>
          <p:nvPr/>
        </p:nvCxnSpPr>
        <p:spPr>
          <a:xfrm>
            <a:off x="8763000" y="0"/>
            <a:ext cx="0" cy="6858000"/>
          </a:xfrm>
          <a:prstGeom prst="straightConnector1">
            <a:avLst/>
          </a:prstGeom>
          <a:noFill/>
          <a:ln cap="flat" cmpd="sng" w="38100">
            <a:solidFill>
              <a:srgbClr val="FEC2AC"/>
            </a:solidFill>
            <a:prstDash val="solid"/>
            <a:round/>
            <a:headEnd len="sm" w="sm" type="none"/>
            <a:tailEnd len="sm" w="sm" type="none"/>
          </a:ln>
        </p:spPr>
      </p:cxnSp>
      <p:sp>
        <p:nvSpPr>
          <p:cNvPr id="112" name="Google Shape;112;p24"/>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sp>
        <p:nvSpPr>
          <p:cNvPr id="113" name="Google Shape;113;p24"/>
          <p:cNvSpPr txBox="1"/>
          <p:nvPr>
            <p:ph type="title"/>
          </p:nvPr>
        </p:nvSpPr>
        <p:spPr>
          <a:xfrm rot="5400000">
            <a:off x="3350133" y="3200400"/>
            <a:ext cx="6309360" cy="457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000"/>
              <a:buFont typeface="Century Schoolbook"/>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24"/>
          <p:cNvSpPr/>
          <p:nvPr>
            <p:ph idx="2" type="pic"/>
          </p:nvPr>
        </p:nvSpPr>
        <p:spPr>
          <a:xfrm>
            <a:off x="0" y="0"/>
            <a:ext cx="6172200" cy="6858000"/>
          </a:xfrm>
          <a:prstGeom prst="rect">
            <a:avLst/>
          </a:prstGeom>
          <a:solidFill>
            <a:schemeClr val="lt2"/>
          </a:solidFill>
          <a:ln>
            <a:noFill/>
          </a:ln>
        </p:spPr>
        <p:txBody>
          <a:bodyPr anchorCtr="0" anchor="t" bIns="45700" lIns="91425" spcFirstLastPara="1" rIns="91425" wrap="square" tIns="45700">
            <a:normAutofit/>
          </a:bodyPr>
          <a:lstStyle>
            <a:lvl1pPr lvl="0" marR="0" rtl="0" algn="l">
              <a:spcBef>
                <a:spcPts val="600"/>
              </a:spcBef>
              <a:spcAft>
                <a:spcPts val="0"/>
              </a:spcAft>
              <a:buClr>
                <a:schemeClr val="accent1"/>
              </a:buClr>
              <a:buSzPts val="2240"/>
              <a:buFont typeface="Noto Sans Symbols"/>
              <a:buNone/>
              <a:defRPr b="0" i="0" sz="3200" u="none" cap="none" strike="noStrike">
                <a:solidFill>
                  <a:schemeClr val="dk1"/>
                </a:solidFill>
                <a:latin typeface="Century Schoolbook"/>
                <a:ea typeface="Century Schoolbook"/>
                <a:cs typeface="Century Schoolbook"/>
                <a:sym typeface="Century Schoolbook"/>
              </a:defRPr>
            </a:lvl1pPr>
            <a:lvl2pPr lvl="1" marR="0" rtl="0" algn="l">
              <a:spcBef>
                <a:spcPts val="420"/>
              </a:spcBef>
              <a:spcAft>
                <a:spcPts val="0"/>
              </a:spcAft>
              <a:buClr>
                <a:schemeClr val="accent1"/>
              </a:buClr>
              <a:buSzPts val="1680"/>
              <a:buFont typeface="Noto Sans Symbols"/>
              <a:buChar char="⚫"/>
              <a:defRPr b="0" i="0" sz="2100" u="none" cap="none" strike="noStrike">
                <a:solidFill>
                  <a:schemeClr val="dk1"/>
                </a:solidFill>
                <a:latin typeface="Century Schoolbook"/>
                <a:ea typeface="Century Schoolbook"/>
                <a:cs typeface="Century Schoolbook"/>
                <a:sym typeface="Century Schoolbook"/>
              </a:defRPr>
            </a:lvl2pPr>
            <a:lvl3pPr lvl="2" marR="0" rtl="0" algn="l">
              <a:spcBef>
                <a:spcPts val="360"/>
              </a:spcBef>
              <a:spcAft>
                <a:spcPts val="0"/>
              </a:spcAft>
              <a:buClr>
                <a:srgbClr val="DE7530"/>
              </a:buClr>
              <a:buSzPts val="1080"/>
              <a:buFont typeface="Noto Sans Symbols"/>
              <a:buChar char="🞆"/>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360"/>
              </a:spcBef>
              <a:spcAft>
                <a:spcPts val="0"/>
              </a:spcAft>
              <a:buClr>
                <a:srgbClr val="FEC2AC"/>
              </a:buClr>
              <a:buSzPts val="1080"/>
              <a:buFont typeface="Noto Sans Symbols"/>
              <a:buChar char="🞆"/>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320"/>
              </a:spcBef>
              <a:spcAft>
                <a:spcPts val="0"/>
              </a:spcAft>
              <a:buClr>
                <a:srgbClr val="BBC9E9"/>
              </a:buClr>
              <a:buSzPts val="1088"/>
              <a:buFont typeface="Noto Sans Symbols"/>
              <a:buChar char="⚫"/>
              <a:defRPr b="0" i="0" sz="1600" u="none" cap="none" strike="noStrike">
                <a:solidFill>
                  <a:schemeClr val="dk1"/>
                </a:solidFill>
                <a:latin typeface="Century Schoolbook"/>
                <a:ea typeface="Century Schoolbook"/>
                <a:cs typeface="Century Schoolbook"/>
                <a:sym typeface="Century Schoolbook"/>
              </a:defRPr>
            </a:lvl5pPr>
            <a:lvl6pPr lvl="5" marR="0" rtl="0" algn="l">
              <a:spcBef>
                <a:spcPts val="320"/>
              </a:spcBef>
              <a:spcAft>
                <a:spcPts val="0"/>
              </a:spcAft>
              <a:buClr>
                <a:schemeClr val="accent1"/>
              </a:buClr>
              <a:buSzPts val="1600"/>
              <a:buFont typeface="Century Schoolbook"/>
              <a:buChar char="•"/>
              <a:defRPr b="0" i="0" sz="1600" u="none" cap="none" strike="noStrike">
                <a:solidFill>
                  <a:schemeClr val="dk2"/>
                </a:solidFill>
                <a:latin typeface="Century Schoolbook"/>
                <a:ea typeface="Century Schoolbook"/>
                <a:cs typeface="Century Schoolbook"/>
                <a:sym typeface="Century Schoolbook"/>
              </a:defRPr>
            </a:lvl6pPr>
            <a:lvl7pPr lvl="6" marR="0" rtl="0" algn="l">
              <a:spcBef>
                <a:spcPts val="280"/>
              </a:spcBef>
              <a:spcAft>
                <a:spcPts val="0"/>
              </a:spcAft>
              <a:buClr>
                <a:srgbClr val="FEC2AC"/>
              </a:buClr>
              <a:buSzPts val="840"/>
              <a:buFont typeface="Noto Sans Symbols"/>
              <a:buChar char="⚪"/>
              <a:defRPr b="0" i="0" sz="1400" u="none" cap="none" strike="noStrike">
                <a:solidFill>
                  <a:schemeClr val="dk2"/>
                </a:solidFill>
                <a:latin typeface="Century Schoolbook"/>
                <a:ea typeface="Century Schoolbook"/>
                <a:cs typeface="Century Schoolbook"/>
                <a:sym typeface="Century Schoolbook"/>
              </a:defRPr>
            </a:lvl7pPr>
            <a:lvl8pPr lvl="7" marR="0" rtl="0" algn="l">
              <a:spcBef>
                <a:spcPts val="280"/>
              </a:spcBef>
              <a:spcAft>
                <a:spcPts val="0"/>
              </a:spcAft>
              <a:buClr>
                <a:schemeClr val="accent2"/>
              </a:buClr>
              <a:buSzPts val="1400"/>
              <a:buFont typeface="Century Schoolbook"/>
              <a:buChar char="•"/>
              <a:defRPr b="0" i="0" sz="1400" u="none" cap="small" strike="noStrike">
                <a:solidFill>
                  <a:schemeClr val="dk2"/>
                </a:solidFill>
                <a:latin typeface="Century Schoolbook"/>
                <a:ea typeface="Century Schoolbook"/>
                <a:cs typeface="Century Schoolbook"/>
                <a:sym typeface="Century Schoolbook"/>
              </a:defRPr>
            </a:lvl8pPr>
            <a:lvl9pPr lvl="8" marR="0" rtl="0" algn="l">
              <a:spcBef>
                <a:spcPts val="280"/>
              </a:spcBef>
              <a:spcAft>
                <a:spcPts val="0"/>
              </a:spcAft>
              <a:buClr>
                <a:srgbClr val="DE7530"/>
              </a:buClr>
              <a:buSzPts val="1400"/>
              <a:buFont typeface="Century Schoolbook"/>
              <a:buChar char="•"/>
              <a:defRPr b="0" i="0" sz="1400" u="none" cap="none" strike="noStrike">
                <a:solidFill>
                  <a:schemeClr val="dk2"/>
                </a:solidFill>
                <a:latin typeface="Century Schoolbook"/>
                <a:ea typeface="Century Schoolbook"/>
                <a:cs typeface="Century Schoolbook"/>
                <a:sym typeface="Century Schoolbook"/>
              </a:defRPr>
            </a:lvl9pPr>
          </a:lstStyle>
          <a:p/>
        </p:txBody>
      </p:sp>
      <p:sp>
        <p:nvSpPr>
          <p:cNvPr id="115" name="Google Shape;115;p24"/>
          <p:cNvSpPr txBox="1"/>
          <p:nvPr>
            <p:ph idx="1" type="body"/>
          </p:nvPr>
        </p:nvSpPr>
        <p:spPr>
          <a:xfrm>
            <a:off x="6765798" y="264795"/>
            <a:ext cx="1524000" cy="4956048"/>
          </a:xfrm>
          <a:prstGeom prst="rect">
            <a:avLst/>
          </a:prstGeom>
          <a:noFill/>
          <a:ln>
            <a:noFill/>
          </a:ln>
        </p:spPr>
        <p:txBody>
          <a:bodyPr anchorCtr="0" anchor="t" bIns="45700" lIns="91425" spcFirstLastPara="1" rIns="91425" wrap="square" tIns="45700">
            <a:normAutofit/>
          </a:bodyPr>
          <a:lstStyle>
            <a:lvl1pPr indent="-228600" lvl="0" marL="457200" algn="l">
              <a:spcBef>
                <a:spcPts val="100"/>
              </a:spcBef>
              <a:spcAft>
                <a:spcPts val="0"/>
              </a:spcAft>
              <a:buSzPts val="840"/>
              <a:buFont typeface="Century Schoolbook"/>
              <a:buNone/>
              <a:defRPr sz="1200"/>
            </a:lvl1pPr>
            <a:lvl2pPr indent="-289560" lvl="1" marL="914400" algn="l">
              <a:spcBef>
                <a:spcPts val="400"/>
              </a:spcBef>
              <a:spcAft>
                <a:spcPts val="0"/>
              </a:spcAft>
              <a:buSzPts val="960"/>
              <a:buChar char="⚫"/>
              <a:defRPr sz="1200"/>
            </a:lvl2pPr>
            <a:lvl3pPr indent="-266700" lvl="2" marL="1371600" algn="l">
              <a:spcBef>
                <a:spcPts val="200"/>
              </a:spcBef>
              <a:spcAft>
                <a:spcPts val="0"/>
              </a:spcAft>
              <a:buSzPts val="600"/>
              <a:buChar char="🞆"/>
              <a:defRPr sz="1000"/>
            </a:lvl3pPr>
            <a:lvl4pPr indent="-262889" lvl="3" marL="1828800" algn="l">
              <a:spcBef>
                <a:spcPts val="180"/>
              </a:spcBef>
              <a:spcAft>
                <a:spcPts val="0"/>
              </a:spcAft>
              <a:buSzPts val="540"/>
              <a:buChar char="🞆"/>
              <a:defRPr sz="900"/>
            </a:lvl4pPr>
            <a:lvl5pPr indent="-267461" lvl="4" marL="2286000" algn="l">
              <a:spcBef>
                <a:spcPts val="180"/>
              </a:spcBef>
              <a:spcAft>
                <a:spcPts val="0"/>
              </a:spcAft>
              <a:buSzPts val="612"/>
              <a:buChar char="⚫"/>
              <a:defRPr sz="900"/>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cxnSp>
        <p:nvCxnSpPr>
          <p:cNvPr id="116" name="Google Shape;116;p24"/>
          <p:cNvCxnSpPr/>
          <p:nvPr/>
        </p:nvCxnSpPr>
        <p:spPr>
          <a:xfrm>
            <a:off x="8991600" y="0"/>
            <a:ext cx="0" cy="6858000"/>
          </a:xfrm>
          <a:prstGeom prst="straightConnector1">
            <a:avLst/>
          </a:prstGeom>
          <a:noFill/>
          <a:ln cap="flat" cmpd="sng" w="9525">
            <a:solidFill>
              <a:schemeClr val="dk1"/>
            </a:solidFill>
            <a:prstDash val="solid"/>
            <a:round/>
            <a:headEnd len="sm" w="sm" type="none"/>
            <a:tailEnd len="sm" w="sm" type="none"/>
          </a:ln>
        </p:spPr>
      </p:cxnSp>
      <p:sp>
        <p:nvSpPr>
          <p:cNvPr id="117" name="Google Shape;117;p24"/>
          <p:cNvSpPr/>
          <p:nvPr/>
        </p:nvSpPr>
        <p:spPr>
          <a:xfrm>
            <a:off x="8839200" y="0"/>
            <a:ext cx="304800" cy="6858000"/>
          </a:xfrm>
          <a:prstGeom prst="rect">
            <a:avLst/>
          </a:prstGeom>
          <a:solidFill>
            <a:srgbClr val="FEC2A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Schoolbook"/>
              <a:ea typeface="Century Schoolbook"/>
              <a:cs typeface="Century Schoolbook"/>
              <a:sym typeface="Century Schoolbook"/>
            </a:endParaRPr>
          </a:p>
        </p:txBody>
      </p:sp>
      <p:cxnSp>
        <p:nvCxnSpPr>
          <p:cNvPr id="118" name="Google Shape;118;p24"/>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cxnSp>
        <p:nvCxnSpPr>
          <p:cNvPr id="119" name="Google Shape;119;p24"/>
          <p:cNvCxnSpPr/>
          <p:nvPr/>
        </p:nvCxnSpPr>
        <p:spPr>
          <a:xfrm>
            <a:off x="6248400" y="0"/>
            <a:ext cx="0" cy="6858000"/>
          </a:xfrm>
          <a:prstGeom prst="straightConnector1">
            <a:avLst/>
          </a:prstGeom>
          <a:noFill/>
          <a:ln cap="flat" cmpd="sng" w="38100">
            <a:solidFill>
              <a:srgbClr val="FEC2AC"/>
            </a:solidFill>
            <a:prstDash val="solid"/>
            <a:round/>
            <a:headEnd len="sm" w="sm" type="none"/>
            <a:tailEnd len="sm" w="sm" type="none"/>
          </a:ln>
        </p:spPr>
      </p:cxnSp>
      <p:cxnSp>
        <p:nvCxnSpPr>
          <p:cNvPr id="120" name="Google Shape;120;p24"/>
          <p:cNvCxnSpPr/>
          <p:nvPr/>
        </p:nvCxnSpPr>
        <p:spPr>
          <a:xfrm>
            <a:off x="6192296" y="0"/>
            <a:ext cx="0" cy="6858000"/>
          </a:xfrm>
          <a:prstGeom prst="straightConnector1">
            <a:avLst/>
          </a:prstGeom>
          <a:noFill/>
          <a:ln cap="flat" cmpd="sng" w="12700">
            <a:solidFill>
              <a:schemeClr val="accent1"/>
            </a:solidFill>
            <a:prstDash val="solid"/>
            <a:round/>
            <a:headEnd len="sm" w="sm" type="none"/>
            <a:tailEnd len="sm" w="sm" type="none"/>
          </a:ln>
        </p:spPr>
      </p:cxnSp>
      <p:sp>
        <p:nvSpPr>
          <p:cNvPr id="121" name="Google Shape;121;p24"/>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2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23" name="Google Shape;123;p24"/>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4" name="Shape 124"/>
        <p:cNvGrpSpPr/>
        <p:nvPr/>
      </p:nvGrpSpPr>
      <p:grpSpPr>
        <a:xfrm>
          <a:off x="0" y="0"/>
          <a:ext cx="0" cy="0"/>
          <a:chOff x="0" y="0"/>
          <a:chExt cx="0" cy="0"/>
        </a:xfrm>
      </p:grpSpPr>
      <p:sp>
        <p:nvSpPr>
          <p:cNvPr id="125" name="Google Shape;125;p2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p25"/>
          <p:cNvSpPr txBox="1"/>
          <p:nvPr>
            <p:ph idx="1" type="body"/>
          </p:nvPr>
        </p:nvSpPr>
        <p:spPr>
          <a:xfrm rot="5400000">
            <a:off x="1754124" y="303276"/>
            <a:ext cx="4873752" cy="74676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27" name="Google Shape;127;p25"/>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25"/>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2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0" name="Shape 130"/>
        <p:cNvGrpSpPr/>
        <p:nvPr/>
      </p:nvGrpSpPr>
      <p:grpSpPr>
        <a:xfrm>
          <a:off x="0" y="0"/>
          <a:ext cx="0" cy="0"/>
          <a:chOff x="0" y="0"/>
          <a:chExt cx="0" cy="0"/>
        </a:xfrm>
      </p:grpSpPr>
      <p:sp>
        <p:nvSpPr>
          <p:cNvPr id="131" name="Google Shape;131;p26"/>
          <p:cNvSpPr txBox="1"/>
          <p:nvPr>
            <p:ph type="title"/>
          </p:nvPr>
        </p:nvSpPr>
        <p:spPr>
          <a:xfrm rot="5400000">
            <a:off x="4541837" y="2362202"/>
            <a:ext cx="5851525" cy="1676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 name="Google Shape;132;p26"/>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33" name="Google Shape;133;p26"/>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26"/>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2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cxnSp>
        <p:nvCxnSpPr>
          <p:cNvPr id="10" name="Google Shape;10;p15"/>
          <p:cNvCxnSpPr/>
          <p:nvPr/>
        </p:nvCxnSpPr>
        <p:spPr>
          <a:xfrm>
            <a:off x="8763000" y="0"/>
            <a:ext cx="0" cy="6858000"/>
          </a:xfrm>
          <a:prstGeom prst="straightConnector1">
            <a:avLst/>
          </a:prstGeom>
          <a:noFill/>
          <a:ln cap="flat" cmpd="sng" w="38100">
            <a:solidFill>
              <a:srgbClr val="FEC2AC">
                <a:alpha val="92941"/>
              </a:srgbClr>
            </a:solidFill>
            <a:prstDash val="solid"/>
            <a:round/>
            <a:headEnd len="sm" w="sm" type="none"/>
            <a:tailEnd len="sm" w="sm" type="none"/>
          </a:ln>
        </p:spPr>
      </p:cxnSp>
      <p:sp>
        <p:nvSpPr>
          <p:cNvPr id="11" name="Google Shape;11;p1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dk2"/>
              </a:buClr>
              <a:buSzPts val="3000"/>
              <a:buFont typeface="Century Schoolbook"/>
              <a:buNone/>
              <a:defRPr b="0" i="0" sz="3000" u="none" cap="small" strike="noStrike">
                <a:solidFill>
                  <a:schemeClr val="dk2"/>
                </a:solidFill>
                <a:latin typeface="Century Schoolbook"/>
                <a:ea typeface="Century Schoolbook"/>
                <a:cs typeface="Century Schoolbook"/>
                <a:sym typeface="Century Schoolboo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5"/>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lvl1pPr indent="-335280" lvl="0" marL="457200" marR="0" rtl="0" algn="l">
              <a:spcBef>
                <a:spcPts val="600"/>
              </a:spcBef>
              <a:spcAft>
                <a:spcPts val="0"/>
              </a:spcAft>
              <a:buClr>
                <a:schemeClr val="accent1"/>
              </a:buClr>
              <a:buSzPts val="1680"/>
              <a:buFont typeface="Noto Sans Symbols"/>
              <a:buChar char="🞆"/>
              <a:defRPr b="0" i="0" sz="2400" u="none" cap="none" strike="noStrike">
                <a:solidFill>
                  <a:schemeClr val="dk1"/>
                </a:solidFill>
                <a:latin typeface="Century Schoolbook"/>
                <a:ea typeface="Century Schoolbook"/>
                <a:cs typeface="Century Schoolbook"/>
                <a:sym typeface="Century Schoolbook"/>
              </a:defRPr>
            </a:lvl1pPr>
            <a:lvl2pPr indent="-335280" lvl="1" marL="914400" marR="0" rtl="0" algn="l">
              <a:spcBef>
                <a:spcPts val="420"/>
              </a:spcBef>
              <a:spcAft>
                <a:spcPts val="0"/>
              </a:spcAft>
              <a:buClr>
                <a:schemeClr val="accent1"/>
              </a:buClr>
              <a:buSzPts val="1680"/>
              <a:buFont typeface="Noto Sans Symbols"/>
              <a:buChar char="⚫"/>
              <a:defRPr b="0" i="0" sz="2100" u="none" cap="none" strike="noStrike">
                <a:solidFill>
                  <a:schemeClr val="dk1"/>
                </a:solidFill>
                <a:latin typeface="Century Schoolbook"/>
                <a:ea typeface="Century Schoolbook"/>
                <a:cs typeface="Century Schoolbook"/>
                <a:sym typeface="Century Schoolbook"/>
              </a:defRPr>
            </a:lvl2pPr>
            <a:lvl3pPr indent="-297180" lvl="2" marL="1371600" marR="0" rtl="0" algn="l">
              <a:spcBef>
                <a:spcPts val="360"/>
              </a:spcBef>
              <a:spcAft>
                <a:spcPts val="0"/>
              </a:spcAft>
              <a:buClr>
                <a:srgbClr val="DE7530"/>
              </a:buClr>
              <a:buSzPts val="1080"/>
              <a:buFont typeface="Noto Sans Symbols"/>
              <a:buChar char="🞆"/>
              <a:defRPr b="0" i="0" sz="1800" u="none" cap="none" strike="noStrike">
                <a:solidFill>
                  <a:schemeClr val="dk1"/>
                </a:solidFill>
                <a:latin typeface="Century Schoolbook"/>
                <a:ea typeface="Century Schoolbook"/>
                <a:cs typeface="Century Schoolbook"/>
                <a:sym typeface="Century Schoolbook"/>
              </a:defRPr>
            </a:lvl3pPr>
            <a:lvl4pPr indent="-297180" lvl="3" marL="1828800" marR="0" rtl="0" algn="l">
              <a:spcBef>
                <a:spcPts val="360"/>
              </a:spcBef>
              <a:spcAft>
                <a:spcPts val="0"/>
              </a:spcAft>
              <a:buClr>
                <a:srgbClr val="FEC2AC"/>
              </a:buClr>
              <a:buSzPts val="1080"/>
              <a:buFont typeface="Noto Sans Symbols"/>
              <a:buChar char="🞆"/>
              <a:defRPr b="0" i="0" sz="1800" u="none" cap="none" strike="noStrike">
                <a:solidFill>
                  <a:schemeClr val="dk1"/>
                </a:solidFill>
                <a:latin typeface="Century Schoolbook"/>
                <a:ea typeface="Century Schoolbook"/>
                <a:cs typeface="Century Schoolbook"/>
                <a:sym typeface="Century Schoolbook"/>
              </a:defRPr>
            </a:lvl4pPr>
            <a:lvl5pPr indent="-297688" lvl="4" marL="2286000" marR="0" rtl="0" algn="l">
              <a:spcBef>
                <a:spcPts val="320"/>
              </a:spcBef>
              <a:spcAft>
                <a:spcPts val="0"/>
              </a:spcAft>
              <a:buClr>
                <a:srgbClr val="BBC9E9"/>
              </a:buClr>
              <a:buSzPts val="1088"/>
              <a:buFont typeface="Noto Sans Symbols"/>
              <a:buChar char="⚫"/>
              <a:defRPr b="0" i="0" sz="1600" u="none" cap="none" strike="noStrike">
                <a:solidFill>
                  <a:schemeClr val="dk1"/>
                </a:solidFill>
                <a:latin typeface="Century Schoolbook"/>
                <a:ea typeface="Century Schoolbook"/>
                <a:cs typeface="Century Schoolbook"/>
                <a:sym typeface="Century Schoolbook"/>
              </a:defRPr>
            </a:lvl5pPr>
            <a:lvl6pPr indent="-330200" lvl="5" marL="2743200" marR="0" rtl="0" algn="l">
              <a:spcBef>
                <a:spcPts val="320"/>
              </a:spcBef>
              <a:spcAft>
                <a:spcPts val="0"/>
              </a:spcAft>
              <a:buClr>
                <a:schemeClr val="accent1"/>
              </a:buClr>
              <a:buSzPts val="1600"/>
              <a:buFont typeface="Century Schoolbook"/>
              <a:buChar char="•"/>
              <a:defRPr b="0" i="0" sz="1600" u="none" cap="none" strike="noStrike">
                <a:solidFill>
                  <a:schemeClr val="dk2"/>
                </a:solidFill>
                <a:latin typeface="Century Schoolbook"/>
                <a:ea typeface="Century Schoolbook"/>
                <a:cs typeface="Century Schoolbook"/>
                <a:sym typeface="Century Schoolbook"/>
              </a:defRPr>
            </a:lvl6pPr>
            <a:lvl7pPr indent="-281939" lvl="6" marL="3200400" marR="0" rtl="0" algn="l">
              <a:spcBef>
                <a:spcPts val="280"/>
              </a:spcBef>
              <a:spcAft>
                <a:spcPts val="0"/>
              </a:spcAft>
              <a:buClr>
                <a:srgbClr val="FEC2AC"/>
              </a:buClr>
              <a:buSzPts val="840"/>
              <a:buFont typeface="Noto Sans Symbols"/>
              <a:buChar char="⚪"/>
              <a:defRPr b="0" i="0" sz="1400" u="none" cap="none" strike="noStrike">
                <a:solidFill>
                  <a:schemeClr val="dk2"/>
                </a:solidFill>
                <a:latin typeface="Century Schoolbook"/>
                <a:ea typeface="Century Schoolbook"/>
                <a:cs typeface="Century Schoolbook"/>
                <a:sym typeface="Century Schoolbook"/>
              </a:defRPr>
            </a:lvl7pPr>
            <a:lvl8pPr indent="-317500" lvl="7" marL="3657600" marR="0" rtl="0" algn="l">
              <a:spcBef>
                <a:spcPts val="280"/>
              </a:spcBef>
              <a:spcAft>
                <a:spcPts val="0"/>
              </a:spcAft>
              <a:buClr>
                <a:schemeClr val="accent2"/>
              </a:buClr>
              <a:buSzPts val="1400"/>
              <a:buFont typeface="Century Schoolbook"/>
              <a:buChar char="•"/>
              <a:defRPr b="0" i="0" sz="1400" u="none" cap="small" strike="noStrike">
                <a:solidFill>
                  <a:schemeClr val="dk2"/>
                </a:solidFill>
                <a:latin typeface="Century Schoolbook"/>
                <a:ea typeface="Century Schoolbook"/>
                <a:cs typeface="Century Schoolbook"/>
                <a:sym typeface="Century Schoolbook"/>
              </a:defRPr>
            </a:lvl8pPr>
            <a:lvl9pPr indent="-317500" lvl="8" marL="4114800" marR="0" rtl="0" algn="l">
              <a:spcBef>
                <a:spcPts val="280"/>
              </a:spcBef>
              <a:spcAft>
                <a:spcPts val="0"/>
              </a:spcAft>
              <a:buClr>
                <a:srgbClr val="DE7530"/>
              </a:buClr>
              <a:buSzPts val="1400"/>
              <a:buFont typeface="Century Schoolbook"/>
              <a:buChar char="•"/>
              <a:defRPr b="0" i="0" sz="1400" u="none" cap="none" strike="noStrike">
                <a:solidFill>
                  <a:schemeClr val="dk2"/>
                </a:solidFill>
                <a:latin typeface="Century Schoolbook"/>
                <a:ea typeface="Century Schoolbook"/>
                <a:cs typeface="Century Schoolbook"/>
                <a:sym typeface="Century Schoolbook"/>
              </a:defRPr>
            </a:lvl9pPr>
          </a:lstStyle>
          <a:p/>
        </p:txBody>
      </p:sp>
      <p:sp>
        <p:nvSpPr>
          <p:cNvPr id="13" name="Google Shape;13;p15"/>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2"/>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sp>
        <p:nvSpPr>
          <p:cNvPr id="14" name="Google Shape;14;p15"/>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2"/>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cxnSp>
        <p:nvCxnSpPr>
          <p:cNvPr id="15" name="Google Shape;15;p15"/>
          <p:cNvCxnSpPr/>
          <p:nvPr/>
        </p:nvCxnSpPr>
        <p:spPr>
          <a:xfrm>
            <a:off x="76200" y="0"/>
            <a:ext cx="0" cy="6858000"/>
          </a:xfrm>
          <a:prstGeom prst="straightConnector1">
            <a:avLst/>
          </a:prstGeom>
          <a:noFill/>
          <a:ln cap="flat" cmpd="thickThin" w="57150">
            <a:solidFill>
              <a:srgbClr val="FEC2AC"/>
            </a:solidFill>
            <a:prstDash val="solid"/>
            <a:round/>
            <a:headEnd len="sm" w="sm" type="none"/>
            <a:tailEnd len="sm" w="sm" type="none"/>
          </a:ln>
        </p:spPr>
      </p:cxnSp>
      <p:cxnSp>
        <p:nvCxnSpPr>
          <p:cNvPr id="16" name="Google Shape;16;p15"/>
          <p:cNvCxnSpPr/>
          <p:nvPr/>
        </p:nvCxnSpPr>
        <p:spPr>
          <a:xfrm>
            <a:off x="8991600" y="0"/>
            <a:ext cx="0" cy="6858000"/>
          </a:xfrm>
          <a:prstGeom prst="straightConnector1">
            <a:avLst/>
          </a:prstGeom>
          <a:noFill/>
          <a:ln cap="flat" cmpd="sng" w="19050">
            <a:solidFill>
              <a:schemeClr val="accent1"/>
            </a:solidFill>
            <a:prstDash val="solid"/>
            <a:round/>
            <a:headEnd len="sm" w="sm" type="none"/>
            <a:tailEnd len="sm" w="sm" type="none"/>
          </a:ln>
        </p:spPr>
      </p:cxnSp>
      <p:sp>
        <p:nvSpPr>
          <p:cNvPr id="17" name="Google Shape;17;p15"/>
          <p:cNvSpPr/>
          <p:nvPr/>
        </p:nvSpPr>
        <p:spPr>
          <a:xfrm>
            <a:off x="8839200" y="0"/>
            <a:ext cx="304800" cy="6858000"/>
          </a:xfrm>
          <a:prstGeom prst="rect">
            <a:avLst/>
          </a:prstGeom>
          <a:solidFill>
            <a:srgbClr val="FEC2AC">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cxnSp>
        <p:nvCxnSpPr>
          <p:cNvPr id="18" name="Google Shape;18;p15"/>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sp>
        <p:nvSpPr>
          <p:cNvPr id="19" name="Google Shape;19;p15"/>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Schoolbook"/>
              <a:ea typeface="Century Schoolbook"/>
              <a:cs typeface="Century Schoolbook"/>
              <a:sym typeface="Century Schoolbook"/>
            </a:endParaRPr>
          </a:p>
        </p:txBody>
      </p:sp>
      <p:sp>
        <p:nvSpPr>
          <p:cNvPr id="20" name="Google Shape;20;p1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1pPr>
            <a:lvl2pPr indent="0" lvl="1"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2pPr>
            <a:lvl3pPr indent="0" lvl="2"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3pPr>
            <a:lvl4pPr indent="0" lvl="3"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4pPr>
            <a:lvl5pPr indent="0" lvl="4"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5pPr>
            <a:lvl6pPr indent="0" lvl="5"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6pPr>
            <a:lvl7pPr indent="0" lvl="6"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7pPr>
            <a:lvl8pPr indent="0" lvl="7"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8pPr>
            <a:lvl9pPr indent="0" lvl="8"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
          <p:cNvSpPr txBox="1"/>
          <p:nvPr>
            <p:ph type="ctrTitle"/>
          </p:nvPr>
        </p:nvSpPr>
        <p:spPr>
          <a:xfrm>
            <a:off x="2286000" y="3124200"/>
            <a:ext cx="6172200" cy="18943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Monopoly (Part 2)</a:t>
            </a:r>
            <a:endParaRPr/>
          </a:p>
        </p:txBody>
      </p:sp>
      <p:sp>
        <p:nvSpPr>
          <p:cNvPr id="141" name="Google Shape;141;p1"/>
          <p:cNvSpPr txBox="1"/>
          <p:nvPr>
            <p:ph idx="1" type="subTitle"/>
          </p:nvPr>
        </p:nvSpPr>
        <p:spPr>
          <a:xfrm>
            <a:off x="2286000" y="5003322"/>
            <a:ext cx="6172200" cy="1371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260"/>
              <a:buNone/>
            </a:pPr>
            <a:r>
              <a:rPr lang="en-US"/>
              <a:t>Chapter 21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
          <p:cNvSpPr txBox="1"/>
          <p:nvPr>
            <p:ph type="title"/>
          </p:nvPr>
        </p:nvSpPr>
        <p:spPr>
          <a:xfrm>
            <a:off x="457200" y="304800"/>
            <a:ext cx="7772400" cy="111283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Price and Output for a Profit-Maximizing Monopolist</a:t>
            </a:r>
            <a:endParaRPr/>
          </a:p>
        </p:txBody>
      </p:sp>
      <p:sp>
        <p:nvSpPr>
          <p:cNvPr id="148" name="Google Shape;148;p2"/>
          <p:cNvSpPr txBox="1"/>
          <p:nvPr>
            <p:ph idx="1" type="body"/>
          </p:nvPr>
        </p:nvSpPr>
        <p:spPr>
          <a:xfrm>
            <a:off x="457200" y="1600200"/>
            <a:ext cx="7467600" cy="525780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1680"/>
              <a:buChar char="🞆"/>
            </a:pPr>
            <a:r>
              <a:rPr lang="en-US"/>
              <a:t>Profit Maximizing Condition: MR = MC</a:t>
            </a:r>
            <a:endParaRPr/>
          </a:p>
          <a:p>
            <a:pPr indent="-167640" lvl="0" marL="274320" rtl="0" algn="l">
              <a:spcBef>
                <a:spcPts val="600"/>
              </a:spcBef>
              <a:spcAft>
                <a:spcPts val="0"/>
              </a:spcAft>
              <a:buSzPts val="1680"/>
              <a:buNone/>
            </a:pPr>
            <a:r>
              <a:t/>
            </a:r>
            <a:endParaRPr/>
          </a:p>
          <a:p>
            <a:pPr indent="-274320" lvl="0" marL="274320" rtl="0" algn="l">
              <a:spcBef>
                <a:spcPts val="600"/>
              </a:spcBef>
              <a:spcAft>
                <a:spcPts val="0"/>
              </a:spcAft>
              <a:buSzPts val="1680"/>
              <a:buChar char="🞆"/>
            </a:pPr>
            <a:r>
              <a:rPr lang="en-US"/>
              <a:t>The monopolist that seeks to maximize profits produces the quantity of output at which </a:t>
            </a:r>
            <a:r>
              <a:rPr i="1" lang="en-US"/>
              <a:t>MR</a:t>
            </a:r>
            <a:r>
              <a:rPr lang="en-US"/>
              <a:t>=</a:t>
            </a:r>
            <a:r>
              <a:rPr i="1" lang="en-US"/>
              <a:t>MC</a:t>
            </a:r>
            <a:r>
              <a:rPr lang="en-US"/>
              <a:t> and charges the highest price per unit at which this quantity of output can be sold.</a:t>
            </a:r>
            <a:endParaRPr/>
          </a:p>
          <a:p>
            <a:pPr indent="-167640" lvl="0" marL="274320" rtl="0" algn="l">
              <a:spcBef>
                <a:spcPts val="600"/>
              </a:spcBef>
              <a:spcAft>
                <a:spcPts val="0"/>
              </a:spcAft>
              <a:buSzPts val="1680"/>
              <a:buNone/>
            </a:pPr>
            <a:r>
              <a:t/>
            </a:r>
            <a:endParaRPr/>
          </a:p>
          <a:p>
            <a:pPr indent="-274320" lvl="0" marL="274320" rtl="0" algn="l">
              <a:spcBef>
                <a:spcPts val="600"/>
              </a:spcBef>
              <a:spcAft>
                <a:spcPts val="0"/>
              </a:spcAft>
              <a:buSzPts val="1680"/>
              <a:buChar char="🞆"/>
            </a:pPr>
            <a:r>
              <a:rPr lang="en-US"/>
              <a:t>A monopolists can also make profits and loses, after taking into consideration Average Total Costs.</a:t>
            </a:r>
            <a:endParaRPr/>
          </a:p>
          <a:p>
            <a:pPr indent="-167640" lvl="0" marL="274320" rtl="0" algn="l">
              <a:spcBef>
                <a:spcPts val="600"/>
              </a:spcBef>
              <a:spcAft>
                <a:spcPts val="0"/>
              </a:spcAft>
              <a:buSzPts val="1680"/>
              <a:buNone/>
            </a:pPr>
            <a:r>
              <a:t/>
            </a:r>
            <a:endParaRPr/>
          </a:p>
          <a:p>
            <a:pPr indent="-274320" lvl="0" marL="274320" rtl="0" algn="l">
              <a:spcBef>
                <a:spcPts val="600"/>
              </a:spcBef>
              <a:spcAft>
                <a:spcPts val="0"/>
              </a:spcAft>
              <a:buSzPts val="1680"/>
              <a:buChar char="🞆"/>
            </a:pPr>
            <a:r>
              <a:rPr lang="en-US"/>
              <a:t>A monopolist can occur a loss if the highest possible price charged at MR = MC is less than the ATC at that point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grpSp>
        <p:nvGrpSpPr>
          <p:cNvPr id="154" name="Google Shape;154;p3"/>
          <p:cNvGrpSpPr/>
          <p:nvPr/>
        </p:nvGrpSpPr>
        <p:grpSpPr>
          <a:xfrm>
            <a:off x="3657600" y="1219200"/>
            <a:ext cx="5105400" cy="5318125"/>
            <a:chOff x="1727" y="1200"/>
            <a:chExt cx="2300" cy="1909"/>
          </a:xfrm>
        </p:grpSpPr>
        <p:sp>
          <p:nvSpPr>
            <p:cNvPr id="155" name="Google Shape;155;p3"/>
            <p:cNvSpPr/>
            <p:nvPr/>
          </p:nvSpPr>
          <p:spPr>
            <a:xfrm>
              <a:off x="1727" y="1200"/>
              <a:ext cx="2300" cy="190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pic>
          <p:nvPicPr>
            <p:cNvPr descr="D:\ESWORK\SWPUB\Arnold PPT\Art\Art Ch23\arn17456_2304.jpg" id="156" name="Google Shape;156;p3"/>
            <p:cNvPicPr preferRelativeResize="0"/>
            <p:nvPr/>
          </p:nvPicPr>
          <p:blipFill rotWithShape="1">
            <a:blip r:embed="rId3">
              <a:alphaModFix/>
            </a:blip>
            <a:srcRect b="0" l="0" r="0" t="0"/>
            <a:stretch/>
          </p:blipFill>
          <p:spPr>
            <a:xfrm>
              <a:off x="1784" y="1250"/>
              <a:ext cx="2192" cy="1820"/>
            </a:xfrm>
            <a:prstGeom prst="rect">
              <a:avLst/>
            </a:prstGeom>
            <a:noFill/>
            <a:ln>
              <a:noFill/>
            </a:ln>
          </p:spPr>
        </p:pic>
      </p:grpSp>
      <p:sp>
        <p:nvSpPr>
          <p:cNvPr id="157" name="Google Shape;157;p3"/>
          <p:cNvSpPr txBox="1"/>
          <p:nvPr>
            <p:ph type="title"/>
          </p:nvPr>
        </p:nvSpPr>
        <p:spPr>
          <a:xfrm>
            <a:off x="0" y="228600"/>
            <a:ext cx="9144000" cy="914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Century Schoolbook"/>
              <a:buNone/>
            </a:pPr>
            <a:r>
              <a:rPr lang="en-US" sz="3200"/>
              <a:t>The Monopolist’s Profit-Maximizing Price and Quantity of Output</a:t>
            </a:r>
            <a:endParaRPr sz="3200"/>
          </a:p>
        </p:txBody>
      </p:sp>
      <p:sp>
        <p:nvSpPr>
          <p:cNvPr id="158" name="Google Shape;158;p3"/>
          <p:cNvSpPr txBox="1"/>
          <p:nvPr>
            <p:ph idx="1" type="body"/>
          </p:nvPr>
        </p:nvSpPr>
        <p:spPr>
          <a:xfrm>
            <a:off x="228600" y="990600"/>
            <a:ext cx="3352800" cy="5334000"/>
          </a:xfrm>
          <a:prstGeom prst="rect">
            <a:avLst/>
          </a:prstGeom>
          <a:noFill/>
          <a:ln>
            <a:noFill/>
          </a:ln>
        </p:spPr>
        <p:txBody>
          <a:bodyPr anchorCtr="0" anchor="t" bIns="45700" lIns="91425" spcFirstLastPara="1" rIns="91425" wrap="square" tIns="45700">
            <a:normAutofit fontScale="92500" lnSpcReduction="20000"/>
          </a:bodyPr>
          <a:lstStyle/>
          <a:p>
            <a:pPr indent="-274320" lvl="0" marL="274320" rtl="0" algn="l">
              <a:lnSpc>
                <a:spcPct val="90000"/>
              </a:lnSpc>
              <a:spcBef>
                <a:spcPts val="0"/>
              </a:spcBef>
              <a:spcAft>
                <a:spcPts val="0"/>
              </a:spcAft>
              <a:buSzPct val="70000"/>
              <a:buFont typeface="Century Schoolbook"/>
              <a:buNone/>
            </a:pPr>
            <a:r>
              <a:rPr lang="en-US" sz="2800"/>
              <a:t>	</a:t>
            </a:r>
            <a:endParaRPr sz="2800"/>
          </a:p>
          <a:p>
            <a:pPr indent="-274320" lvl="0" marL="274320" rtl="0" algn="l">
              <a:lnSpc>
                <a:spcPct val="90000"/>
              </a:lnSpc>
              <a:spcBef>
                <a:spcPts val="600"/>
              </a:spcBef>
              <a:spcAft>
                <a:spcPts val="0"/>
              </a:spcAft>
              <a:buSzPct val="70000"/>
              <a:buFont typeface="Century Schoolbook"/>
              <a:buNone/>
            </a:pPr>
            <a:r>
              <a:t/>
            </a:r>
            <a:endParaRPr sz="2800"/>
          </a:p>
          <a:p>
            <a:pPr indent="-274320" lvl="0" marL="274320" rtl="0" algn="l">
              <a:lnSpc>
                <a:spcPct val="90000"/>
              </a:lnSpc>
              <a:spcBef>
                <a:spcPts val="600"/>
              </a:spcBef>
              <a:spcAft>
                <a:spcPts val="0"/>
              </a:spcAft>
              <a:buSzPct val="70000"/>
              <a:buFont typeface="Century Schoolbook"/>
              <a:buNone/>
            </a:pPr>
            <a:r>
              <a:rPr lang="en-US" sz="2800"/>
              <a:t>	The monopolist produces the quantity of output (</a:t>
            </a:r>
            <a:r>
              <a:rPr i="1" lang="en-US" sz="2800"/>
              <a:t>Q</a:t>
            </a:r>
            <a:r>
              <a:rPr baseline="-25000" lang="en-US" sz="2800"/>
              <a:t>1</a:t>
            </a:r>
            <a:r>
              <a:rPr lang="en-US" sz="2800"/>
              <a:t>) at which </a:t>
            </a:r>
            <a:r>
              <a:rPr i="1" lang="en-US" sz="2800"/>
              <a:t>MR</a:t>
            </a:r>
            <a:r>
              <a:rPr lang="en-US" sz="2800"/>
              <a:t>=</a:t>
            </a:r>
            <a:r>
              <a:rPr i="1" lang="en-US" sz="2800"/>
              <a:t>MC</a:t>
            </a:r>
            <a:r>
              <a:rPr lang="en-US" sz="2800"/>
              <a:t>, and charges the highest price per unit at which the quantity of output can be sold (</a:t>
            </a:r>
            <a:r>
              <a:rPr i="1" lang="en-US" sz="2800"/>
              <a:t>P</a:t>
            </a:r>
            <a:r>
              <a:rPr baseline="-25000" lang="en-US" sz="2800"/>
              <a:t>1</a:t>
            </a:r>
            <a:r>
              <a:rPr lang="en-US" sz="2800"/>
              <a:t>).  Notice that at the profit maximizing quantity of output, price is greater than marginal cost, </a:t>
            </a:r>
            <a:r>
              <a:rPr i="1" lang="en-US" sz="2800"/>
              <a:t>P</a:t>
            </a:r>
            <a:r>
              <a:rPr lang="en-US" sz="2800"/>
              <a:t>&gt;</a:t>
            </a:r>
            <a:r>
              <a:rPr i="1" lang="en-US" sz="2800"/>
              <a:t>MC</a:t>
            </a:r>
            <a:r>
              <a:rPr lang="en-US" sz="2800"/>
              <a:t>.</a:t>
            </a:r>
            <a:endParaRPr/>
          </a:p>
        </p:txBody>
      </p:sp>
    </p:spTree>
  </p:cSld>
  <p:clrMapOvr>
    <a:masterClrMapping/>
  </p:clrMapOvr>
  <p:transition spd="med">
    <p:zoom dir="out"/>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4"/>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If a Firm Maximizes Revenue, Does it Automatically Maximize Profit Too?</a:t>
            </a:r>
            <a:endParaRPr/>
          </a:p>
        </p:txBody>
      </p:sp>
      <p:sp>
        <p:nvSpPr>
          <p:cNvPr id="164" name="Google Shape;164;p4"/>
          <p:cNvSpPr txBox="1"/>
          <p:nvPr>
            <p:ph idx="1" type="body"/>
          </p:nvPr>
        </p:nvSpPr>
        <p:spPr>
          <a:xfrm>
            <a:off x="457200" y="1600200"/>
            <a:ext cx="7848600" cy="4873752"/>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70000"/>
              <a:buChar char="🞆"/>
            </a:pPr>
            <a:r>
              <a:rPr lang="en-US"/>
              <a:t>Given TR = $100, TFC = $40, TVC = $20. What is the profit?</a:t>
            </a:r>
            <a:endParaRPr/>
          </a:p>
          <a:p>
            <a:pPr indent="-274320" lvl="0" marL="274320" rtl="0" algn="l">
              <a:spcBef>
                <a:spcPts val="600"/>
              </a:spcBef>
              <a:spcAft>
                <a:spcPts val="0"/>
              </a:spcAft>
              <a:buSzPct val="70000"/>
              <a:buChar char="🞆"/>
            </a:pPr>
            <a:r>
              <a:rPr lang="en-US"/>
              <a:t>Let one more unit of good is produced. TR increases to $105, TFC = $40, TVC = $30. What is the profit?</a:t>
            </a:r>
            <a:endParaRPr/>
          </a:p>
          <a:p>
            <a:pPr indent="-274320" lvl="0" marL="274320" rtl="0" algn="l">
              <a:spcBef>
                <a:spcPts val="600"/>
              </a:spcBef>
              <a:spcAft>
                <a:spcPts val="0"/>
              </a:spcAft>
              <a:buSzPct val="70000"/>
              <a:buChar char="🞆"/>
            </a:pPr>
            <a:r>
              <a:rPr lang="en-US"/>
              <a:t>Has profit risen or fallen?</a:t>
            </a:r>
            <a:endParaRPr/>
          </a:p>
          <a:p>
            <a:pPr indent="-175641" lvl="0" marL="274320" rtl="0" algn="l">
              <a:spcBef>
                <a:spcPts val="600"/>
              </a:spcBef>
              <a:spcAft>
                <a:spcPts val="0"/>
              </a:spcAft>
              <a:buSzPct val="70000"/>
              <a:buNone/>
            </a:pPr>
            <a:r>
              <a:t/>
            </a:r>
            <a:endParaRPr/>
          </a:p>
          <a:p>
            <a:pPr indent="-274320" lvl="0" marL="274320" rtl="0" algn="l">
              <a:spcBef>
                <a:spcPts val="600"/>
              </a:spcBef>
              <a:spcAft>
                <a:spcPts val="0"/>
              </a:spcAft>
              <a:buSzPct val="70000"/>
              <a:buChar char="🞆"/>
            </a:pPr>
            <a:r>
              <a:rPr lang="en-US"/>
              <a:t>Let one more unit of good is produced. TR increases to $105, TFC = $40, TVC = 0 [in both cases]. What is the profit?</a:t>
            </a:r>
            <a:endParaRPr/>
          </a:p>
          <a:p>
            <a:pPr indent="-175641" lvl="0" marL="274320" rtl="0" algn="l">
              <a:spcBef>
                <a:spcPts val="600"/>
              </a:spcBef>
              <a:spcAft>
                <a:spcPts val="0"/>
              </a:spcAft>
              <a:buSzPct val="70000"/>
              <a:buNone/>
            </a:pPr>
            <a:r>
              <a:t/>
            </a:r>
            <a:endParaRPr/>
          </a:p>
          <a:p>
            <a:pPr indent="-274320" lvl="0" marL="274320" rtl="0" algn="l">
              <a:spcBef>
                <a:spcPts val="600"/>
              </a:spcBef>
              <a:spcAft>
                <a:spcPts val="0"/>
              </a:spcAft>
              <a:buSzPct val="70000"/>
              <a:buChar char="🞆"/>
            </a:pPr>
            <a:r>
              <a:rPr lang="en-US"/>
              <a:t>Conclusion: Maximizing revenues is the same as maximizing profits only when a firm has no variable costs.  It is unlikely, though, that a firm will be without variable costs.</a:t>
            </a:r>
            <a:endParaRPr/>
          </a:p>
          <a:p>
            <a:pPr indent="-175641" lvl="0" marL="274320" rtl="0" algn="l">
              <a:spcBef>
                <a:spcPts val="600"/>
              </a:spcBef>
              <a:spcAft>
                <a:spcPts val="0"/>
              </a:spcAft>
              <a:buSzPct val="700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Perfect Competition and Monopoly</a:t>
            </a:r>
            <a:endParaRPr/>
          </a:p>
        </p:txBody>
      </p:sp>
      <p:sp>
        <p:nvSpPr>
          <p:cNvPr id="170" name="Google Shape;170;p5"/>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1680"/>
              <a:buChar char="🞆"/>
            </a:pPr>
            <a:r>
              <a:rPr lang="en-US"/>
              <a:t>For the perfectly competitive firm, </a:t>
            </a:r>
            <a:r>
              <a:rPr i="1" lang="en-US"/>
              <a:t>P</a:t>
            </a:r>
            <a:r>
              <a:rPr lang="en-US"/>
              <a:t>=</a:t>
            </a:r>
            <a:r>
              <a:rPr i="1" lang="en-US"/>
              <a:t>MR</a:t>
            </a:r>
            <a:r>
              <a:rPr lang="en-US"/>
              <a:t>; for the monopolist, </a:t>
            </a:r>
            <a:r>
              <a:rPr i="1" lang="en-US"/>
              <a:t>P</a:t>
            </a:r>
            <a:r>
              <a:rPr lang="en-US"/>
              <a:t>&gt;</a:t>
            </a:r>
            <a:r>
              <a:rPr i="1" lang="en-US"/>
              <a:t>MR</a:t>
            </a:r>
            <a:r>
              <a:rPr lang="en-US"/>
              <a:t>.  The perfectly competitive firm’s demand curve is its marginal revenue curve; the monopolist’s demand curve lies above its marginal revenue curve</a:t>
            </a:r>
            <a:endParaRPr/>
          </a:p>
          <a:p>
            <a:pPr indent="-167640" lvl="0" marL="274320" rtl="0" algn="l">
              <a:lnSpc>
                <a:spcPct val="90000"/>
              </a:lnSpc>
              <a:spcBef>
                <a:spcPts val="600"/>
              </a:spcBef>
              <a:spcAft>
                <a:spcPts val="0"/>
              </a:spcAft>
              <a:buSzPts val="1680"/>
              <a:buNone/>
            </a:pPr>
            <a:r>
              <a:t/>
            </a:r>
            <a:endParaRPr/>
          </a:p>
          <a:p>
            <a:pPr indent="-274320" lvl="0" marL="274320" rtl="0" algn="l">
              <a:lnSpc>
                <a:spcPct val="90000"/>
              </a:lnSpc>
              <a:spcBef>
                <a:spcPts val="600"/>
              </a:spcBef>
              <a:spcAft>
                <a:spcPts val="0"/>
              </a:spcAft>
              <a:buSzPts val="1680"/>
              <a:buChar char="🞆"/>
            </a:pPr>
            <a:r>
              <a:rPr lang="en-US"/>
              <a:t>The perfectly competitive firm charges a price equal to marginal cost; the monopolist charges a price greater than marginal cost.</a:t>
            </a:r>
            <a:endParaRPr/>
          </a:p>
          <a:p>
            <a:pPr indent="-167640" lvl="0" marL="274320" rtl="0" algn="l">
              <a:lnSpc>
                <a:spcPct val="90000"/>
              </a:lnSpc>
              <a:spcBef>
                <a:spcPts val="600"/>
              </a:spcBef>
              <a:spcAft>
                <a:spcPts val="0"/>
              </a:spcAft>
              <a:buSzPts val="1680"/>
              <a:buNone/>
            </a:pPr>
            <a:r>
              <a:t/>
            </a:r>
            <a:endParaRPr/>
          </a:p>
          <a:p>
            <a:pPr indent="-274320" lvl="0" marL="274320" rtl="0" algn="l">
              <a:lnSpc>
                <a:spcPct val="90000"/>
              </a:lnSpc>
              <a:spcBef>
                <a:spcPts val="600"/>
              </a:spcBef>
              <a:spcAft>
                <a:spcPts val="0"/>
              </a:spcAft>
              <a:buSzPts val="1680"/>
              <a:buChar char="🞆"/>
            </a:pPr>
            <a:r>
              <a:rPr lang="en-US"/>
              <a:t>A monopoly firm differs from a perfectly competitive firm in terms of how much consumers’ surplus buyers receive.</a:t>
            </a:r>
            <a:endParaRPr/>
          </a:p>
          <a:p>
            <a:pPr indent="-167640" lvl="0" marL="274320" rtl="0" algn="l">
              <a:spcBef>
                <a:spcPts val="600"/>
              </a:spcBef>
              <a:spcAft>
                <a:spcPts val="0"/>
              </a:spcAft>
              <a:buSzPts val="168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6"/>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Monopoly, Perfect Competition, and Consumers’ Surplus</a:t>
            </a:r>
            <a:endParaRPr/>
          </a:p>
        </p:txBody>
      </p:sp>
      <p:sp>
        <p:nvSpPr>
          <p:cNvPr id="176" name="Google Shape;176;p6"/>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1680"/>
              <a:buChar char="🞆"/>
            </a:pPr>
            <a:r>
              <a:rPr lang="en-US"/>
              <a:t>For Perfectly Competitive Firm:</a:t>
            </a:r>
            <a:endParaRPr/>
          </a:p>
          <a:p>
            <a:pPr indent="-274320" lvl="0" marL="274320" rtl="0" algn="l">
              <a:spcBef>
                <a:spcPts val="600"/>
              </a:spcBef>
              <a:spcAft>
                <a:spcPts val="0"/>
              </a:spcAft>
              <a:buSzPts val="1680"/>
              <a:buFont typeface="Noto Sans Symbols"/>
              <a:buChar char="🡺"/>
            </a:pPr>
            <a:r>
              <a:rPr lang="en-US"/>
              <a:t>Demand Curve = MR</a:t>
            </a:r>
            <a:endParaRPr/>
          </a:p>
          <a:p>
            <a:pPr indent="-274320" lvl="0" marL="274320" rtl="0" algn="l">
              <a:spcBef>
                <a:spcPts val="600"/>
              </a:spcBef>
              <a:spcAft>
                <a:spcPts val="0"/>
              </a:spcAft>
              <a:buSzPts val="1680"/>
              <a:buFont typeface="Noto Sans Symbols"/>
              <a:buChar char="🡺"/>
            </a:pPr>
            <a:r>
              <a:rPr lang="en-US"/>
              <a:t>Profit Maximizing at MR = MC</a:t>
            </a:r>
            <a:endParaRPr/>
          </a:p>
          <a:p>
            <a:pPr indent="-274320" lvl="0" marL="274320" rtl="0" algn="l">
              <a:spcBef>
                <a:spcPts val="600"/>
              </a:spcBef>
              <a:spcAft>
                <a:spcPts val="0"/>
              </a:spcAft>
              <a:buSzPts val="1680"/>
              <a:buFont typeface="Noto Sans Symbols"/>
              <a:buChar char="🡺"/>
            </a:pPr>
            <a:r>
              <a:rPr lang="en-US"/>
              <a:t>Demand Curve = MC: Price = MC. </a:t>
            </a:r>
            <a:endParaRPr/>
          </a:p>
          <a:p>
            <a:pPr indent="-274320" lvl="0" marL="274320" rtl="0" algn="l">
              <a:spcBef>
                <a:spcPts val="600"/>
              </a:spcBef>
              <a:spcAft>
                <a:spcPts val="0"/>
              </a:spcAft>
              <a:buSzPts val="1680"/>
              <a:buFont typeface="Noto Sans Symbols"/>
              <a:buChar char="🡺"/>
            </a:pPr>
            <a:r>
              <a:rPr lang="en-US"/>
              <a:t>Consumer Surplus: PpcBA</a:t>
            </a:r>
            <a:endParaRPr/>
          </a:p>
          <a:p>
            <a:pPr indent="-167640" lvl="0" marL="274320" rtl="0" algn="l">
              <a:spcBef>
                <a:spcPts val="600"/>
              </a:spcBef>
              <a:spcAft>
                <a:spcPts val="0"/>
              </a:spcAft>
              <a:buSzPts val="1680"/>
              <a:buFont typeface="Noto Sans Symbols"/>
              <a:buNone/>
            </a:pPr>
            <a:r>
              <a:t/>
            </a:r>
            <a:endParaRPr/>
          </a:p>
          <a:p>
            <a:pPr indent="-274320" lvl="0" marL="274320" rtl="0" algn="l">
              <a:spcBef>
                <a:spcPts val="600"/>
              </a:spcBef>
              <a:spcAft>
                <a:spcPts val="0"/>
              </a:spcAft>
              <a:buSzPts val="1680"/>
              <a:buFont typeface="Courier New"/>
              <a:buChar char="o"/>
            </a:pPr>
            <a:r>
              <a:rPr lang="en-US"/>
              <a:t>For Monopolist:</a:t>
            </a:r>
            <a:endParaRPr/>
          </a:p>
          <a:p>
            <a:pPr indent="-274320" lvl="0" marL="274320" rtl="0" algn="l">
              <a:spcBef>
                <a:spcPts val="600"/>
              </a:spcBef>
              <a:spcAft>
                <a:spcPts val="0"/>
              </a:spcAft>
              <a:buSzPts val="1680"/>
              <a:buFont typeface="Noto Sans Symbols"/>
              <a:buChar char="🡺"/>
            </a:pPr>
            <a:r>
              <a:rPr lang="en-US"/>
              <a:t>Demand Curve &gt; MR</a:t>
            </a:r>
            <a:endParaRPr/>
          </a:p>
          <a:p>
            <a:pPr indent="-274320" lvl="0" marL="274320" rtl="0" algn="l">
              <a:spcBef>
                <a:spcPts val="600"/>
              </a:spcBef>
              <a:spcAft>
                <a:spcPts val="0"/>
              </a:spcAft>
              <a:buSzPts val="1680"/>
              <a:buFont typeface="Noto Sans Symbols"/>
              <a:buChar char="🡺"/>
            </a:pPr>
            <a:r>
              <a:rPr lang="en-US"/>
              <a:t>Profit Maximizing at MR = MC</a:t>
            </a:r>
            <a:endParaRPr/>
          </a:p>
          <a:p>
            <a:pPr indent="-274320" lvl="0" marL="274320" rtl="0" algn="l">
              <a:spcBef>
                <a:spcPts val="600"/>
              </a:spcBef>
              <a:spcAft>
                <a:spcPts val="0"/>
              </a:spcAft>
              <a:buSzPts val="1680"/>
              <a:buFont typeface="Noto Sans Symbols"/>
              <a:buChar char="🡺"/>
            </a:pPr>
            <a:r>
              <a:rPr lang="en-US"/>
              <a:t>Price &gt; MC. </a:t>
            </a:r>
            <a:endParaRPr/>
          </a:p>
          <a:p>
            <a:pPr indent="-274320" lvl="0" marL="274320" rtl="0" algn="l">
              <a:spcBef>
                <a:spcPts val="600"/>
              </a:spcBef>
              <a:spcAft>
                <a:spcPts val="0"/>
              </a:spcAft>
              <a:buSzPts val="1680"/>
              <a:buFont typeface="Noto Sans Symbols"/>
              <a:buChar char="🡺"/>
            </a:pPr>
            <a:r>
              <a:rPr lang="en-US"/>
              <a:t>Consumer Surplus: PmAC</a:t>
            </a:r>
            <a:endParaRPr/>
          </a:p>
          <a:p>
            <a:pPr indent="0" lvl="0" marL="0" rtl="0" algn="l">
              <a:spcBef>
                <a:spcPts val="600"/>
              </a:spcBef>
              <a:spcAft>
                <a:spcPts val="0"/>
              </a:spcAft>
              <a:buSzPts val="168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7"/>
          <p:cNvSpPr txBox="1"/>
          <p:nvPr>
            <p:ph type="title"/>
          </p:nvPr>
        </p:nvSpPr>
        <p:spPr>
          <a:xfrm>
            <a:off x="457200" y="274638"/>
            <a:ext cx="7467600" cy="10207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Monopoly, Perfect Competition, and Consumers’ Surplus</a:t>
            </a:r>
            <a:endParaRPr/>
          </a:p>
        </p:txBody>
      </p:sp>
      <p:grpSp>
        <p:nvGrpSpPr>
          <p:cNvPr id="182" name="Google Shape;182;p7"/>
          <p:cNvGrpSpPr/>
          <p:nvPr/>
        </p:nvGrpSpPr>
        <p:grpSpPr>
          <a:xfrm>
            <a:off x="2973611" y="1371600"/>
            <a:ext cx="5816600" cy="5232400"/>
            <a:chOff x="1700" y="1109"/>
            <a:chExt cx="2345" cy="2109"/>
          </a:xfrm>
        </p:grpSpPr>
        <p:sp>
          <p:nvSpPr>
            <p:cNvPr id="183" name="Google Shape;183;p7"/>
            <p:cNvSpPr/>
            <p:nvPr/>
          </p:nvSpPr>
          <p:spPr>
            <a:xfrm>
              <a:off x="1700" y="1109"/>
              <a:ext cx="2345" cy="210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pic>
          <p:nvPicPr>
            <p:cNvPr descr="D:\ESWORK\SWPUB\Arnold PPT\Art\Art Ch23\arn17456_2306.jpg" id="184" name="Google Shape;184;p7"/>
            <p:cNvPicPr preferRelativeResize="0"/>
            <p:nvPr/>
          </p:nvPicPr>
          <p:blipFill rotWithShape="1">
            <a:blip r:embed="rId3">
              <a:alphaModFix/>
            </a:blip>
            <a:srcRect b="0" l="0" r="0" t="0"/>
            <a:stretch/>
          </p:blipFill>
          <p:spPr>
            <a:xfrm>
              <a:off x="1751" y="1146"/>
              <a:ext cx="2258" cy="2028"/>
            </a:xfrm>
            <a:prstGeom prst="rect">
              <a:avLst/>
            </a:prstGeom>
            <a:noFill/>
            <a:ln>
              <a:noFill/>
            </a:ln>
          </p:spPr>
        </p:pic>
      </p:grpSp>
      <p:sp>
        <p:nvSpPr>
          <p:cNvPr id="185" name="Google Shape;185;p7"/>
          <p:cNvSpPr txBox="1"/>
          <p:nvPr/>
        </p:nvSpPr>
        <p:spPr>
          <a:xfrm>
            <a:off x="838200" y="1981200"/>
            <a:ext cx="1524000"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Schoolbook"/>
                <a:ea typeface="Century Schoolbook"/>
                <a:cs typeface="Century Schoolbook"/>
                <a:sym typeface="Century Schoolbook"/>
              </a:rPr>
              <a:t>Would you, as a consumer prefer a monopoly or a perfectively competitive market?</a:t>
            </a:r>
            <a:endParaRPr sz="1800">
              <a:solidFill>
                <a:schemeClr val="dk1"/>
              </a:solidFill>
              <a:latin typeface="Century Schoolbook"/>
              <a:ea typeface="Century Schoolbook"/>
              <a:cs typeface="Century Schoolbook"/>
              <a:sym typeface="Century Schoolbook"/>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8"/>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Monopoly or Nothing?</a:t>
            </a:r>
            <a:endParaRPr/>
          </a:p>
        </p:txBody>
      </p:sp>
      <p:sp>
        <p:nvSpPr>
          <p:cNvPr id="191" name="Google Shape;191;p8"/>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70000"/>
              <a:buChar char="🞆"/>
            </a:pPr>
            <a:r>
              <a:rPr lang="en-US"/>
              <a:t>Answer: Perfect Competition.</a:t>
            </a:r>
            <a:endParaRPr/>
          </a:p>
          <a:p>
            <a:pPr indent="-274320" lvl="0" marL="274320" rtl="0" algn="l">
              <a:spcBef>
                <a:spcPts val="600"/>
              </a:spcBef>
              <a:spcAft>
                <a:spcPts val="0"/>
              </a:spcAft>
              <a:buSzPct val="70000"/>
              <a:buFont typeface="Noto Sans Symbols"/>
              <a:buChar char="🡺"/>
            </a:pPr>
            <a:r>
              <a:rPr lang="en-US"/>
              <a:t>Lower prices</a:t>
            </a:r>
            <a:endParaRPr/>
          </a:p>
          <a:p>
            <a:pPr indent="-274320" lvl="0" marL="274320" rtl="0" algn="l">
              <a:spcBef>
                <a:spcPts val="600"/>
              </a:spcBef>
              <a:spcAft>
                <a:spcPts val="0"/>
              </a:spcAft>
              <a:buSzPct val="70000"/>
              <a:buFont typeface="Noto Sans Symbols"/>
              <a:buChar char="🡺"/>
            </a:pPr>
            <a:r>
              <a:rPr lang="en-US"/>
              <a:t>More Output</a:t>
            </a:r>
            <a:endParaRPr/>
          </a:p>
          <a:p>
            <a:pPr indent="-274320" lvl="0" marL="274320" rtl="0" algn="l">
              <a:spcBef>
                <a:spcPts val="600"/>
              </a:spcBef>
              <a:spcAft>
                <a:spcPts val="0"/>
              </a:spcAft>
              <a:buSzPct val="70000"/>
              <a:buFont typeface="Noto Sans Symbols"/>
              <a:buChar char="🡺"/>
            </a:pPr>
            <a:r>
              <a:rPr lang="en-US"/>
              <a:t>Higher Consumer Surplus.</a:t>
            </a:r>
            <a:endParaRPr/>
          </a:p>
          <a:p>
            <a:pPr indent="-175641" lvl="0" marL="274320" rtl="0" algn="l">
              <a:spcBef>
                <a:spcPts val="600"/>
              </a:spcBef>
              <a:spcAft>
                <a:spcPts val="0"/>
              </a:spcAft>
              <a:buSzPct val="70000"/>
              <a:buFont typeface="Noto Sans Symbols"/>
              <a:buNone/>
            </a:pPr>
            <a:r>
              <a:t/>
            </a:r>
            <a:endParaRPr/>
          </a:p>
          <a:p>
            <a:pPr indent="-274320" lvl="0" marL="274320" rtl="0" algn="l">
              <a:spcBef>
                <a:spcPts val="600"/>
              </a:spcBef>
              <a:spcAft>
                <a:spcPts val="0"/>
              </a:spcAft>
              <a:buSzPct val="70000"/>
              <a:buChar char="🞆"/>
            </a:pPr>
            <a:r>
              <a:rPr lang="en-US"/>
              <a:t>But, what if the option of Perfect Competition is not available?</a:t>
            </a:r>
            <a:endParaRPr/>
          </a:p>
          <a:p>
            <a:pPr indent="-274320" lvl="0" marL="274320" rtl="0" algn="l">
              <a:spcBef>
                <a:spcPts val="600"/>
              </a:spcBef>
              <a:spcAft>
                <a:spcPts val="0"/>
              </a:spcAft>
              <a:buSzPct val="70000"/>
              <a:buChar char="🞆"/>
            </a:pPr>
            <a:r>
              <a:rPr lang="en-US"/>
              <a:t>In Perfect Competition 🡺 many sellers 🡺 each producing less output 🡺 cannot produce at lowest possible cost 🡺 producing at a higher MC and ATC</a:t>
            </a:r>
            <a:endParaRPr/>
          </a:p>
          <a:p>
            <a:pPr indent="-274320" lvl="0" marL="274320" rtl="0" algn="l">
              <a:spcBef>
                <a:spcPts val="600"/>
              </a:spcBef>
              <a:spcAft>
                <a:spcPts val="0"/>
              </a:spcAft>
              <a:buSzPct val="70000"/>
              <a:buChar char="🞆"/>
            </a:pPr>
            <a:r>
              <a:rPr lang="en-US"/>
              <a:t>In Monopoly 🡺 single seller 🡺 producing entire industry output 🡺 can achieve Economies of scale 🡺 produce at lowest possible cost.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9"/>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The Case Against Monopoly: Deadweight Loss</a:t>
            </a:r>
            <a:endParaRPr/>
          </a:p>
        </p:txBody>
      </p:sp>
      <p:sp>
        <p:nvSpPr>
          <p:cNvPr id="197" name="Google Shape;197;p9"/>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b="1" lang="en-US"/>
              <a:t>The Deadweight Loss of Monopoly:  </a:t>
            </a:r>
            <a:r>
              <a:rPr lang="en-US"/>
              <a:t>Greater output is produced under perfect competition than under monopoly.  The net value of the difference in these two output levels is said to be the deadweight loss of monopoly.  This is the amount buyers value the additional output over and above the opportunity costs of producing the additional output.</a:t>
            </a:r>
            <a:endParaRPr/>
          </a:p>
          <a:p>
            <a:pPr indent="-167640" lvl="0" marL="274320" rtl="0" algn="l">
              <a:spcBef>
                <a:spcPts val="600"/>
              </a:spcBef>
              <a:spcAft>
                <a:spcPts val="0"/>
              </a:spcAft>
              <a:buSzPts val="1680"/>
              <a:buNone/>
            </a:pPr>
            <a:r>
              <a:t/>
            </a:r>
            <a:endParaRPr/>
          </a:p>
          <a:p>
            <a:pPr indent="-274320" lvl="0" marL="274320" rtl="0" algn="l">
              <a:spcBef>
                <a:spcPts val="600"/>
              </a:spcBef>
              <a:spcAft>
                <a:spcPts val="0"/>
              </a:spcAft>
              <a:buSzPts val="1680"/>
              <a:buChar char="🞆"/>
            </a:pPr>
            <a:r>
              <a:rPr lang="en-US"/>
              <a:t>The difference in output results in a welfare loss to the society.</a:t>
            </a:r>
            <a:endParaRPr/>
          </a:p>
          <a:p>
            <a:pPr indent="-167640" lvl="0" marL="274320" rtl="0" algn="l">
              <a:spcBef>
                <a:spcPts val="600"/>
              </a:spcBef>
              <a:spcAft>
                <a:spcPts val="0"/>
              </a:spcAft>
              <a:buSzPts val="1680"/>
              <a:buNone/>
            </a:pPr>
            <a:r>
              <a:t/>
            </a:r>
            <a:endParaRPr/>
          </a:p>
          <a:p>
            <a:pPr indent="0" lvl="0" marL="0" rtl="0" algn="l">
              <a:spcBef>
                <a:spcPts val="600"/>
              </a:spcBef>
              <a:spcAft>
                <a:spcPts val="0"/>
              </a:spcAft>
              <a:buSzPts val="1680"/>
              <a:buNone/>
            </a:pPr>
            <a:r>
              <a:t/>
            </a:r>
            <a:endParaRPr/>
          </a:p>
          <a:p>
            <a:pPr indent="0" lvl="0" marL="0" rtl="0" algn="l">
              <a:spcBef>
                <a:spcPts val="600"/>
              </a:spcBef>
              <a:spcAft>
                <a:spcPts val="0"/>
              </a:spcAft>
              <a:buSzPts val="168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0"/>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The Case Against Monopoly: Deadweight Loss</a:t>
            </a:r>
            <a:endParaRPr/>
          </a:p>
        </p:txBody>
      </p:sp>
      <p:sp>
        <p:nvSpPr>
          <p:cNvPr id="203" name="Google Shape;203;p10"/>
          <p:cNvSpPr txBox="1"/>
          <p:nvPr>
            <p:ph idx="1" type="body"/>
          </p:nvPr>
        </p:nvSpPr>
        <p:spPr>
          <a:xfrm>
            <a:off x="457200" y="1600200"/>
            <a:ext cx="3810000" cy="4873800"/>
          </a:xfrm>
          <a:prstGeom prst="rect">
            <a:avLst/>
          </a:prstGeom>
          <a:noFill/>
          <a:ln>
            <a:noFill/>
          </a:ln>
        </p:spPr>
        <p:txBody>
          <a:bodyPr anchorCtr="0" anchor="t" bIns="45700" lIns="91425" spcFirstLastPara="1" rIns="91425" wrap="square" tIns="45700">
            <a:normAutofit fontScale="92500"/>
          </a:bodyPr>
          <a:lstStyle/>
          <a:p>
            <a:pPr indent="0" lvl="0" marL="0" rtl="0" algn="l">
              <a:spcBef>
                <a:spcPts val="0"/>
              </a:spcBef>
              <a:spcAft>
                <a:spcPts val="0"/>
              </a:spcAft>
              <a:buSzPct val="70000"/>
              <a:buNone/>
            </a:pPr>
            <a:r>
              <a:rPr lang="en-US"/>
              <a:t>The monopolist produces Q</a:t>
            </a:r>
            <a:r>
              <a:rPr baseline="-25000" lang="en-US"/>
              <a:t>M</a:t>
            </a:r>
            <a:r>
              <a:rPr lang="en-US"/>
              <a:t>, and the perfectly competitive firm produces the higher output level Q</a:t>
            </a:r>
            <a:r>
              <a:rPr baseline="-25000" lang="en-US"/>
              <a:t>PC</a:t>
            </a:r>
            <a:endParaRPr/>
          </a:p>
          <a:p>
            <a:pPr indent="0" lvl="0" marL="0" rtl="0" algn="l">
              <a:spcBef>
                <a:spcPts val="600"/>
              </a:spcBef>
              <a:spcAft>
                <a:spcPts val="0"/>
              </a:spcAft>
              <a:buSzPct val="70000"/>
              <a:buNone/>
            </a:pPr>
            <a:r>
              <a:rPr lang="en-US"/>
              <a:t>Moving from Q</a:t>
            </a:r>
            <a:r>
              <a:rPr baseline="-25000" lang="en-US"/>
              <a:t>M </a:t>
            </a:r>
            <a:r>
              <a:rPr lang="en-US"/>
              <a:t>to Q</a:t>
            </a:r>
            <a:r>
              <a:rPr baseline="-25000" lang="en-US"/>
              <a:t>PC</a:t>
            </a:r>
            <a:r>
              <a:rPr lang="en-US"/>
              <a:t>:</a:t>
            </a:r>
            <a:endParaRPr/>
          </a:p>
          <a:p>
            <a:pPr indent="-274320" lvl="0" marL="274320" rtl="0" algn="l">
              <a:spcBef>
                <a:spcPts val="600"/>
              </a:spcBef>
              <a:spcAft>
                <a:spcPts val="0"/>
              </a:spcAft>
              <a:buSzPct val="70000"/>
              <a:buChar char="🞆"/>
            </a:pPr>
            <a:r>
              <a:rPr lang="en-US"/>
              <a:t>Value to Buyers of additional output = Q</a:t>
            </a:r>
            <a:r>
              <a:rPr baseline="-25000" lang="en-US"/>
              <a:t>M</a:t>
            </a:r>
            <a:r>
              <a:rPr lang="en-US"/>
              <a:t>CB Q</a:t>
            </a:r>
            <a:r>
              <a:rPr baseline="-25000" lang="en-US"/>
              <a:t>PC</a:t>
            </a:r>
            <a:endParaRPr/>
          </a:p>
          <a:p>
            <a:pPr indent="-274320" lvl="0" marL="274320" rtl="0" algn="l">
              <a:spcBef>
                <a:spcPts val="600"/>
              </a:spcBef>
              <a:spcAft>
                <a:spcPts val="0"/>
              </a:spcAft>
              <a:buSzPct val="70000"/>
              <a:buChar char="🞆"/>
            </a:pPr>
            <a:r>
              <a:rPr lang="en-US"/>
              <a:t>Cost to Seller to produce additional output = Q</a:t>
            </a:r>
            <a:r>
              <a:rPr baseline="-25000" lang="en-US"/>
              <a:t>M</a:t>
            </a:r>
            <a:r>
              <a:rPr lang="en-US"/>
              <a:t>DB Q</a:t>
            </a:r>
            <a:r>
              <a:rPr baseline="-25000" lang="en-US"/>
              <a:t>PC</a:t>
            </a:r>
            <a:endParaRPr/>
          </a:p>
          <a:p>
            <a:pPr indent="-274320" lvl="0" marL="274320" rtl="0" algn="l">
              <a:spcBef>
                <a:spcPts val="600"/>
              </a:spcBef>
              <a:spcAft>
                <a:spcPts val="0"/>
              </a:spcAft>
              <a:buSzPct val="70000"/>
              <a:buChar char="🞆"/>
            </a:pPr>
            <a:r>
              <a:rPr lang="en-US"/>
              <a:t>Deadweight loss = Q</a:t>
            </a:r>
            <a:r>
              <a:rPr baseline="-25000" lang="en-US"/>
              <a:t>M</a:t>
            </a:r>
            <a:r>
              <a:rPr lang="en-US"/>
              <a:t>CB Q</a:t>
            </a:r>
            <a:r>
              <a:rPr baseline="-25000" lang="en-US"/>
              <a:t>PC </a:t>
            </a:r>
            <a:r>
              <a:rPr lang="en-US"/>
              <a:t>- Q</a:t>
            </a:r>
            <a:r>
              <a:rPr baseline="-25000" lang="en-US"/>
              <a:t>M</a:t>
            </a:r>
            <a:r>
              <a:rPr lang="en-US"/>
              <a:t>DB Q</a:t>
            </a:r>
            <a:r>
              <a:rPr baseline="-25000" lang="en-US"/>
              <a:t>PC</a:t>
            </a:r>
            <a:r>
              <a:rPr lang="en-US"/>
              <a:t> = ∆DBC</a:t>
            </a:r>
            <a:endParaRPr baseline="-25000"/>
          </a:p>
          <a:p>
            <a:pPr indent="-175641" lvl="0" marL="274320" rtl="0" algn="l">
              <a:spcBef>
                <a:spcPts val="600"/>
              </a:spcBef>
              <a:spcAft>
                <a:spcPts val="0"/>
              </a:spcAft>
              <a:buSzPct val="70000"/>
              <a:buNone/>
            </a:pPr>
            <a:r>
              <a:t/>
            </a:r>
            <a:endParaRPr/>
          </a:p>
          <a:p>
            <a:pPr indent="-175641" lvl="0" marL="274320" rtl="0" algn="l">
              <a:spcBef>
                <a:spcPts val="600"/>
              </a:spcBef>
              <a:spcAft>
                <a:spcPts val="0"/>
              </a:spcAft>
              <a:buSzPct val="70000"/>
              <a:buNone/>
            </a:pPr>
            <a:r>
              <a:t/>
            </a:r>
            <a:endParaRPr/>
          </a:p>
          <a:p>
            <a:pPr indent="-175641" lvl="0" marL="274320" rtl="0" algn="l">
              <a:spcBef>
                <a:spcPts val="600"/>
              </a:spcBef>
              <a:spcAft>
                <a:spcPts val="0"/>
              </a:spcAft>
              <a:buSzPct val="70000"/>
              <a:buNone/>
            </a:pPr>
            <a:r>
              <a:t/>
            </a:r>
            <a:endParaRPr/>
          </a:p>
          <a:p>
            <a:pPr indent="-175641" lvl="0" marL="274320" rtl="0" algn="l">
              <a:spcBef>
                <a:spcPts val="600"/>
              </a:spcBef>
              <a:spcAft>
                <a:spcPts val="0"/>
              </a:spcAft>
              <a:buSzPct val="70000"/>
              <a:buNone/>
            </a:pPr>
            <a:r>
              <a:t/>
            </a:r>
            <a:endParaRPr baseline="-25000"/>
          </a:p>
        </p:txBody>
      </p:sp>
      <p:grpSp>
        <p:nvGrpSpPr>
          <p:cNvPr id="204" name="Google Shape;204;p10"/>
          <p:cNvGrpSpPr/>
          <p:nvPr/>
        </p:nvGrpSpPr>
        <p:grpSpPr>
          <a:xfrm>
            <a:off x="4396905" y="1676400"/>
            <a:ext cx="4633540" cy="4724400"/>
            <a:chOff x="2037" y="1291"/>
            <a:chExt cx="1717" cy="1709"/>
          </a:xfrm>
        </p:grpSpPr>
        <p:sp>
          <p:nvSpPr>
            <p:cNvPr id="205" name="Google Shape;205;p10"/>
            <p:cNvSpPr/>
            <p:nvPr/>
          </p:nvSpPr>
          <p:spPr>
            <a:xfrm>
              <a:off x="2158" y="1291"/>
              <a:ext cx="1596" cy="170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pic>
          <p:nvPicPr>
            <p:cNvPr descr="D:\ESWORK\SWPUB\Arnold PPT\Art\Art Ch23\arn17456_2307.jpg" id="206" name="Google Shape;206;p10"/>
            <p:cNvPicPr preferRelativeResize="0"/>
            <p:nvPr/>
          </p:nvPicPr>
          <p:blipFill rotWithShape="1">
            <a:blip r:embed="rId3">
              <a:alphaModFix/>
            </a:blip>
            <a:srcRect b="0" l="0" r="0" t="0"/>
            <a:stretch/>
          </p:blipFill>
          <p:spPr>
            <a:xfrm>
              <a:off x="2037" y="1356"/>
              <a:ext cx="1685" cy="1607"/>
            </a:xfrm>
            <a:prstGeom prst="rect">
              <a:avLst/>
            </a:prstGeom>
            <a:noFill/>
            <a:ln>
              <a:noFill/>
            </a:ln>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1"/>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Rent Seeking</a:t>
            </a:r>
            <a:endParaRPr/>
          </a:p>
        </p:txBody>
      </p:sp>
      <p:sp>
        <p:nvSpPr>
          <p:cNvPr id="212" name="Google Shape;212;p11"/>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Rent Seeking: If firm A tries to get the government to transfer “income” or consumers’ surplus from buyers to itself it is undertaking a transfer seeking activity.  In economics, these activities are usually called Rent Seeking.</a:t>
            </a:r>
            <a:endParaRPr/>
          </a:p>
          <a:p>
            <a:pPr indent="-167640" lvl="0" marL="274320" rtl="0" algn="l">
              <a:spcBef>
                <a:spcPts val="600"/>
              </a:spcBef>
              <a:spcAft>
                <a:spcPts val="0"/>
              </a:spcAft>
              <a:buSzPts val="1680"/>
              <a:buNone/>
            </a:pPr>
            <a:r>
              <a:t/>
            </a:r>
            <a:endParaRPr/>
          </a:p>
          <a:p>
            <a:pPr indent="-274320" lvl="0" marL="274320" rtl="0" algn="l">
              <a:spcBef>
                <a:spcPts val="600"/>
              </a:spcBef>
              <a:spcAft>
                <a:spcPts val="0"/>
              </a:spcAft>
              <a:buSzPts val="1680"/>
              <a:buChar char="🞆"/>
            </a:pPr>
            <a:r>
              <a:rPr lang="en-US"/>
              <a:t>Rent seeking is a socially wasteful activity because resources are expended to affect a transfer and not to produce goods and services.</a:t>
            </a:r>
            <a:endParaRPr/>
          </a:p>
          <a:p>
            <a:pPr indent="0" lvl="0" marL="0" rtl="0" algn="l">
              <a:spcBef>
                <a:spcPts val="600"/>
              </a:spcBef>
              <a:spcAft>
                <a:spcPts val="0"/>
              </a:spcAft>
              <a:buSzPts val="168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2"/>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Rent Seeking</a:t>
            </a:r>
            <a:endParaRPr/>
          </a:p>
        </p:txBody>
      </p:sp>
      <p:sp>
        <p:nvSpPr>
          <p:cNvPr id="218" name="Google Shape;218;p12"/>
          <p:cNvSpPr txBox="1"/>
          <p:nvPr>
            <p:ph idx="1" type="body"/>
          </p:nvPr>
        </p:nvSpPr>
        <p:spPr>
          <a:xfrm>
            <a:off x="457200" y="1447800"/>
            <a:ext cx="4648200" cy="5026152"/>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SzPct val="70000"/>
              <a:buNone/>
            </a:pPr>
            <a:r>
              <a:rPr lang="en-US"/>
              <a:t>The monopolist produces Q</a:t>
            </a:r>
            <a:r>
              <a:rPr baseline="-25000" lang="en-US"/>
              <a:t>M</a:t>
            </a:r>
            <a:r>
              <a:rPr lang="en-US"/>
              <a:t>, and the perfectly competitive firm produces the higher output level Q</a:t>
            </a:r>
            <a:r>
              <a:rPr baseline="-25000" lang="en-US"/>
              <a:t>PC</a:t>
            </a:r>
            <a:endParaRPr/>
          </a:p>
          <a:p>
            <a:pPr indent="0" lvl="0" marL="0" rtl="0" algn="l">
              <a:spcBef>
                <a:spcPts val="600"/>
              </a:spcBef>
              <a:spcAft>
                <a:spcPts val="0"/>
              </a:spcAft>
              <a:buSzPct val="70000"/>
              <a:buNone/>
            </a:pPr>
            <a:r>
              <a:rPr lang="en-US"/>
              <a:t>Moving from Q</a:t>
            </a:r>
            <a:r>
              <a:rPr baseline="-25000" lang="en-US"/>
              <a:t>M </a:t>
            </a:r>
            <a:r>
              <a:rPr lang="en-US"/>
              <a:t>to Q</a:t>
            </a:r>
            <a:r>
              <a:rPr baseline="-25000" lang="en-US"/>
              <a:t>PC</a:t>
            </a:r>
            <a:r>
              <a:rPr lang="en-US"/>
              <a:t>:</a:t>
            </a:r>
            <a:endParaRPr/>
          </a:p>
          <a:p>
            <a:pPr indent="-274320" lvl="0" marL="274320" rtl="0" algn="l">
              <a:spcBef>
                <a:spcPts val="600"/>
              </a:spcBef>
              <a:spcAft>
                <a:spcPts val="0"/>
              </a:spcAft>
              <a:buSzPct val="70000"/>
              <a:buChar char="🞆"/>
            </a:pPr>
            <a:r>
              <a:rPr lang="en-US"/>
              <a:t>Profit of the monopolist = P</a:t>
            </a:r>
            <a:r>
              <a:rPr baseline="-25000" lang="en-US"/>
              <a:t>M</a:t>
            </a:r>
            <a:r>
              <a:rPr lang="en-US"/>
              <a:t>CD P</a:t>
            </a:r>
            <a:r>
              <a:rPr baseline="-25000" lang="en-US"/>
              <a:t>PC.</a:t>
            </a:r>
            <a:endParaRPr/>
          </a:p>
          <a:p>
            <a:pPr indent="-274320" lvl="0" marL="274320" rtl="0" algn="l">
              <a:spcBef>
                <a:spcPts val="600"/>
              </a:spcBef>
              <a:spcAft>
                <a:spcPts val="0"/>
              </a:spcAft>
              <a:buSzPct val="70000"/>
              <a:buChar char="🞆"/>
            </a:pPr>
            <a:r>
              <a:rPr lang="en-US"/>
              <a:t>Consumer Surplus if Perfectly Competitive Firms = ABP</a:t>
            </a:r>
            <a:r>
              <a:rPr baseline="-25000" lang="en-US"/>
              <a:t>PC</a:t>
            </a:r>
            <a:endParaRPr/>
          </a:p>
          <a:p>
            <a:pPr indent="-274320" lvl="0" marL="274320" rtl="0" algn="l">
              <a:spcBef>
                <a:spcPts val="600"/>
              </a:spcBef>
              <a:spcAft>
                <a:spcPts val="0"/>
              </a:spcAft>
              <a:buSzPct val="70000"/>
              <a:buChar char="🞆"/>
            </a:pPr>
            <a:r>
              <a:rPr lang="en-US"/>
              <a:t>Consumer Surplus if Monopolist = ACP</a:t>
            </a:r>
            <a:r>
              <a:rPr baseline="-25000" lang="en-US"/>
              <a:t>M</a:t>
            </a:r>
            <a:endParaRPr/>
          </a:p>
          <a:p>
            <a:pPr indent="-274320" lvl="0" marL="274320" rtl="0" algn="l">
              <a:spcBef>
                <a:spcPts val="600"/>
              </a:spcBef>
              <a:spcAft>
                <a:spcPts val="0"/>
              </a:spcAft>
              <a:buSzPct val="70000"/>
              <a:buChar char="🞆"/>
            </a:pPr>
            <a:r>
              <a:rPr lang="en-US"/>
              <a:t>Loss in Consumer Surplus = ABP</a:t>
            </a:r>
            <a:r>
              <a:rPr baseline="-25000" lang="en-US"/>
              <a:t>PC </a:t>
            </a:r>
            <a:r>
              <a:rPr lang="en-US"/>
              <a:t>– ACP</a:t>
            </a:r>
            <a:r>
              <a:rPr baseline="-25000" lang="en-US"/>
              <a:t>M</a:t>
            </a:r>
            <a:r>
              <a:rPr lang="en-US"/>
              <a:t> = P</a:t>
            </a:r>
            <a:r>
              <a:rPr baseline="-25000" lang="en-US"/>
              <a:t>M</a:t>
            </a:r>
            <a:r>
              <a:rPr lang="en-US"/>
              <a:t>CB P</a:t>
            </a:r>
            <a:r>
              <a:rPr baseline="-25000" lang="en-US"/>
              <a:t>PC.</a:t>
            </a:r>
            <a:endParaRPr/>
          </a:p>
          <a:p>
            <a:pPr indent="-274320" lvl="0" marL="274320" rtl="0" algn="l">
              <a:spcBef>
                <a:spcPts val="600"/>
              </a:spcBef>
              <a:spcAft>
                <a:spcPts val="0"/>
              </a:spcAft>
              <a:buSzPct val="70000"/>
              <a:buChar char="🞆"/>
            </a:pPr>
            <a:r>
              <a:rPr lang="en-US"/>
              <a:t> This includes P</a:t>
            </a:r>
            <a:r>
              <a:rPr baseline="-25000" lang="en-US"/>
              <a:t>M</a:t>
            </a:r>
            <a:r>
              <a:rPr lang="en-US"/>
              <a:t>CD P</a:t>
            </a:r>
            <a:r>
              <a:rPr baseline="-25000" lang="en-US"/>
              <a:t>PC.</a:t>
            </a:r>
            <a:endParaRPr/>
          </a:p>
          <a:p>
            <a:pPr indent="-274320" lvl="0" marL="274320" rtl="0" algn="l">
              <a:spcBef>
                <a:spcPts val="600"/>
              </a:spcBef>
              <a:spcAft>
                <a:spcPts val="0"/>
              </a:spcAft>
              <a:buSzPct val="70000"/>
              <a:buChar char="🞆"/>
            </a:pPr>
            <a:r>
              <a:rPr lang="en-US"/>
              <a:t>Part of Consumer surplus is converted to monopolist’s profit</a:t>
            </a:r>
            <a:endParaRPr/>
          </a:p>
          <a:p>
            <a:pPr indent="-175641" lvl="0" marL="274320" rtl="0" algn="l">
              <a:spcBef>
                <a:spcPts val="600"/>
              </a:spcBef>
              <a:spcAft>
                <a:spcPts val="0"/>
              </a:spcAft>
              <a:buSzPct val="70000"/>
              <a:buNone/>
            </a:pPr>
            <a:r>
              <a:t/>
            </a:r>
            <a:endParaRPr/>
          </a:p>
          <a:p>
            <a:pPr indent="-175641" lvl="0" marL="274320" rtl="0" algn="l">
              <a:spcBef>
                <a:spcPts val="600"/>
              </a:spcBef>
              <a:spcAft>
                <a:spcPts val="0"/>
              </a:spcAft>
              <a:buSzPct val="70000"/>
              <a:buNone/>
            </a:pPr>
            <a:r>
              <a:t/>
            </a:r>
            <a:endParaRPr/>
          </a:p>
        </p:txBody>
      </p:sp>
      <p:grpSp>
        <p:nvGrpSpPr>
          <p:cNvPr id="219" name="Google Shape;219;p12"/>
          <p:cNvGrpSpPr/>
          <p:nvPr/>
        </p:nvGrpSpPr>
        <p:grpSpPr>
          <a:xfrm>
            <a:off x="5105400" y="1676400"/>
            <a:ext cx="3925045" cy="4876800"/>
            <a:chOff x="1991" y="1291"/>
            <a:chExt cx="1763" cy="1709"/>
          </a:xfrm>
        </p:grpSpPr>
        <p:sp>
          <p:nvSpPr>
            <p:cNvPr id="220" name="Google Shape;220;p12"/>
            <p:cNvSpPr/>
            <p:nvPr/>
          </p:nvSpPr>
          <p:spPr>
            <a:xfrm>
              <a:off x="1991" y="1291"/>
              <a:ext cx="1763" cy="170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Schoolbook"/>
                <a:ea typeface="Century Schoolbook"/>
                <a:cs typeface="Century Schoolbook"/>
                <a:sym typeface="Century Schoolbook"/>
              </a:endParaRPr>
            </a:p>
          </p:txBody>
        </p:sp>
        <p:pic>
          <p:nvPicPr>
            <p:cNvPr descr="D:\ESWORK\SWPUB\Arnold PPT\Art\Art Ch23\arn17456_2307.jpg" id="221" name="Google Shape;221;p12"/>
            <p:cNvPicPr preferRelativeResize="0"/>
            <p:nvPr/>
          </p:nvPicPr>
          <p:blipFill rotWithShape="1">
            <a:blip r:embed="rId3">
              <a:alphaModFix/>
            </a:blip>
            <a:srcRect b="0" l="0" r="0" t="0"/>
            <a:stretch/>
          </p:blipFill>
          <p:spPr>
            <a:xfrm>
              <a:off x="2037" y="1356"/>
              <a:ext cx="1685" cy="1607"/>
            </a:xfrm>
            <a:prstGeom prst="rect">
              <a:avLst/>
            </a:prstGeom>
            <a:noFill/>
            <a:ln>
              <a:noFill/>
            </a:ln>
          </p:spPr>
        </p:pic>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3"/>
          <p:cNvSpPr txBox="1"/>
          <p:nvPr>
            <p:ph type="title"/>
          </p:nvPr>
        </p:nvSpPr>
        <p:spPr>
          <a:xfrm>
            <a:off x="457200" y="274638"/>
            <a:ext cx="7467600" cy="7159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Conditions of Price Discrimination</a:t>
            </a:r>
            <a:endParaRPr/>
          </a:p>
        </p:txBody>
      </p:sp>
      <p:sp>
        <p:nvSpPr>
          <p:cNvPr id="227" name="Google Shape;227;p13"/>
          <p:cNvSpPr txBox="1"/>
          <p:nvPr>
            <p:ph idx="1" type="body"/>
          </p:nvPr>
        </p:nvSpPr>
        <p:spPr>
          <a:xfrm>
            <a:off x="457200" y="1219200"/>
            <a:ext cx="7467600" cy="5254752"/>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70000"/>
              <a:buChar char="🞆"/>
            </a:pPr>
            <a:r>
              <a:rPr b="1" lang="en-US" sz="2600">
                <a:solidFill>
                  <a:srgbClr val="CC0000"/>
                </a:solidFill>
              </a:rPr>
              <a:t>Price discrimination</a:t>
            </a:r>
            <a:r>
              <a:rPr b="1" lang="en-US" sz="2600"/>
              <a:t> </a:t>
            </a:r>
            <a:r>
              <a:rPr lang="en-US"/>
              <a:t>is the business practice of selling the same good at different prices to different buyers. Price discrimination occurs when the seller charges different prices for the product it sells, and the price differences do not reflect costs.</a:t>
            </a:r>
            <a:endParaRPr/>
          </a:p>
          <a:p>
            <a:pPr indent="-175641" lvl="0" marL="274320" rtl="0" algn="l">
              <a:spcBef>
                <a:spcPts val="600"/>
              </a:spcBef>
              <a:spcAft>
                <a:spcPts val="0"/>
              </a:spcAft>
              <a:buSzPct val="70000"/>
              <a:buNone/>
            </a:pPr>
            <a:r>
              <a:t/>
            </a:r>
            <a:endParaRPr/>
          </a:p>
          <a:p>
            <a:pPr indent="-274320" lvl="0" marL="274320" rtl="0" algn="l">
              <a:lnSpc>
                <a:spcPct val="90000"/>
              </a:lnSpc>
              <a:spcBef>
                <a:spcPts val="600"/>
              </a:spcBef>
              <a:spcAft>
                <a:spcPts val="0"/>
              </a:spcAft>
              <a:buSzPct val="70000"/>
              <a:buChar char="🞆"/>
            </a:pPr>
            <a:r>
              <a:rPr b="1" lang="en-US" sz="2600"/>
              <a:t>Conditions of Price Discrimination:</a:t>
            </a:r>
            <a:endParaRPr/>
          </a:p>
          <a:p>
            <a:pPr indent="-274320" lvl="1" marL="640080" rtl="0" algn="l">
              <a:lnSpc>
                <a:spcPct val="90000"/>
              </a:lnSpc>
              <a:spcBef>
                <a:spcPts val="444"/>
              </a:spcBef>
              <a:spcAft>
                <a:spcPts val="0"/>
              </a:spcAft>
              <a:buSzPct val="80000"/>
              <a:buChar char="⚫"/>
            </a:pPr>
            <a:r>
              <a:rPr lang="en-US" sz="2400"/>
              <a:t>The seller must exercise some control over price; it must be a price searcher.</a:t>
            </a:r>
            <a:endParaRPr/>
          </a:p>
          <a:p>
            <a:pPr indent="-274320" lvl="1" marL="640080" rtl="0" algn="l">
              <a:lnSpc>
                <a:spcPct val="90000"/>
              </a:lnSpc>
              <a:spcBef>
                <a:spcPts val="444"/>
              </a:spcBef>
              <a:spcAft>
                <a:spcPts val="0"/>
              </a:spcAft>
              <a:buSzPct val="80000"/>
              <a:buChar char="⚫"/>
            </a:pPr>
            <a:r>
              <a:rPr lang="en-US" sz="2400"/>
              <a:t>The seller must be able to distinguish among buyers who would be willing to pay different prices.</a:t>
            </a:r>
            <a:endParaRPr/>
          </a:p>
          <a:p>
            <a:pPr indent="-274320" lvl="1" marL="640080" rtl="0" algn="l">
              <a:lnSpc>
                <a:spcPct val="90000"/>
              </a:lnSpc>
              <a:spcBef>
                <a:spcPts val="444"/>
              </a:spcBef>
              <a:spcAft>
                <a:spcPts val="0"/>
              </a:spcAft>
              <a:buSzPct val="80000"/>
              <a:buChar char="⚫"/>
            </a:pPr>
            <a:r>
              <a:rPr lang="en-US" sz="2400"/>
              <a:t>It must be impossible or too costly for one buyer to resell the good at other buyers.  The  possibility of arbitrage,  or “buying low and selling high” must not exist.</a:t>
            </a:r>
            <a:endParaRPr/>
          </a:p>
          <a:p>
            <a:pPr indent="-175641" lvl="0" marL="274320" rtl="0" algn="l">
              <a:spcBef>
                <a:spcPts val="600"/>
              </a:spcBef>
              <a:spcAft>
                <a:spcPts val="0"/>
              </a:spcAft>
              <a:buSzPct val="70000"/>
              <a:buNone/>
            </a:pPr>
            <a:r>
              <a:t/>
            </a:r>
            <a:endParaRPr/>
          </a:p>
          <a:p>
            <a:pPr indent="-175641" lvl="0" marL="274320" rtl="0" algn="l">
              <a:spcBef>
                <a:spcPts val="600"/>
              </a:spcBef>
              <a:spcAft>
                <a:spcPts val="0"/>
              </a:spcAft>
              <a:buSzPct val="700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4"/>
          <p:cNvSpPr txBox="1"/>
          <p:nvPr>
            <p:ph type="title"/>
          </p:nvPr>
        </p:nvSpPr>
        <p:spPr>
          <a:xfrm>
            <a:off x="457200" y="274638"/>
            <a:ext cx="7467600" cy="7159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Price Discrimination </a:t>
            </a:r>
            <a:endParaRPr/>
          </a:p>
        </p:txBody>
      </p:sp>
      <p:sp>
        <p:nvSpPr>
          <p:cNvPr id="234" name="Google Shape;234;p14"/>
          <p:cNvSpPr txBox="1"/>
          <p:nvPr>
            <p:ph idx="1" type="body"/>
          </p:nvPr>
        </p:nvSpPr>
        <p:spPr>
          <a:xfrm>
            <a:off x="457200" y="1143000"/>
            <a:ext cx="7848600" cy="5715000"/>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lnSpc>
                <a:spcPct val="90000"/>
              </a:lnSpc>
              <a:spcBef>
                <a:spcPts val="0"/>
              </a:spcBef>
              <a:spcAft>
                <a:spcPts val="0"/>
              </a:spcAft>
              <a:buSzPct val="70000"/>
              <a:buChar char="🞆"/>
            </a:pPr>
            <a:r>
              <a:rPr b="1" lang="en-US"/>
              <a:t>Perfect Price Discrimination</a:t>
            </a:r>
            <a:r>
              <a:rPr lang="en-US"/>
              <a:t>: sells each unit separately and charges the highest price each consumer would be willing to pay for the product.</a:t>
            </a:r>
            <a:endParaRPr/>
          </a:p>
          <a:p>
            <a:pPr indent="-274320" lvl="0" marL="274320" rtl="0" algn="l">
              <a:lnSpc>
                <a:spcPct val="90000"/>
              </a:lnSpc>
              <a:spcBef>
                <a:spcPts val="600"/>
              </a:spcBef>
              <a:spcAft>
                <a:spcPts val="0"/>
              </a:spcAft>
              <a:buSzPct val="70000"/>
              <a:buFont typeface="Noto Sans Symbols"/>
              <a:buChar char="▪"/>
            </a:pPr>
            <a:r>
              <a:rPr lang="en-US"/>
              <a:t>For the monopolist who practices perfect price discrimination, price equals marginal revenue (because even if you charge a price higher for one person, you need not reduce the price for another person). So, P = MR = MC (allocative efficiency).</a:t>
            </a:r>
            <a:endParaRPr/>
          </a:p>
          <a:p>
            <a:pPr indent="-274320" lvl="0" marL="274320" rtl="0" algn="l">
              <a:lnSpc>
                <a:spcPct val="90000"/>
              </a:lnSpc>
              <a:spcBef>
                <a:spcPts val="600"/>
              </a:spcBef>
              <a:spcAft>
                <a:spcPts val="0"/>
              </a:spcAft>
              <a:buSzPct val="70000"/>
              <a:buFont typeface="Noto Sans Symbols"/>
              <a:buChar char="▪"/>
            </a:pPr>
            <a:r>
              <a:rPr lang="en-US"/>
              <a:t>One of the uses of the cents-off coupon is to make it possible for the seller to charge a higher price to one group of customers than to another group. </a:t>
            </a:r>
            <a:endParaRPr/>
          </a:p>
          <a:p>
            <a:pPr indent="0" lvl="0" marL="0" rtl="0" algn="l">
              <a:lnSpc>
                <a:spcPct val="90000"/>
              </a:lnSpc>
              <a:spcBef>
                <a:spcPts val="600"/>
              </a:spcBef>
              <a:spcAft>
                <a:spcPts val="0"/>
              </a:spcAft>
              <a:buSzPct val="70000"/>
              <a:buNone/>
            </a:pPr>
            <a:r>
              <a:t/>
            </a:r>
            <a:endParaRPr/>
          </a:p>
          <a:p>
            <a:pPr indent="-274320" lvl="0" marL="274320" rtl="0" algn="l">
              <a:lnSpc>
                <a:spcPct val="90000"/>
              </a:lnSpc>
              <a:spcBef>
                <a:spcPts val="600"/>
              </a:spcBef>
              <a:spcAft>
                <a:spcPts val="0"/>
              </a:spcAft>
              <a:buSzPct val="70000"/>
              <a:buChar char="🞆"/>
            </a:pPr>
            <a:r>
              <a:rPr b="1" lang="en-US"/>
              <a:t>Second Degree Discrimination</a:t>
            </a:r>
            <a:r>
              <a:rPr lang="en-US"/>
              <a:t>: it charges a uniform price per unit for one specific quantity, a lower price for an additional quantity, and so on.</a:t>
            </a:r>
            <a:endParaRPr/>
          </a:p>
          <a:p>
            <a:pPr indent="-274320" lvl="0" marL="274320" rtl="0" algn="l">
              <a:lnSpc>
                <a:spcPct val="90000"/>
              </a:lnSpc>
              <a:spcBef>
                <a:spcPts val="600"/>
              </a:spcBef>
              <a:spcAft>
                <a:spcPts val="0"/>
              </a:spcAft>
              <a:buSzPct val="70000"/>
              <a:buChar char="🞆"/>
            </a:pPr>
            <a:r>
              <a:rPr b="1" lang="en-US"/>
              <a:t>Third Degree Discrimination</a:t>
            </a:r>
            <a:r>
              <a:rPr lang="en-US"/>
              <a:t>: it charges a different price in different markets or charges a different price to different segments of the buying population.</a:t>
            </a:r>
            <a:endParaRPr/>
          </a:p>
          <a:p>
            <a:pPr indent="-175641" lvl="0" marL="274320" rtl="0" algn="l">
              <a:spcBef>
                <a:spcPts val="600"/>
              </a:spcBef>
              <a:spcAft>
                <a:spcPts val="0"/>
              </a:spcAft>
              <a:buSzPct val="700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riel">
  <a:themeElements>
    <a:clrScheme name="Oriel">
      <a:dk1>
        <a:srgbClr val="000000"/>
      </a:dk1>
      <a:lt1>
        <a:srgbClr val="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User</dc:creator>
</cp:coreProperties>
</file>
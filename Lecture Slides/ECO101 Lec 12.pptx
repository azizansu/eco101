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sldIdLst>
    <p:sldId id="256" r:id="rId2"/>
    <p:sldId id="273" r:id="rId3"/>
    <p:sldId id="274" r:id="rId4"/>
    <p:sldId id="275" r:id="rId5"/>
    <p:sldId id="276" r:id="rId6"/>
    <p:sldId id="262" r:id="rId7"/>
    <p:sldId id="264" r:id="rId8"/>
    <p:sldId id="265" r:id="rId9"/>
    <p:sldId id="266" r:id="rId10"/>
    <p:sldId id="267" r:id="rId11"/>
    <p:sldId id="268" r:id="rId12"/>
    <p:sldId id="269" r:id="rId13"/>
    <p:sldId id="270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76" d="100"/>
          <a:sy n="76" d="100"/>
        </p:scale>
        <p:origin x="-336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848151-713D-4720-8BE1-43AB71BE0AFB}" type="datetimeFigureOut">
              <a:rPr lang="en-AU" smtClean="0"/>
              <a:pPr/>
              <a:t>10/07/2018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A2A183-1110-4C97-8028-8C2FB91A5FF4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91270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A2A183-1110-4C97-8028-8C2FB91A5FF4}" type="slidenum">
              <a:rPr lang="en-AU" smtClean="0"/>
              <a:pPr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579164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7/10/2018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Rectangle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Straight Connector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Straight Connector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Rectangle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Oval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Oval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Oval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1D8BD707-D9CF-40AE-B4C6-C98DA3205C09}" type="datetimeFigureOut">
              <a:rPr lang="en-US" smtClean="0"/>
              <a:pPr/>
              <a:t>7/10/2018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7/10/2018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Straight Connector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Rectangle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Oval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Oval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Oval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Straight Connector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7/10/2018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7/10/2018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1D8BD707-D9CF-40AE-B4C6-C98DA3205C09}" type="datetimeFigureOut">
              <a:rPr lang="en-US" smtClean="0"/>
              <a:pPr/>
              <a:t>7/10/2018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7/10/2018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1D8BD707-D9CF-40AE-B4C6-C98DA3205C09}" type="datetimeFigureOut">
              <a:rPr lang="en-US" smtClean="0"/>
              <a:pPr/>
              <a:t>7/10/2018</a:t>
            </a:fld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1D8BD707-D9CF-40AE-B4C6-C98DA3205C09}" type="datetimeFigureOut">
              <a:rPr lang="en-US" smtClean="0"/>
              <a:pPr/>
              <a:t>7/10/2018</a:t>
            </a:fld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7/10/2018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629400" cy="1894362"/>
          </a:xfrm>
        </p:spPr>
        <p:txBody>
          <a:bodyPr/>
          <a:lstStyle/>
          <a:p>
            <a:r>
              <a:rPr lang="en-AU" dirty="0" smtClean="0"/>
              <a:t>Production and Costs (Part 2)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 smtClean="0"/>
              <a:t>Chapter 19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988151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Production in the Short Run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AU" dirty="0" smtClean="0"/>
              <a:t>Assume there are two inputs (resources): labour and capital.</a:t>
            </a:r>
          </a:p>
          <a:p>
            <a:r>
              <a:rPr lang="en-AU" dirty="0" smtClean="0"/>
              <a:t>Assume capital is fixed (the amount of capital that can be used is fixed).</a:t>
            </a:r>
          </a:p>
          <a:p>
            <a:endParaRPr lang="en-AU" dirty="0"/>
          </a:p>
          <a:p>
            <a:r>
              <a:rPr lang="en-AU" dirty="0" smtClean="0"/>
              <a:t>Are we in the long run or in the short run?</a:t>
            </a:r>
          </a:p>
          <a:p>
            <a:endParaRPr lang="en-AU" dirty="0"/>
          </a:p>
          <a:p>
            <a:r>
              <a:rPr lang="en-AU" b="1" dirty="0" smtClean="0"/>
              <a:t>Total Physical Product</a:t>
            </a:r>
            <a:r>
              <a:rPr lang="en-AU" dirty="0" smtClean="0"/>
              <a:t>: The total quantity of output that is produced.</a:t>
            </a:r>
          </a:p>
          <a:p>
            <a:r>
              <a:rPr lang="en-AU" b="1" dirty="0" smtClean="0"/>
              <a:t>Marginal Physical Product</a:t>
            </a:r>
            <a:r>
              <a:rPr lang="en-AU" dirty="0" smtClean="0"/>
              <a:t>: The change in output that results from changing the variable input by one unit, holding all other inputs fixed.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066897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563562"/>
          </a:xfrm>
        </p:spPr>
        <p:txBody>
          <a:bodyPr/>
          <a:lstStyle/>
          <a:p>
            <a:r>
              <a:rPr lang="en-AU" dirty="0" smtClean="0"/>
              <a:t>Example: </a:t>
            </a:r>
            <a:endParaRPr lang="en-AU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3593702947"/>
              </p:ext>
            </p:extLst>
          </p:nvPr>
        </p:nvGraphicFramePr>
        <p:xfrm>
          <a:off x="457200" y="990600"/>
          <a:ext cx="7467600" cy="5542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6900"/>
                <a:gridCol w="1866900"/>
                <a:gridCol w="1866900"/>
                <a:gridCol w="1866900"/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Fixed Input, Capital (units)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Variable Input,</a:t>
                      </a:r>
                      <a:r>
                        <a:rPr lang="en-AU" baseline="0" dirty="0" smtClean="0"/>
                        <a:t> </a:t>
                      </a:r>
                      <a:r>
                        <a:rPr lang="en-AU" baseline="0" dirty="0" err="1" smtClean="0"/>
                        <a:t>Labor</a:t>
                      </a:r>
                      <a:r>
                        <a:rPr lang="en-AU" baseline="0" dirty="0" smtClean="0"/>
                        <a:t> (workers)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Quantity</a:t>
                      </a:r>
                      <a:r>
                        <a:rPr lang="en-AU" baseline="0" dirty="0" smtClean="0"/>
                        <a:t> of Output, Q (units)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Marginal</a:t>
                      </a:r>
                      <a:r>
                        <a:rPr lang="en-AU" baseline="0" dirty="0" smtClean="0"/>
                        <a:t> Physical Product of Variable Input </a:t>
                      </a:r>
                      <a:endParaRPr lang="en-A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1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0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0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0</a:t>
                      </a:r>
                      <a:endParaRPr lang="en-A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1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1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18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18</a:t>
                      </a:r>
                      <a:endParaRPr lang="en-A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1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2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37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19</a:t>
                      </a:r>
                      <a:endParaRPr lang="en-A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1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3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57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20</a:t>
                      </a:r>
                      <a:endParaRPr lang="en-A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1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4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76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19</a:t>
                      </a:r>
                      <a:endParaRPr lang="en-A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1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5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94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18</a:t>
                      </a:r>
                      <a:endParaRPr lang="en-A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1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6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111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17</a:t>
                      </a:r>
                      <a:endParaRPr lang="en-A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1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7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127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16</a:t>
                      </a:r>
                      <a:endParaRPr lang="en-A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1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8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137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10</a:t>
                      </a:r>
                      <a:endParaRPr lang="en-A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1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9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133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-4</a:t>
                      </a:r>
                      <a:endParaRPr lang="en-A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1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10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125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-8</a:t>
                      </a:r>
                      <a:endParaRPr lang="en-AU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67595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715962"/>
          </a:xfrm>
        </p:spPr>
        <p:txBody>
          <a:bodyPr/>
          <a:lstStyle/>
          <a:p>
            <a:r>
              <a:rPr lang="en-AU" dirty="0"/>
              <a:t>Production in the Short </a:t>
            </a:r>
            <a:r>
              <a:rPr lang="en-AU" dirty="0" smtClean="0"/>
              <a:t>Run (CONT)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066800"/>
            <a:ext cx="7772400" cy="5715000"/>
          </a:xfrm>
        </p:spPr>
        <p:txBody>
          <a:bodyPr>
            <a:normAutofit fontScale="92500" lnSpcReduction="10000"/>
          </a:bodyPr>
          <a:lstStyle/>
          <a:p>
            <a:r>
              <a:rPr lang="en-AU" b="1" dirty="0" smtClean="0"/>
              <a:t>Law of Diminishing Marginal Returns</a:t>
            </a:r>
            <a:r>
              <a:rPr lang="en-AU" dirty="0" smtClean="0"/>
              <a:t>: As even larger amounts of a variable input are combined with fixed inputs, eventually the marginal physical product of the variable input will decline.</a:t>
            </a:r>
          </a:p>
          <a:p>
            <a:endParaRPr lang="en-AU" dirty="0"/>
          </a:p>
          <a:p>
            <a:r>
              <a:rPr lang="en-US" altLang="en-US" dirty="0"/>
              <a:t>The law of diminishing marginal returns says that as more units of the variable input are added, each one has fewer units of the fixed input to work with; consequently, output rises at a decreasing rate</a:t>
            </a:r>
            <a:r>
              <a:rPr lang="en-US" altLang="en-US" dirty="0" smtClean="0"/>
              <a:t>.</a:t>
            </a:r>
          </a:p>
          <a:p>
            <a:endParaRPr lang="en-US" altLang="en-US" dirty="0"/>
          </a:p>
          <a:p>
            <a:r>
              <a:rPr lang="en-US" altLang="en-US" dirty="0"/>
              <a:t>If the law of diminishing marginal returns did not hold, then it would be possible to continue to add additional units of a variable input to a fixed input, and the marginal physical product of the variable input would never decline.  We could increase output indefinitely as long as we continued to add units of a variable input to a fixed input.</a:t>
            </a:r>
          </a:p>
          <a:p>
            <a:endParaRPr lang="en-AU" dirty="0" smtClean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2059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Production in the Short Run (CONT)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AU" dirty="0"/>
              <a:t>The point at which the MPP of labour first declines is the point at which diminishing marginal returns are said to have set in.</a:t>
            </a:r>
          </a:p>
          <a:p>
            <a:endParaRPr lang="en-AU" dirty="0"/>
          </a:p>
          <a:p>
            <a:pPr lvl="0"/>
            <a:r>
              <a:rPr lang="en-AU" dirty="0"/>
              <a:t>Would you hire the 4</a:t>
            </a:r>
            <a:r>
              <a:rPr lang="en-AU" baseline="30000" dirty="0"/>
              <a:t>th</a:t>
            </a:r>
            <a:r>
              <a:rPr lang="en-AU" dirty="0"/>
              <a:t> worker even when you know MPP will fall to 19?</a:t>
            </a:r>
          </a:p>
          <a:p>
            <a:r>
              <a:rPr lang="en-AU" dirty="0"/>
              <a:t>What will you can sell the additional 19 units for $100 but the cost of the firm to hire the 4</a:t>
            </a:r>
            <a:r>
              <a:rPr lang="en-AU" baseline="30000" dirty="0"/>
              <a:t>th</a:t>
            </a:r>
            <a:r>
              <a:rPr lang="en-AU" dirty="0"/>
              <a:t> worker is $70?</a:t>
            </a:r>
          </a:p>
        </p:txBody>
      </p:sp>
    </p:spTree>
    <p:extLst>
      <p:ext uri="{BB962C8B-B14F-4D97-AF65-F5344CB8AC3E}">
        <p14:creationId xmlns:p14="http://schemas.microsoft.com/office/powerpoint/2010/main" val="10033013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020762"/>
          </a:xfrm>
        </p:spPr>
        <p:txBody>
          <a:bodyPr/>
          <a:lstStyle/>
          <a:p>
            <a:r>
              <a:rPr lang="en-AU" dirty="0" smtClean="0"/>
              <a:t>Marginal Physical Product and Marginal Cost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533400" y="1447800"/>
            <a:ext cx="7467600" cy="51816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AU" b="1" dirty="0" smtClean="0"/>
              <a:t>SOME ECONOMIC COSTS CONCEPTS</a:t>
            </a:r>
            <a:r>
              <a:rPr lang="en-AU" dirty="0" smtClean="0"/>
              <a:t>:</a:t>
            </a:r>
          </a:p>
          <a:p>
            <a:endParaRPr lang="en-AU" dirty="0" smtClean="0"/>
          </a:p>
          <a:p>
            <a:r>
              <a:rPr lang="en-AU" dirty="0" smtClean="0"/>
              <a:t>Fixed Costs: Costs that do not vary with output; the costs associated with fixed inputs. E.g. Rent. Because the quantity of a fixed input does not change as output changes, neither do fixed costs.</a:t>
            </a:r>
          </a:p>
          <a:p>
            <a:endParaRPr lang="en-AU" dirty="0"/>
          </a:p>
          <a:p>
            <a:r>
              <a:rPr lang="en-AU" dirty="0" smtClean="0"/>
              <a:t>Variable Costs: Costs that vary with output, the costs associated with variable inputs. Because the quantity of a variable input changes with output, so do variable costs. </a:t>
            </a:r>
          </a:p>
          <a:p>
            <a:endParaRPr lang="en-AU" dirty="0"/>
          </a:p>
          <a:p>
            <a:r>
              <a:rPr lang="en-AU" dirty="0" smtClean="0"/>
              <a:t>Total costs: Sum of fixed and variable costs</a:t>
            </a:r>
          </a:p>
          <a:p>
            <a:r>
              <a:rPr lang="en-AU" dirty="0" smtClean="0"/>
              <a:t>Marginal costs: The change in total costs that results from a change in output. MC = ∆TC/∆Q</a:t>
            </a:r>
          </a:p>
          <a:p>
            <a:endParaRPr lang="en-AU" dirty="0"/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126811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868362"/>
          </a:xfrm>
        </p:spPr>
        <p:txBody>
          <a:bodyPr/>
          <a:lstStyle/>
          <a:p>
            <a:r>
              <a:rPr lang="en-AU" dirty="0" smtClean="0"/>
              <a:t>The Link Between MPP and MC</a:t>
            </a:r>
            <a:endParaRPr lang="en-AU" dirty="0"/>
          </a:p>
        </p:txBody>
      </p:sp>
      <p:grpSp>
        <p:nvGrpSpPr>
          <p:cNvPr id="4" name="Group 8"/>
          <p:cNvGrpSpPr>
            <a:grpSpLocks/>
          </p:cNvGrpSpPr>
          <p:nvPr/>
        </p:nvGrpSpPr>
        <p:grpSpPr bwMode="auto">
          <a:xfrm>
            <a:off x="396145" y="1219200"/>
            <a:ext cx="8272462" cy="5446712"/>
            <a:chOff x="496" y="624"/>
            <a:chExt cx="4896" cy="3224"/>
          </a:xfrm>
        </p:grpSpPr>
        <p:sp>
          <p:nvSpPr>
            <p:cNvPr id="5" name="Rectangle 7"/>
            <p:cNvSpPr>
              <a:spLocks noChangeArrowheads="1"/>
            </p:cNvSpPr>
            <p:nvPr/>
          </p:nvSpPr>
          <p:spPr bwMode="auto">
            <a:xfrm>
              <a:off x="496" y="624"/>
              <a:ext cx="4896" cy="322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pic>
          <p:nvPicPr>
            <p:cNvPr id="6" name="Picture 5" descr="D:\ESWORK\SWPUB\Arnold PPT\Art\Art Ch21\arn17456_2105.jp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5" y="2408"/>
              <a:ext cx="4428" cy="139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6" descr="D:\ESWORK\SWPUB\Arnold PPT\Art\Art Ch21\Ch21Ex5Tbl.jp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3" y="658"/>
              <a:ext cx="4815" cy="16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8563415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944562"/>
          </a:xfrm>
        </p:spPr>
        <p:txBody>
          <a:bodyPr/>
          <a:lstStyle/>
          <a:p>
            <a:r>
              <a:rPr lang="en-AU" dirty="0"/>
              <a:t>The Link Between MPP and MC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371600"/>
            <a:ext cx="7467600" cy="5102352"/>
          </a:xfrm>
        </p:spPr>
        <p:txBody>
          <a:bodyPr>
            <a:normAutofit lnSpcReduction="10000"/>
          </a:bodyPr>
          <a:lstStyle/>
          <a:p>
            <a:r>
              <a:rPr lang="en-US" altLang="en-US" dirty="0"/>
              <a:t>Marginal cost is a reflection of the marginal physical product of the variable input.</a:t>
            </a:r>
          </a:p>
          <a:p>
            <a:r>
              <a:rPr lang="en-US" altLang="en-US" dirty="0"/>
              <a:t>As the marginal physical product curve rises, the marginal cost curve falls; and as the marginal physical product curve falls, the marginal cost curve rises.</a:t>
            </a:r>
          </a:p>
          <a:p>
            <a:r>
              <a:rPr lang="en-US" altLang="en-US" dirty="0"/>
              <a:t>What the marginal cost curve looks like depends on what the marginal physical product curve looks like</a:t>
            </a:r>
            <a:r>
              <a:rPr lang="en-US" altLang="en-US" dirty="0" smtClean="0"/>
              <a:t>.</a:t>
            </a:r>
          </a:p>
          <a:p>
            <a:pPr marL="0" indent="0">
              <a:buNone/>
            </a:pPr>
            <a:endParaRPr lang="en-US" altLang="en-US" dirty="0"/>
          </a:p>
          <a:p>
            <a:r>
              <a:rPr lang="en-AU" dirty="0" smtClean="0"/>
              <a:t>As MPP rises </a:t>
            </a:r>
            <a:r>
              <a:rPr lang="en-AU" dirty="0" smtClean="0">
                <a:sym typeface="Wingdings" panose="05000000000000000000" pitchFamily="2" charset="2"/>
              </a:rPr>
              <a:t> productivity of the variable input increases (more output being produced using same input)  costs decline  MC falls</a:t>
            </a:r>
          </a:p>
          <a:p>
            <a:r>
              <a:rPr lang="en-AU" dirty="0" smtClean="0">
                <a:sym typeface="Wingdings" panose="05000000000000000000" pitchFamily="2" charset="2"/>
              </a:rPr>
              <a:t>Vice versa!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800139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020762"/>
          </a:xfrm>
        </p:spPr>
        <p:txBody>
          <a:bodyPr/>
          <a:lstStyle/>
          <a:p>
            <a:r>
              <a:rPr lang="en-AU" dirty="0" smtClean="0"/>
              <a:t>Another Way to Look at the relationship between MPP and MC.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95400"/>
            <a:ext cx="7620000" cy="5334000"/>
          </a:xfrm>
        </p:spPr>
        <p:txBody>
          <a:bodyPr>
            <a:normAutofit fontScale="92500" lnSpcReduction="10000"/>
          </a:bodyPr>
          <a:lstStyle/>
          <a:p>
            <a:r>
              <a:rPr lang="en-AU" dirty="0" smtClean="0"/>
              <a:t>MC = ∆TC/∆Q</a:t>
            </a:r>
          </a:p>
          <a:p>
            <a:r>
              <a:rPr lang="en-AU" dirty="0" smtClean="0"/>
              <a:t>MPP =  Change in output that results from changing the variable input by one unit, holding all else constant.</a:t>
            </a:r>
          </a:p>
          <a:p>
            <a:endParaRPr lang="en-AU" dirty="0"/>
          </a:p>
          <a:p>
            <a:r>
              <a:rPr lang="en-AU" dirty="0" smtClean="0"/>
              <a:t>Labour is the only variable output, with Wage being set per worker and labour being increased by one worker every time.</a:t>
            </a:r>
          </a:p>
          <a:p>
            <a:endParaRPr lang="en-AU" dirty="0"/>
          </a:p>
          <a:p>
            <a:r>
              <a:rPr lang="en-AU" dirty="0"/>
              <a:t>∆</a:t>
            </a:r>
            <a:r>
              <a:rPr lang="en-AU" dirty="0" smtClean="0"/>
              <a:t>TC = </a:t>
            </a:r>
            <a:r>
              <a:rPr lang="en-AU" dirty="0"/>
              <a:t>∆</a:t>
            </a:r>
            <a:r>
              <a:rPr lang="en-AU" dirty="0" smtClean="0"/>
              <a:t>TVC = W (Wage is the only variable cost)</a:t>
            </a:r>
          </a:p>
          <a:p>
            <a:r>
              <a:rPr lang="en-AU" dirty="0"/>
              <a:t>∆</a:t>
            </a:r>
            <a:r>
              <a:rPr lang="en-AU" dirty="0" smtClean="0"/>
              <a:t>Q = change in output that results from changing one unit of variable input, that is increasing worker by one </a:t>
            </a:r>
            <a:r>
              <a:rPr lang="en-AU" dirty="0" smtClean="0">
                <a:sym typeface="Wingdings" panose="05000000000000000000" pitchFamily="2" charset="2"/>
              </a:rPr>
              <a:t> </a:t>
            </a:r>
            <a:r>
              <a:rPr lang="en-AU" dirty="0"/>
              <a:t>∆Q </a:t>
            </a:r>
            <a:r>
              <a:rPr lang="en-AU" dirty="0" smtClean="0"/>
              <a:t> = MPP</a:t>
            </a:r>
          </a:p>
          <a:p>
            <a:endParaRPr lang="en-AU" dirty="0"/>
          </a:p>
          <a:p>
            <a:r>
              <a:rPr lang="en-AU" dirty="0" smtClean="0"/>
              <a:t>MC = W/MPP</a:t>
            </a:r>
          </a:p>
        </p:txBody>
      </p:sp>
    </p:spTree>
    <p:extLst>
      <p:ext uri="{BB962C8B-B14F-4D97-AF65-F5344CB8AC3E}">
        <p14:creationId xmlns:p14="http://schemas.microsoft.com/office/powerpoint/2010/main" val="2559815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Average Productivity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en-US" dirty="0"/>
              <a:t>Average physical product is output divided by the quantity of labor</a:t>
            </a:r>
            <a:r>
              <a:rPr lang="en-US" altLang="en-US" dirty="0" smtClean="0"/>
              <a:t>.</a:t>
            </a:r>
          </a:p>
          <a:p>
            <a:endParaRPr lang="en-US" altLang="en-US" dirty="0" smtClean="0"/>
          </a:p>
          <a:p>
            <a:r>
              <a:rPr lang="en-US" altLang="en-US" dirty="0" smtClean="0"/>
              <a:t>When </a:t>
            </a:r>
            <a:r>
              <a:rPr lang="en-US" altLang="en-US" dirty="0"/>
              <a:t>the term labor productivity is used in the newspaper and in government documents, it refers to the average physical productivity of labor on an hourly basis.</a:t>
            </a:r>
          </a:p>
          <a:p>
            <a:endParaRPr lang="en-AU" dirty="0" smtClean="0"/>
          </a:p>
          <a:p>
            <a:r>
              <a:rPr lang="en-AU" dirty="0" smtClean="0"/>
              <a:t>Government statisticians chose a base year, set it equal to 100 and calculate productivity indices to compare labour productivity across years and across countries.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263255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944562"/>
          </a:xfrm>
        </p:spPr>
        <p:txBody>
          <a:bodyPr>
            <a:normAutofit fontScale="90000"/>
          </a:bodyPr>
          <a:lstStyle/>
          <a:p>
            <a:r>
              <a:rPr lang="en-AU" dirty="0" smtClean="0"/>
              <a:t>Costs of Production: Total, Average, Marginal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95400"/>
            <a:ext cx="7467600" cy="5178552"/>
          </a:xfrm>
        </p:spPr>
        <p:txBody>
          <a:bodyPr>
            <a:normAutofit lnSpcReduction="10000"/>
          </a:bodyPr>
          <a:lstStyle/>
          <a:p>
            <a:r>
              <a:rPr lang="en-US" altLang="en-US" dirty="0"/>
              <a:t>The Average Fixed Cost (AFC) = Total fixed cost divided by quantity of </a:t>
            </a:r>
            <a:r>
              <a:rPr lang="en-US" altLang="en-US" dirty="0" smtClean="0"/>
              <a:t>output. AFC = TFC/Q</a:t>
            </a:r>
          </a:p>
          <a:p>
            <a:pPr marL="0" indent="0">
              <a:buNone/>
            </a:pPr>
            <a:endParaRPr lang="en-US" altLang="en-US" dirty="0"/>
          </a:p>
          <a:p>
            <a:r>
              <a:rPr lang="en-US" altLang="en-US" dirty="0"/>
              <a:t>The Average Variable Cost (AVC) = Total variable cost divided by quantity of output</a:t>
            </a:r>
            <a:r>
              <a:rPr lang="en-US" altLang="en-US" dirty="0" smtClean="0"/>
              <a:t>.    AVC = TVC/Q</a:t>
            </a:r>
          </a:p>
          <a:p>
            <a:pPr marL="0" indent="0">
              <a:buNone/>
            </a:pPr>
            <a:endParaRPr lang="en-US" altLang="en-US" dirty="0"/>
          </a:p>
          <a:p>
            <a:r>
              <a:rPr lang="en-US" altLang="en-US" dirty="0"/>
              <a:t>The Average Total Cost (ATC) or Unit Cost= Total Cost divided by quantity of output</a:t>
            </a:r>
            <a:r>
              <a:rPr lang="en-US" altLang="en-US" dirty="0" smtClean="0"/>
              <a:t>. ATC = TC/Q or ATC = AFC + AVC</a:t>
            </a:r>
          </a:p>
          <a:p>
            <a:pPr marL="0" indent="0">
              <a:buNone/>
            </a:pPr>
            <a:endParaRPr lang="en-US" altLang="en-US" dirty="0"/>
          </a:p>
          <a:p>
            <a:r>
              <a:rPr lang="en-US" altLang="en-US" dirty="0"/>
              <a:t>The Marginal Cost is the change in total cost or total variable cost that results from a change in </a:t>
            </a:r>
            <a:r>
              <a:rPr lang="en-US" altLang="en-US" dirty="0" smtClean="0"/>
              <a:t>output. </a:t>
            </a:r>
            <a:r>
              <a:rPr lang="en-AU" dirty="0"/>
              <a:t>∆TC/∆</a:t>
            </a:r>
            <a:r>
              <a:rPr lang="en-AU" dirty="0" smtClean="0"/>
              <a:t>Q</a:t>
            </a:r>
            <a:endParaRPr lang="en-US" altLang="en-US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1993667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>
            <a:grpSpLocks/>
          </p:cNvGrpSpPr>
          <p:nvPr/>
        </p:nvGrpSpPr>
        <p:grpSpPr bwMode="auto">
          <a:xfrm>
            <a:off x="24031" y="1270827"/>
            <a:ext cx="9144000" cy="5318125"/>
            <a:chOff x="221" y="387"/>
            <a:chExt cx="5327" cy="3302"/>
          </a:xfrm>
        </p:grpSpPr>
        <p:sp>
          <p:nvSpPr>
            <p:cNvPr id="5" name="Rectangle 4"/>
            <p:cNvSpPr>
              <a:spLocks noChangeArrowheads="1"/>
            </p:cNvSpPr>
            <p:nvPr/>
          </p:nvSpPr>
          <p:spPr bwMode="auto">
            <a:xfrm>
              <a:off x="221" y="387"/>
              <a:ext cx="5327" cy="330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9pPr>
            </a:lstStyle>
            <a:p>
              <a:endParaRPr lang="en-AU"/>
            </a:p>
          </p:txBody>
        </p:sp>
        <p:pic>
          <p:nvPicPr>
            <p:cNvPr id="6" name="Picture 5" descr="D:\ESWORK\SWPUB\Arnold PPT\Art\Art Ch21\arn17456_2103a.jp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1" y="2349"/>
              <a:ext cx="5235" cy="129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6" descr="D:\ESWORK\SWPUB\Arnold PPT\Art\Art Ch21\Ch21Ex3TblA.jp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7" y="415"/>
              <a:ext cx="5216" cy="185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2799523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>
            <a:grpSpLocks/>
          </p:cNvGrpSpPr>
          <p:nvPr/>
        </p:nvGrpSpPr>
        <p:grpSpPr bwMode="auto">
          <a:xfrm>
            <a:off x="1143000" y="646906"/>
            <a:ext cx="6591300" cy="5564187"/>
            <a:chOff x="792" y="415"/>
            <a:chExt cx="4152" cy="3505"/>
          </a:xfrm>
        </p:grpSpPr>
        <p:sp>
          <p:nvSpPr>
            <p:cNvPr id="3" name="Rectangle 2"/>
            <p:cNvSpPr>
              <a:spLocks noChangeArrowheads="1"/>
            </p:cNvSpPr>
            <p:nvPr/>
          </p:nvSpPr>
          <p:spPr bwMode="auto">
            <a:xfrm>
              <a:off x="792" y="415"/>
              <a:ext cx="4152" cy="350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9pPr>
            </a:lstStyle>
            <a:p>
              <a:endParaRPr lang="en-AU"/>
            </a:p>
          </p:txBody>
        </p:sp>
        <p:pic>
          <p:nvPicPr>
            <p:cNvPr id="4" name="Picture 3" descr="D:\ESWORK\SWPUB\Arnold PPT\Art\Art Ch21\arn17456_2103b.jp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2" y="2515"/>
              <a:ext cx="4045" cy="13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Picture 4" descr="D:\ESWORK\SWPUB\Arnold PPT\Art\Art Ch21\Ch21Ex3TblB.jp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6" y="438"/>
              <a:ext cx="4066" cy="20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8258393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116</TotalTime>
  <Words>889</Words>
  <Application>Microsoft Office PowerPoint</Application>
  <PresentationFormat>On-screen Show (4:3)</PresentationFormat>
  <Paragraphs>112</Paragraphs>
  <Slides>13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Oriel</vt:lpstr>
      <vt:lpstr>Production and Costs (Part 2)</vt:lpstr>
      <vt:lpstr>Production in the Short Run</vt:lpstr>
      <vt:lpstr>Example: </vt:lpstr>
      <vt:lpstr>Production in the Short Run (CONT)</vt:lpstr>
      <vt:lpstr>Production in the Short Run (CONT)</vt:lpstr>
      <vt:lpstr>Marginal Physical Product and Marginal Cost</vt:lpstr>
      <vt:lpstr>The Link Between MPP and MC</vt:lpstr>
      <vt:lpstr>The Link Between MPP and MC</vt:lpstr>
      <vt:lpstr>Another Way to Look at the relationship between MPP and MC.</vt:lpstr>
      <vt:lpstr>Average Productivity</vt:lpstr>
      <vt:lpstr>Costs of Production: Total, Average, Marginal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Production and Costs (Part 2)</dc:title>
  <dc:creator>User</dc:creator>
  <cp:lastModifiedBy>Ahmed</cp:lastModifiedBy>
  <cp:revision>19</cp:revision>
  <dcterms:created xsi:type="dcterms:W3CDTF">2006-08-16T00:00:00Z</dcterms:created>
  <dcterms:modified xsi:type="dcterms:W3CDTF">2018-07-10T04:48:40Z</dcterms:modified>
</cp:coreProperties>
</file>
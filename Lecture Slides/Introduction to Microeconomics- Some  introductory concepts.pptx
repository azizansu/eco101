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9144000"/>
  <p:notesSz cx="6858000" cy="9144000"/>
  <p:embeddedFontLst>
    <p:embeddedFont>
      <p:font typeface="Constantia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jGvUzY3nMeiApAtpYHUm7FTG8f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nstantia-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Constantia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Constantia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onstantia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" type="body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2" type="body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3" type="body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4" type="body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b="1" sz="5600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" type="body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2" type="body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2" type="body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/>
          <p:nvPr/>
        </p:nvSpPr>
        <p:spPr>
          <a:xfrm flipH="1" rot="-10380000">
            <a:off x="3165753" y="1108077"/>
            <a:ext cx="5257800" cy="41148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9" name="Google Shape;89;p23"/>
          <p:cNvSpPr/>
          <p:nvPr/>
        </p:nvSpPr>
        <p:spPr>
          <a:xfrm flipH="1" rot="-10380000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0" name="Google Shape;90;p23"/>
          <p:cNvSpPr txBox="1"/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indent="-293369" lvl="1" marL="914400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73050" lvl="2" marL="137160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indent="-265747" lvl="3" marL="18288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indent="-265747" lvl="4" marL="22860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23"/>
          <p:cNvSpPr/>
          <p:nvPr>
            <p:ph idx="2" type="pic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accent3"/>
              </a:buClr>
              <a:buSzPts val="304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6" name="Google Shape;96;p23"/>
          <p:cNvSpPr/>
          <p:nvPr/>
        </p:nvSpPr>
        <p:spPr>
          <a:xfrm flipH="1" rot="10800000">
            <a:off x="-9525" y="5816600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7" name="Google Shape;97;p23"/>
          <p:cNvSpPr/>
          <p:nvPr/>
        </p:nvSpPr>
        <p:spPr>
          <a:xfrm flipH="1" rot="10800000">
            <a:off x="4381500" y="6219825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" type="body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/>
          <p:nvPr>
            <p:ph type="title"/>
          </p:nvPr>
        </p:nvSpPr>
        <p:spPr>
          <a:xfrm rot="5400000">
            <a:off x="5052218" y="2491583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" type="body"/>
          </p:nvPr>
        </p:nvSpPr>
        <p:spPr>
          <a:xfrm rot="5400000">
            <a:off x="861219" y="510383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" name="Google Shape;12;p1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" name="Google Shape;17;p13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8" name="Google Shape;18;p13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9" name="Google Shape;19;p13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8" name="Google Shape;28;p12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9" name="Google Shape;29;p1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1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1" name="Google Shape;3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2" name="Google Shape;32;p1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4" name="Google Shape;34;p12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35" name="Google Shape;35;p12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6" name="Google Shape;36;p12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040"/>
              <a:buFont typeface="Calibri"/>
              <a:buNone/>
            </a:pPr>
            <a:r>
              <a:rPr lang="en-US" sz="5040"/>
              <a:t>Introduction to Microeconomics- Some  introductory concepts </a:t>
            </a:r>
            <a:endParaRPr sz="5040"/>
          </a:p>
        </p:txBody>
      </p:sp>
      <p:sp>
        <p:nvSpPr>
          <p:cNvPr id="115" name="Google Shape;115;p1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Faculty -CNQ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Economics , Macroeconomics and Microeconomics </a:t>
            </a:r>
            <a:endParaRPr sz="4500"/>
          </a:p>
        </p:txBody>
      </p:sp>
      <p:sp>
        <p:nvSpPr>
          <p:cNvPr id="122" name="Google Shape;122;p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Economics is a social science that studies the choice  that people make as they scope with scarcity 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Macroeconomics  is the branch of economics that  deals with the entire economy as a whole for e.g.- High unemployment of a country is a macroeconomic topic.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Microeconomics  is the branch of economics that studies the functioning of individual markets , individual industries , individual firms and individual households . For e.g. Talking about Mr. Rahim’s firm employment structure.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Why we study Economics ?</a:t>
            </a:r>
            <a:endParaRPr/>
          </a:p>
        </p:txBody>
      </p:sp>
      <p:sp>
        <p:nvSpPr>
          <p:cNvPr id="128" name="Google Shape;128;p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To learn a way of thinking , the study of economics helps us to make decisions.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To understand how the economy functions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To understand global affairs ( the global economy).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To be an informed voter 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Economics as a Social science </a:t>
            </a:r>
            <a:endParaRPr/>
          </a:p>
        </p:txBody>
      </p:sp>
      <p:sp>
        <p:nvSpPr>
          <p:cNvPr id="134" name="Google Shape;134;p4"/>
          <p:cNvSpPr txBox="1"/>
          <p:nvPr>
            <p:ph idx="1" type="body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lang="en-US"/>
              <a:t>Positive Economics </a:t>
            </a:r>
            <a:endParaRPr/>
          </a:p>
        </p:txBody>
      </p:sp>
      <p:sp>
        <p:nvSpPr>
          <p:cNvPr id="135" name="Google Shape;135;p4"/>
          <p:cNvSpPr txBox="1"/>
          <p:nvPr>
            <p:ph idx="2" type="body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lang="en-US"/>
              <a:t>Normative Economics </a:t>
            </a:r>
            <a:endParaRPr/>
          </a:p>
        </p:txBody>
      </p:sp>
      <p:sp>
        <p:nvSpPr>
          <p:cNvPr id="136" name="Google Shape;136;p4"/>
          <p:cNvSpPr txBox="1"/>
          <p:nvPr>
            <p:ph idx="3" type="body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090"/>
              <a:buChar char="⚫"/>
            </a:pPr>
            <a:r>
              <a:rPr lang="en-US"/>
              <a:t>Without making judgments about whether the outcomes are good or bad </a:t>
            </a:r>
            <a:endParaRPr/>
          </a:p>
          <a:p>
            <a:pPr indent="-274320" lvl="0" marL="274320" rtl="0" algn="l">
              <a:spcBef>
                <a:spcPts val="440"/>
              </a:spcBef>
              <a:spcAft>
                <a:spcPts val="0"/>
              </a:spcAft>
              <a:buSzPts val="2090"/>
              <a:buChar char="⚫"/>
            </a:pPr>
            <a:r>
              <a:rPr lang="en-US"/>
              <a:t>A positive statement  is about what  is .</a:t>
            </a:r>
            <a:endParaRPr/>
          </a:p>
          <a:p>
            <a:pPr indent="-274320" lvl="0" marL="274320" rtl="0" algn="l">
              <a:spcBef>
                <a:spcPts val="440"/>
              </a:spcBef>
              <a:spcAft>
                <a:spcPts val="0"/>
              </a:spcAft>
              <a:buSzPts val="2090"/>
              <a:buChar char="⚫"/>
            </a:pPr>
            <a:r>
              <a:rPr lang="en-US"/>
              <a:t>Positive statements can be checked by looking at the facts .</a:t>
            </a:r>
            <a:endParaRPr/>
          </a:p>
          <a:p>
            <a:pPr indent="-274320" lvl="0" marL="274320" rtl="0" algn="l">
              <a:spcBef>
                <a:spcPts val="440"/>
              </a:spcBef>
              <a:spcAft>
                <a:spcPts val="0"/>
              </a:spcAft>
              <a:buSzPts val="2090"/>
              <a:buChar char="⚫"/>
            </a:pPr>
            <a:r>
              <a:rPr lang="en-US"/>
              <a:t>E.g. Bangladesh is a developing country.</a:t>
            </a:r>
            <a:endParaRPr/>
          </a:p>
        </p:txBody>
      </p:sp>
      <p:sp>
        <p:nvSpPr>
          <p:cNvPr id="137" name="Google Shape;137;p4"/>
          <p:cNvSpPr txBox="1"/>
          <p:nvPr>
            <p:ph idx="4" type="body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33"/>
              <a:buChar char="⚫"/>
            </a:pPr>
            <a:r>
              <a:rPr lang="en-US" sz="2035"/>
              <a:t>It looks at the outcomes of economic behavior  and asks if they are good or bad and whether they can be made better 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407"/>
              </a:spcBef>
              <a:spcAft>
                <a:spcPts val="0"/>
              </a:spcAft>
              <a:buSzPts val="1933"/>
              <a:buChar char="⚫"/>
            </a:pPr>
            <a:r>
              <a:rPr lang="en-US" sz="2035"/>
              <a:t>How things ought to be.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407"/>
              </a:spcBef>
              <a:spcAft>
                <a:spcPts val="0"/>
              </a:spcAft>
              <a:buSzPts val="1933"/>
              <a:buChar char="⚫"/>
            </a:pPr>
            <a:r>
              <a:rPr lang="en-US" sz="2035"/>
              <a:t>Normative statements involve value judgments and cannot be tested.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407"/>
              </a:spcBef>
              <a:spcAft>
                <a:spcPts val="0"/>
              </a:spcAft>
              <a:buSzPts val="1933"/>
              <a:buChar char="⚫"/>
            </a:pPr>
            <a:r>
              <a:rPr lang="en-US" sz="2035"/>
              <a:t>E.g. Government of Bangladesh should invest more in agricultural sector .</a:t>
            </a:r>
            <a:endParaRPr/>
          </a:p>
          <a:p>
            <a:pPr indent="-151558" lvl="0" marL="274320" rtl="0" algn="l">
              <a:lnSpc>
                <a:spcPct val="90000"/>
              </a:lnSpc>
              <a:spcBef>
                <a:spcPts val="407"/>
              </a:spcBef>
              <a:spcAft>
                <a:spcPts val="0"/>
              </a:spcAft>
              <a:buSzPts val="1933"/>
              <a:buNone/>
            </a:pPr>
            <a:r>
              <a:t/>
            </a:r>
            <a:endParaRPr sz="2035"/>
          </a:p>
          <a:p>
            <a:pPr indent="-151558" lvl="0" marL="274320" rtl="0" algn="l">
              <a:lnSpc>
                <a:spcPct val="90000"/>
              </a:lnSpc>
              <a:spcBef>
                <a:spcPts val="407"/>
              </a:spcBef>
              <a:spcAft>
                <a:spcPts val="0"/>
              </a:spcAft>
              <a:buSzPts val="1933"/>
              <a:buNone/>
            </a:pPr>
            <a:r>
              <a:t/>
            </a:r>
            <a:endParaRPr sz="203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Some commonly used terms in economics </a:t>
            </a:r>
            <a:endParaRPr sz="4500"/>
          </a:p>
        </p:txBody>
      </p:sp>
      <p:sp>
        <p:nvSpPr>
          <p:cNvPr id="143" name="Google Shape;143;p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Good –Anything from which individuals receive utility or satisfaction. 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Bad –Anything from which individuals receive disutility or dissatisfaction. Good and Bad both can be tangible or intangible.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Utility- The satisfaction one receives from the good.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Disutility-The dissatisfaction one receives from a bad. 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Resources/Factors of production</a:t>
            </a:r>
            <a:endParaRPr sz="4500"/>
          </a:p>
        </p:txBody>
      </p:sp>
      <p:sp>
        <p:nvSpPr>
          <p:cNvPr id="149" name="Google Shape;149;p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It takes Resources to produce goods , resources are divided into four broad categories </a:t>
            </a:r>
            <a:endParaRPr/>
          </a:p>
          <a:p>
            <a:pPr indent="-514350" lvl="0" marL="514350" rtl="0" algn="l">
              <a:spcBef>
                <a:spcPts val="520"/>
              </a:spcBef>
              <a:spcAft>
                <a:spcPts val="0"/>
              </a:spcAft>
              <a:buSzPts val="2470"/>
              <a:buAutoNum type="arabicPeriod"/>
            </a:pPr>
            <a:r>
              <a:rPr lang="en-US"/>
              <a:t>Land</a:t>
            </a:r>
            <a:endParaRPr/>
          </a:p>
          <a:p>
            <a:pPr indent="-514350" lvl="0" marL="514350" rtl="0" algn="l">
              <a:spcBef>
                <a:spcPts val="520"/>
              </a:spcBef>
              <a:spcAft>
                <a:spcPts val="0"/>
              </a:spcAft>
              <a:buSzPts val="2470"/>
              <a:buAutoNum type="arabicPeriod"/>
            </a:pPr>
            <a:r>
              <a:rPr lang="en-US"/>
              <a:t>Labor</a:t>
            </a:r>
            <a:endParaRPr/>
          </a:p>
          <a:p>
            <a:pPr indent="-514350" lvl="0" marL="514350" rtl="0" algn="l">
              <a:spcBef>
                <a:spcPts val="520"/>
              </a:spcBef>
              <a:spcAft>
                <a:spcPts val="0"/>
              </a:spcAft>
              <a:buSzPts val="2470"/>
              <a:buAutoNum type="arabicPeriod"/>
            </a:pPr>
            <a:r>
              <a:rPr lang="en-US"/>
              <a:t>Capital</a:t>
            </a:r>
            <a:endParaRPr/>
          </a:p>
          <a:p>
            <a:pPr indent="-514350" lvl="0" marL="514350" rtl="0" algn="l">
              <a:spcBef>
                <a:spcPts val="520"/>
              </a:spcBef>
              <a:spcAft>
                <a:spcPts val="0"/>
              </a:spcAft>
              <a:buSzPts val="2470"/>
              <a:buAutoNum type="arabicPeriod"/>
            </a:pPr>
            <a:r>
              <a:rPr lang="en-US"/>
              <a:t>Entrepreneurship</a:t>
            </a:r>
            <a:endParaRPr/>
          </a:p>
          <a:p>
            <a:pPr indent="-357505" lvl="0" marL="51435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357505" lvl="0" marL="51435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357505" lvl="0" marL="51435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357505" lvl="0" marL="51435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357505" lvl="0" marL="51435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Some more key concepts –Scarcity, Choice and Opportunity Cost</a:t>
            </a:r>
            <a:endParaRPr sz="4500"/>
          </a:p>
        </p:txBody>
      </p:sp>
      <p:sp>
        <p:nvSpPr>
          <p:cNvPr id="155" name="Google Shape;155;p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Scarcity – Resources are limited , wants exceeds the resources available to satisfy them.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-There are unlimited wants and limited resources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Constantia"/>
              <a:buChar char="-"/>
            </a:pPr>
            <a:r>
              <a:rPr lang="en-US"/>
              <a:t>Scarce means limited.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Constantia"/>
              <a:buChar char="-"/>
            </a:pPr>
            <a:r>
              <a:rPr lang="en-US"/>
              <a:t>Because of scarcity , there is a need for a rationing device . A rationing device is a means of deciding who gets what quantities of the available resources and goods.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Constantia"/>
              <a:buChar char="-"/>
            </a:pPr>
            <a:r>
              <a:rPr lang="en-US"/>
              <a:t>Scarcity implies competition.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Scarcity and Choice </a:t>
            </a:r>
            <a:br>
              <a:rPr lang="en-US" sz="4500"/>
            </a:br>
            <a:endParaRPr sz="4500"/>
          </a:p>
        </p:txBody>
      </p:sp>
      <p:sp>
        <p:nvSpPr>
          <p:cNvPr id="161" name="Google Shape;161;p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Human wants are unlimited but resources are limited, limited resources makes individuals or societies to choose 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Scarcity implies choice. So the concept of </a:t>
            </a:r>
            <a:r>
              <a:rPr lang="en-US" u="sng"/>
              <a:t>choice</a:t>
            </a:r>
            <a:r>
              <a:rPr lang="en-US"/>
              <a:t> comes 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There is tradeoff between any two choices.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When we make choices the concept of Opportunity cost arises 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Opportunity cost</a:t>
            </a:r>
            <a:endParaRPr/>
          </a:p>
        </p:txBody>
      </p:sp>
      <p:sp>
        <p:nvSpPr>
          <p:cNvPr id="167" name="Google Shape;167;p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A fundamental concept in Economics is the concept of the opportunity cost- the most highly valued opportunity or alternative forfeited when a choice is made.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There is tradeoff between any two choices 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E.g. – The opportunity cost of using resources for medical care is the value of the other goods that could be produced with the same resources.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The reason opportunity cost arises because resources are scarce.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Margins and Incentives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People make choices at the</a:t>
            </a:r>
            <a:r>
              <a:rPr i="1" lang="en-US"/>
              <a:t> </a:t>
            </a:r>
            <a:r>
              <a:rPr b="1" lang="en-US">
                <a:solidFill>
                  <a:srgbClr val="FF0000"/>
                </a:solidFill>
              </a:rPr>
              <a:t>margin</a:t>
            </a:r>
            <a:r>
              <a:rPr lang="en-US"/>
              <a:t>, which means that they evaluate the consequences of making small </a:t>
            </a:r>
            <a:r>
              <a:rPr i="1" lang="en-US"/>
              <a:t>incremental changes</a:t>
            </a:r>
            <a:r>
              <a:rPr lang="en-US"/>
              <a:t> in the use of their resources.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The benefit from pursuing an incremental increase in an activity is its </a:t>
            </a:r>
            <a:r>
              <a:rPr b="1" lang="en-US">
                <a:solidFill>
                  <a:srgbClr val="FF0000"/>
                </a:solidFill>
              </a:rPr>
              <a:t>marginal benefit</a:t>
            </a:r>
            <a:r>
              <a:rPr lang="en-US"/>
              <a:t>.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The opportunity cost of pursuing an incremental increase in an activity is its </a:t>
            </a:r>
            <a:r>
              <a:rPr b="1" lang="en-US">
                <a:solidFill>
                  <a:srgbClr val="FF0000"/>
                </a:solidFill>
              </a:rPr>
              <a:t>marginal cost</a:t>
            </a:r>
            <a:r>
              <a:rPr lang="en-US"/>
              <a:t>.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These are both best thought of as </a:t>
            </a:r>
            <a:r>
              <a:rPr b="1" i="1" lang="en-US"/>
              <a:t>rates </a:t>
            </a:r>
            <a:r>
              <a:rPr lang="en-US"/>
              <a:t>– how much benefit or cost for a one-unit chang</a:t>
            </a:r>
            <a:endParaRPr/>
          </a:p>
        </p:txBody>
      </p:sp>
      <p:sp>
        <p:nvSpPr>
          <p:cNvPr id="173" name="Google Shape;173;p1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Economic way of thinking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Economic way of thinking</a:t>
            </a:r>
            <a:endParaRPr/>
          </a:p>
        </p:txBody>
      </p:sp>
      <p:sp>
        <p:nvSpPr>
          <p:cNvPr id="179" name="Google Shape;179;p1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Margins and Incentives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Marginal benefit and marginal cost act as incentives —  inducements to take a particular action or not.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For any activity, if marginal benefit exceeds marginal cost, people have an incentive to do more of that activity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If marginal cost exceeds marginal benefit, people have an incentive to do less of that activity.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Economists seek to predict choices by looking at changes in incentives, that is, in marginal cost and benefit.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2014-02-02T09:38:40Z</dcterms:created>
  <dc:creator>takiyan chowdhury</dc:creator>
</cp:coreProperties>
</file>
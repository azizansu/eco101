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3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553200" cy="1894362"/>
          </a:xfrm>
        </p:spPr>
        <p:txBody>
          <a:bodyPr/>
          <a:lstStyle/>
          <a:p>
            <a:r>
              <a:rPr lang="en-AU" dirty="0" smtClean="0"/>
              <a:t>Production and Costs (Part 1)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Chapter 19: Production and Costs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0171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Firm’s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Firm’s Objective for producing goods and services </a:t>
            </a:r>
            <a:r>
              <a:rPr lang="en-AU" dirty="0" smtClean="0">
                <a:sym typeface="Wingdings" panose="05000000000000000000" pitchFamily="2" charset="2"/>
              </a:rPr>
              <a:t> PROFIT MAXIMAZTION</a:t>
            </a:r>
          </a:p>
          <a:p>
            <a:endParaRPr lang="en-AU" dirty="0">
              <a:sym typeface="Wingdings" panose="05000000000000000000" pitchFamily="2" charset="2"/>
            </a:endParaRPr>
          </a:p>
          <a:p>
            <a:r>
              <a:rPr lang="en-AU" dirty="0" smtClean="0">
                <a:sym typeface="Wingdings" panose="05000000000000000000" pitchFamily="2" charset="2"/>
              </a:rPr>
              <a:t>Profit = Total Revenues – Total Cost</a:t>
            </a:r>
          </a:p>
          <a:p>
            <a:endParaRPr lang="en-AU" dirty="0">
              <a:sym typeface="Wingdings" panose="05000000000000000000" pitchFamily="2" charset="2"/>
            </a:endParaRPr>
          </a:p>
          <a:p>
            <a:r>
              <a:rPr lang="en-AU" dirty="0" smtClean="0">
                <a:sym typeface="Wingdings" panose="05000000000000000000" pitchFamily="2" charset="2"/>
              </a:rPr>
              <a:t>Total Revenue = Price per unit * No. of units sold</a:t>
            </a:r>
          </a:p>
          <a:p>
            <a:endParaRPr lang="en-AU" dirty="0">
              <a:sym typeface="Wingdings" panose="05000000000000000000" pitchFamily="2" charset="2"/>
            </a:endParaRPr>
          </a:p>
          <a:p>
            <a:r>
              <a:rPr lang="en-AU" dirty="0" smtClean="0">
                <a:sym typeface="Wingdings" panose="05000000000000000000" pitchFamily="2" charset="2"/>
              </a:rPr>
              <a:t>Total costs can be divided into two types: Explicit costs and implicit costs.</a:t>
            </a:r>
          </a:p>
          <a:p>
            <a:endParaRPr lang="en-AU" dirty="0">
              <a:sym typeface="Wingdings" panose="05000000000000000000" pitchFamily="2" charset="2"/>
            </a:endParaRPr>
          </a:p>
          <a:p>
            <a:r>
              <a:rPr lang="en-AU" dirty="0" smtClean="0">
                <a:sym typeface="Wingdings" panose="05000000000000000000" pitchFamily="2" charset="2"/>
              </a:rPr>
              <a:t>Numerically…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56375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All About Costs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An </a:t>
            </a:r>
            <a:r>
              <a:rPr lang="en-US" altLang="en-US" b="1" dirty="0"/>
              <a:t>explicit cost </a:t>
            </a:r>
            <a:r>
              <a:rPr lang="en-US" altLang="en-US" dirty="0"/>
              <a:t>is a cost that is incurred when an actual payment is made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An </a:t>
            </a:r>
            <a:r>
              <a:rPr lang="en-US" altLang="en-US" b="1" dirty="0"/>
              <a:t>implicit cost </a:t>
            </a:r>
            <a:r>
              <a:rPr lang="en-US" altLang="en-US" dirty="0"/>
              <a:t>represents the value of resources used in production for which no actual payment is made.  This is incurred as a result of a firm using its own resources that it owns or that the owners of the firm contribute to it.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7050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Accounting Profit Versus Economic Profit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429000" cy="4876800"/>
          </a:xfrm>
        </p:spPr>
        <p:txBody>
          <a:bodyPr>
            <a:normAutofit lnSpcReduction="10000"/>
          </a:bodyPr>
          <a:lstStyle/>
          <a:p>
            <a:r>
              <a:rPr lang="en-US" altLang="en-US" b="1" dirty="0"/>
              <a:t>Accounting Profit</a:t>
            </a:r>
            <a:r>
              <a:rPr lang="en-US" altLang="en-US" dirty="0"/>
              <a:t> is the difference between total revenue and explicit costs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r>
              <a:rPr lang="en-US" altLang="en-US" b="1" dirty="0"/>
              <a:t>Economic Profit</a:t>
            </a:r>
            <a:r>
              <a:rPr lang="en-US" altLang="en-US" dirty="0"/>
              <a:t> is the difference between total revenue and total opportunity cost, including both its explicit and implicit components</a:t>
            </a:r>
            <a:endParaRPr lang="en-AU" dirty="0"/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4126647" y="1219200"/>
            <a:ext cx="4649787" cy="5155439"/>
            <a:chOff x="1591" y="1373"/>
            <a:chExt cx="2018" cy="2200"/>
          </a:xfrm>
        </p:grpSpPr>
        <p:sp>
          <p:nvSpPr>
            <p:cNvPr id="5" name="Rectangle 52"/>
            <p:cNvSpPr>
              <a:spLocks noChangeArrowheads="1"/>
            </p:cNvSpPr>
            <p:nvPr/>
          </p:nvSpPr>
          <p:spPr bwMode="auto">
            <a:xfrm>
              <a:off x="1591" y="1373"/>
              <a:ext cx="2018" cy="2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6" name="Picture 51" descr="D:\ESWORK\SWPUB\Arnold PPT\Art\Art Ch21\arn17456_210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8" y="1418"/>
              <a:ext cx="1900" cy="2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16116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/>
          <a:lstStyle/>
          <a:p>
            <a:r>
              <a:rPr lang="en-AU" dirty="0" smtClean="0"/>
              <a:t>Zero Economic Profit Is Not as bad As it Sounds.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7467600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It is possible for a firm to earn both a positive accounting profit and a zero economic profit</a:t>
            </a:r>
            <a:r>
              <a:rPr lang="en-US" altLang="en-US" dirty="0" smtClean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Zero Economic Profit/Normal Profit: A firm that earns normal profit is earning revenue equal to its total costs (implicit and explicit). This is the level of profit necessary to keep resources employed in a firm.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firm that makes zero economic profit is said to be earning normal profit</a:t>
            </a:r>
            <a:r>
              <a:rPr lang="en-US" altLang="en-US" dirty="0" smtClean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Zero economic profit means the owner has generated total revenues sufficient to cover total opportunity costs.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384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AU" dirty="0" smtClean="0"/>
              <a:t>Production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924800" cy="5562600"/>
          </a:xfrm>
        </p:spPr>
        <p:txBody>
          <a:bodyPr>
            <a:normAutofit fontScale="92500"/>
          </a:bodyPr>
          <a:lstStyle/>
          <a:p>
            <a:r>
              <a:rPr lang="en-AU" dirty="0" smtClean="0"/>
              <a:t>Production is a transformation of resources or inputs into goods and services.</a:t>
            </a:r>
          </a:p>
          <a:p>
            <a:endParaRPr lang="en-AU" dirty="0"/>
          </a:p>
          <a:p>
            <a:pPr>
              <a:lnSpc>
                <a:spcPct val="90000"/>
              </a:lnSpc>
            </a:pPr>
            <a:r>
              <a:rPr lang="en-US" altLang="en-US" dirty="0"/>
              <a:t>A fixed input is an input whose quantity cannot be changed as output changes in the short </a:t>
            </a:r>
            <a:r>
              <a:rPr lang="en-US" altLang="en-US" dirty="0" smtClean="0"/>
              <a:t>run. The </a:t>
            </a:r>
            <a:r>
              <a:rPr lang="en-US" altLang="en-US" dirty="0"/>
              <a:t>costs associated with fixed inputs are fixed costs.  A fixed cost doesn’t change as output changes.</a:t>
            </a:r>
          </a:p>
          <a:p>
            <a:endParaRPr lang="en-AU" dirty="0" smtClean="0"/>
          </a:p>
          <a:p>
            <a:pPr>
              <a:lnSpc>
                <a:spcPct val="90000"/>
              </a:lnSpc>
            </a:pPr>
            <a:r>
              <a:rPr lang="en-US" altLang="en-US" dirty="0"/>
              <a:t>A variable input is an input whose quantity can be changed as output changes in the short </a:t>
            </a:r>
            <a:r>
              <a:rPr lang="en-US" altLang="en-US" dirty="0" smtClean="0"/>
              <a:t>run. The </a:t>
            </a:r>
            <a:r>
              <a:rPr lang="en-US" altLang="en-US" dirty="0"/>
              <a:t>costs associated with variable inputs are variable costs.  A variable cost changes as output </a:t>
            </a:r>
            <a:r>
              <a:rPr lang="en-US" altLang="en-US" dirty="0" smtClean="0"/>
              <a:t>changes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r>
              <a:rPr lang="en-US" altLang="en-US" dirty="0"/>
              <a:t>The short run is a period in which some inputs are fixed.</a:t>
            </a:r>
          </a:p>
          <a:p>
            <a:r>
              <a:rPr lang="en-US" altLang="en-US" dirty="0"/>
              <a:t>The long run is a period in which all inputs can be varied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480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0" y="1828800"/>
            <a:ext cx="9144000" cy="4343400"/>
            <a:chOff x="1382" y="1527"/>
            <a:chExt cx="2972" cy="1255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382" y="1527"/>
              <a:ext cx="2972" cy="1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AU"/>
            </a:p>
          </p:txBody>
        </p:sp>
        <p:pic>
          <p:nvPicPr>
            <p:cNvPr id="6" name="Picture 5" descr="D:\ESWORK\SWPUB\Arnold PPT\Art\Art Ch21\arn17456_2102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570"/>
              <a:ext cx="2880" cy="1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6170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Production in the Short Run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Assume there are two inputs (resources): labour and capital.</a:t>
            </a:r>
          </a:p>
          <a:p>
            <a:r>
              <a:rPr lang="en-AU" dirty="0" smtClean="0"/>
              <a:t>Assume capital is fixed (the amount of capital that can be used is fixed).</a:t>
            </a:r>
          </a:p>
          <a:p>
            <a:endParaRPr lang="en-AU" dirty="0"/>
          </a:p>
          <a:p>
            <a:r>
              <a:rPr lang="en-AU" dirty="0" smtClean="0"/>
              <a:t>Are we in the long run or in the short run?</a:t>
            </a:r>
          </a:p>
          <a:p>
            <a:endParaRPr lang="en-AU" dirty="0"/>
          </a:p>
          <a:p>
            <a:r>
              <a:rPr lang="en-AU" b="1" dirty="0" smtClean="0"/>
              <a:t>Total Physical Product</a:t>
            </a:r>
            <a:r>
              <a:rPr lang="en-AU" dirty="0" smtClean="0"/>
              <a:t>: The total quantity of output that is produced.</a:t>
            </a:r>
          </a:p>
          <a:p>
            <a:r>
              <a:rPr lang="en-AU" b="1" dirty="0" smtClean="0"/>
              <a:t>Marginal Physical Product</a:t>
            </a:r>
            <a:r>
              <a:rPr lang="en-AU" dirty="0" smtClean="0"/>
              <a:t>: The change in output that results from changing the variable input by one unit, holding all other inputs fixed.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9502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AU" dirty="0" smtClean="0"/>
              <a:t>Example: 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504276491"/>
              </p:ext>
            </p:extLst>
          </p:nvPr>
        </p:nvGraphicFramePr>
        <p:xfrm>
          <a:off x="457200" y="990600"/>
          <a:ext cx="7467600" cy="554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1866900"/>
                <a:gridCol w="1866900"/>
                <a:gridCol w="18669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Fixed Input, Capital (units)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Variable Input,</a:t>
                      </a:r>
                      <a:r>
                        <a:rPr lang="en-AU" baseline="0" dirty="0" smtClean="0"/>
                        <a:t> </a:t>
                      </a:r>
                      <a:r>
                        <a:rPr lang="en-AU" baseline="0" dirty="0" err="1" smtClean="0"/>
                        <a:t>Labor</a:t>
                      </a:r>
                      <a:r>
                        <a:rPr lang="en-AU" baseline="0" dirty="0" smtClean="0"/>
                        <a:t> (workers)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Quantity</a:t>
                      </a:r>
                      <a:r>
                        <a:rPr lang="en-AU" baseline="0" dirty="0" smtClean="0"/>
                        <a:t> of Output, Q (units)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Marginal</a:t>
                      </a:r>
                      <a:r>
                        <a:rPr lang="en-AU" baseline="0" dirty="0" smtClean="0"/>
                        <a:t> Physical Product of Variable Input 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19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19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17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16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-8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46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en-AU" dirty="0"/>
              <a:t>Production in the Short </a:t>
            </a:r>
            <a:r>
              <a:rPr lang="en-AU" dirty="0" smtClean="0"/>
              <a:t>Run (CONT)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772400" cy="5715000"/>
          </a:xfrm>
        </p:spPr>
        <p:txBody>
          <a:bodyPr>
            <a:normAutofit fontScale="92500" lnSpcReduction="10000"/>
          </a:bodyPr>
          <a:lstStyle/>
          <a:p>
            <a:r>
              <a:rPr lang="en-AU" b="1" dirty="0" smtClean="0"/>
              <a:t>Law of Diminishing Marginal Returns</a:t>
            </a:r>
            <a:r>
              <a:rPr lang="en-AU" dirty="0" smtClean="0"/>
              <a:t>: As even larger amounts of a variable input are combined with fixed inputs, eventually the marginal physical product of the variable input will decline.</a:t>
            </a:r>
          </a:p>
          <a:p>
            <a:endParaRPr lang="en-AU" dirty="0"/>
          </a:p>
          <a:p>
            <a:r>
              <a:rPr lang="en-US" altLang="en-US" dirty="0"/>
              <a:t>The law of diminishing marginal returns says that as more units of the variable input are added, each one has fewer units of the fixed input to work with; consequently, output rises at a decreasing rate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If the law of diminishing marginal returns did not hold, then it would be possible to continue to add additional units of a variable input to a fixed input, and the marginal physical product of the variable input would never decline.  We could increase output indefinitely as long as we continued to add units of a variable input to a fixed input.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5390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Production in the Short Run (CONT)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The point at which the MPP of labour first declines is the point at which diminishing marginal returns are said to have set in.</a:t>
            </a:r>
          </a:p>
          <a:p>
            <a:endParaRPr lang="en-AU" dirty="0"/>
          </a:p>
          <a:p>
            <a:pPr lvl="0"/>
            <a:r>
              <a:rPr lang="en-AU" dirty="0"/>
              <a:t>Would you hire the 4</a:t>
            </a:r>
            <a:r>
              <a:rPr lang="en-AU" baseline="30000" dirty="0"/>
              <a:t>th</a:t>
            </a:r>
            <a:r>
              <a:rPr lang="en-AU" dirty="0"/>
              <a:t> worker even when you know MPP will fall to 19?</a:t>
            </a:r>
          </a:p>
          <a:p>
            <a:r>
              <a:rPr lang="en-AU" dirty="0"/>
              <a:t>What will you can sell the additional 19 units for $100 but the cost of the firm to hire the 4</a:t>
            </a:r>
            <a:r>
              <a:rPr lang="en-AU" baseline="30000" dirty="0"/>
              <a:t>th</a:t>
            </a:r>
            <a:r>
              <a:rPr lang="en-AU" dirty="0"/>
              <a:t> worker is $70?</a:t>
            </a:r>
          </a:p>
        </p:txBody>
      </p:sp>
    </p:spTree>
    <p:extLst>
      <p:ext uri="{BB962C8B-B14F-4D97-AF65-F5344CB8AC3E}">
        <p14:creationId xmlns:p14="http://schemas.microsoft.com/office/powerpoint/2010/main" val="3951062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96</TotalTime>
  <Words>761</Words>
  <Application>Microsoft Office PowerPoint</Application>
  <PresentationFormat>On-screen Show (4:3)</PresentationFormat>
  <Paragraphs>105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Oriel</vt:lpstr>
      <vt:lpstr>Production and Costs (Part 1)</vt:lpstr>
      <vt:lpstr>The Firm’s Objective</vt:lpstr>
      <vt:lpstr>All About Costs</vt:lpstr>
      <vt:lpstr>Accounting Profit Versus Economic Profit</vt:lpstr>
      <vt:lpstr>Zero Economic Profit Is Not as bad As it Sounds.</vt:lpstr>
      <vt:lpstr>Production</vt:lpstr>
      <vt:lpstr>PowerPoint Presentation</vt:lpstr>
      <vt:lpstr>Production in the Short Run</vt:lpstr>
      <vt:lpstr>Example: </vt:lpstr>
      <vt:lpstr>Production in the Short Run (CONT)</vt:lpstr>
      <vt:lpstr>Production in the Short Run (CONT)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and Costs (Part 1)</dc:title>
  <dc:creator>User</dc:creator>
  <cp:lastModifiedBy>Ahmed</cp:lastModifiedBy>
  <cp:revision>8</cp:revision>
  <dcterms:created xsi:type="dcterms:W3CDTF">2006-08-16T00:00:00Z</dcterms:created>
  <dcterms:modified xsi:type="dcterms:W3CDTF">2018-07-10T04:45:20Z</dcterms:modified>
</cp:coreProperties>
</file>
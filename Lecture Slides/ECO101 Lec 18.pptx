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embeddedFontLst>
    <p:embeddedFont>
      <p:font typeface="Century Schoolbook"/>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22" roundtripDataSignature="AMtx7mhpKv57Ig4+HJ92xLzFjB/eTnh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enturySchoolbook-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CenturySchoolbook-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CenturySchoolbook-bold.fntdata"/><Relationship Id="rId6" Type="http://schemas.openxmlformats.org/officeDocument/2006/relationships/slide" Target="slides/slide1.xml"/><Relationship Id="rId18" Type="http://schemas.openxmlformats.org/officeDocument/2006/relationships/font" Target="fonts/CenturySchoolbook-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0626d8a769_0_0:notes"/>
          <p:cNvSpPr/>
          <p:nvPr>
            <p:ph idx="2" type="sldImg"/>
          </p:nvPr>
        </p:nvSpPr>
        <p:spPr>
          <a:xfrm>
            <a:off x="940133" y="686536"/>
            <a:ext cx="4977600" cy="3428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10626d8a769_0_0:notes"/>
          <p:cNvSpPr txBox="1"/>
          <p:nvPr>
            <p:ph idx="1" type="body"/>
          </p:nvPr>
        </p:nvSpPr>
        <p:spPr>
          <a:xfrm>
            <a:off x="685801"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10626d8a769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0626d8a769_0_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1" name="Google Shape;201;g10626d8a769_0_6:notes"/>
          <p:cNvSpPr/>
          <p:nvPr>
            <p:ph idx="2" type="sldImg"/>
          </p:nvPr>
        </p:nvSpPr>
        <p:spPr>
          <a:xfrm>
            <a:off x="940133" y="686536"/>
            <a:ext cx="4977600" cy="3428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g10626d8a769_0_6:notes"/>
          <p:cNvSpPr txBox="1"/>
          <p:nvPr>
            <p:ph idx="1" type="body"/>
          </p:nvPr>
        </p:nvSpPr>
        <p:spPr>
          <a:xfrm>
            <a:off x="685801"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0626d8a769_0_15:notes"/>
          <p:cNvSpPr txBox="1"/>
          <p:nvPr>
            <p:ph idx="1" type="body"/>
          </p:nvPr>
        </p:nvSpPr>
        <p:spPr>
          <a:xfrm>
            <a:off x="685801"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10626d8a769_0_15:notes"/>
          <p:cNvSpPr/>
          <p:nvPr>
            <p:ph idx="2" type="sldImg"/>
          </p:nvPr>
        </p:nvSpPr>
        <p:spPr>
          <a:xfrm>
            <a:off x="940133" y="686536"/>
            <a:ext cx="4977600" cy="3428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7" name="Shape 17"/>
        <p:cNvGrpSpPr/>
        <p:nvPr/>
      </p:nvGrpSpPr>
      <p:grpSpPr>
        <a:xfrm>
          <a:off x="0" y="0"/>
          <a:ext cx="0" cy="0"/>
          <a:chOff x="0" y="0"/>
          <a:chExt cx="0" cy="0"/>
        </a:xfrm>
      </p:grpSpPr>
      <p:sp>
        <p:nvSpPr>
          <p:cNvPr id="18" name="Google Shape;18;p11"/>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1"/>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0" name="Google Shape;20;p11"/>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1"/>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3" name="Google Shape;23;p11"/>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4" name="Google Shape;24;p11"/>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5" name="Google Shape;25;p11"/>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26" name="Google Shape;26;p11"/>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27" name="Google Shape;27;p11"/>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28" name="Google Shape;28;p11"/>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29" name="Google Shape;29;p11"/>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30" name="Google Shape;30;p11"/>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cxnSp>
        <p:nvCxnSpPr>
          <p:cNvPr id="31" name="Google Shape;31;p11"/>
          <p:cNvCxnSpPr/>
          <p:nvPr/>
        </p:nvCxnSpPr>
        <p:spPr>
          <a:xfrm>
            <a:off x="9113856"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32" name="Google Shape;32;p11"/>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3" name="Google Shape;33;p11"/>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4" name="Google Shape;34;p11"/>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5" name="Google Shape;35;p11"/>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6" name="Google Shape;36;p11"/>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7" name="Google Shape;37;p11"/>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8" name="Google Shape;38;p11"/>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1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2" name="Google Shape;42;p1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4" name="Google Shape;44;p1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45" name="Shape 45"/>
        <p:cNvGrpSpPr/>
        <p:nvPr/>
      </p:nvGrpSpPr>
      <p:grpSpPr>
        <a:xfrm>
          <a:off x="0" y="0"/>
          <a:ext cx="0" cy="0"/>
          <a:chOff x="0" y="0"/>
          <a:chExt cx="0" cy="0"/>
        </a:xfrm>
      </p:grpSpPr>
      <p:sp>
        <p:nvSpPr>
          <p:cNvPr id="46" name="Google Shape;46;p13"/>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entury Schoolbook"/>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3"/>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13"/>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3"/>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3"/>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51" name="Google Shape;51;p13"/>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52" name="Google Shape;52;p13"/>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53" name="Google Shape;53;p13"/>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54" name="Google Shape;54;p13"/>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55" name="Google Shape;55;p13"/>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56" name="Google Shape;56;p13"/>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57" name="Google Shape;57;p13"/>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58" name="Google Shape;58;p13"/>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sp>
        <p:nvSpPr>
          <p:cNvPr id="59" name="Google Shape;59;p13"/>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0" name="Google Shape;60;p13"/>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1" name="Google Shape;61;p13"/>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2" name="Google Shape;62;p13"/>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3" name="Google Shape;63;p13"/>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4" name="Google Shape;64;p13"/>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65" name="Google Shape;65;p13"/>
          <p:cNvCxnSpPr/>
          <p:nvPr/>
        </p:nvCxnSpPr>
        <p:spPr>
          <a:xfrm>
            <a:off x="9097944"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66" name="Google Shape;66;p13"/>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1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4"/>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4"/>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2" name="Google Shape;72;p14"/>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3" name="Google Shape;73;p14"/>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15"/>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9" name="Google Shape;79;p15"/>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0" name="Google Shape;80;p15"/>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1" name="Google Shape;81;p15"/>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2" name="Google Shape;82;p15"/>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1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7" name="Google Shape;87;p1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
        <p:nvSpPr>
          <p:cNvPr id="89" name="Google Shape;89;p1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92" name="Shape 92"/>
        <p:cNvGrpSpPr/>
        <p:nvPr/>
      </p:nvGrpSpPr>
      <p:grpSpPr>
        <a:xfrm>
          <a:off x="0" y="0"/>
          <a:ext cx="0" cy="0"/>
          <a:chOff x="0" y="0"/>
          <a:chExt cx="0" cy="0"/>
        </a:xfrm>
      </p:grpSpPr>
      <p:cxnSp>
        <p:nvCxnSpPr>
          <p:cNvPr id="93" name="Google Shape;93;p18"/>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94" name="Google Shape;94;p18"/>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8"/>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96" name="Google Shape;96;p18"/>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97" name="Google Shape;97;p18"/>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98" name="Google Shape;98;p18"/>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99" name="Google Shape;99;p18"/>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00" name="Google Shape;100;p18"/>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01" name="Google Shape;101;p18"/>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02" name="Google Shape;102;p18"/>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3" name="Google Shape;103;p1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5" name="Google Shape;105;p1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6" name="Shape 106"/>
        <p:cNvGrpSpPr/>
        <p:nvPr/>
      </p:nvGrpSpPr>
      <p:grpSpPr>
        <a:xfrm>
          <a:off x="0" y="0"/>
          <a:ext cx="0" cy="0"/>
          <a:chOff x="0" y="0"/>
          <a:chExt cx="0" cy="0"/>
        </a:xfrm>
      </p:grpSpPr>
      <p:cxnSp>
        <p:nvCxnSpPr>
          <p:cNvPr id="107" name="Google Shape;107;p19"/>
          <p:cNvCxnSpPr/>
          <p:nvPr/>
        </p:nvCxnSpPr>
        <p:spPr>
          <a:xfrm>
            <a:off x="8763000" y="0"/>
            <a:ext cx="0" cy="6858000"/>
          </a:xfrm>
          <a:prstGeom prst="straightConnector1">
            <a:avLst/>
          </a:prstGeom>
          <a:noFill/>
          <a:ln cap="flat" cmpd="sng" w="38100">
            <a:solidFill>
              <a:srgbClr val="FEC2AC"/>
            </a:solidFill>
            <a:prstDash val="solid"/>
            <a:round/>
            <a:headEnd len="sm" w="sm" type="none"/>
            <a:tailEnd len="sm" w="sm" type="none"/>
          </a:ln>
        </p:spPr>
      </p:cxnSp>
      <p:sp>
        <p:nvSpPr>
          <p:cNvPr id="108" name="Google Shape;108;p19"/>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09" name="Google Shape;109;p19"/>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9"/>
          <p:cNvSpPr/>
          <p:nvPr>
            <p:ph idx="2" type="pic"/>
          </p:nvPr>
        </p:nvSpPr>
        <p:spPr>
          <a:xfrm>
            <a:off x="0" y="0"/>
            <a:ext cx="6172200" cy="6858000"/>
          </a:xfrm>
          <a:prstGeom prst="rect">
            <a:avLst/>
          </a:prstGeom>
          <a:solidFill>
            <a:schemeClr val="lt2"/>
          </a:solidFill>
          <a:ln>
            <a:noFill/>
          </a:ln>
        </p:spPr>
        <p:txBody>
          <a:bodyPr anchorCtr="0" anchor="t" bIns="45700" lIns="91425" spcFirstLastPara="1" rIns="91425" wrap="square" tIns="45700">
            <a:normAutofit/>
          </a:bodyPr>
          <a:lstStyle>
            <a:lvl1pPr lvl="0" marR="0" rtl="0" algn="l">
              <a:spcBef>
                <a:spcPts val="600"/>
              </a:spcBef>
              <a:spcAft>
                <a:spcPts val="0"/>
              </a:spcAft>
              <a:buClr>
                <a:schemeClr val="accent1"/>
              </a:buClr>
              <a:buSzPts val="2240"/>
              <a:buFont typeface="Noto Sans Symbols"/>
              <a:buNone/>
              <a:defRPr b="0" i="0" sz="3200" u="none" cap="none" strike="noStrike">
                <a:solidFill>
                  <a:schemeClr val="dk1"/>
                </a:solidFill>
                <a:latin typeface="Century Schoolbook"/>
                <a:ea typeface="Century Schoolbook"/>
                <a:cs typeface="Century Schoolbook"/>
                <a:sym typeface="Century Schoolbook"/>
              </a:defRPr>
            </a:lvl1pPr>
            <a:lvl2pPr lvl="1"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lvl="2"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lvl="5"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lvl="6"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lvl="7"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lvl="8"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111" name="Google Shape;111;p19"/>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entury Schoolbook"/>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12" name="Google Shape;112;p19"/>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113" name="Google Shape;113;p19"/>
          <p:cNvSpPr/>
          <p:nvPr/>
        </p:nvSpPr>
        <p:spPr>
          <a:xfrm>
            <a:off x="8839200" y="0"/>
            <a:ext cx="304800" cy="68580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14" name="Google Shape;114;p19"/>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115" name="Google Shape;115;p19"/>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116" name="Google Shape;116;p19"/>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117" name="Google Shape;117;p1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19" name="Google Shape;119;p1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0" name="Shape 120"/>
        <p:cNvGrpSpPr/>
        <p:nvPr/>
      </p:nvGrpSpPr>
      <p:grpSpPr>
        <a:xfrm>
          <a:off x="0" y="0"/>
          <a:ext cx="0" cy="0"/>
          <a:chOff x="0" y="0"/>
          <a:chExt cx="0" cy="0"/>
        </a:xfrm>
      </p:grpSpPr>
      <p:sp>
        <p:nvSpPr>
          <p:cNvPr id="121" name="Google Shape;121;p2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0"/>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3" name="Google Shape;123;p2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6" name="Shape 126"/>
        <p:cNvGrpSpPr/>
        <p:nvPr/>
      </p:nvGrpSpPr>
      <p:grpSpPr>
        <a:xfrm>
          <a:off x="0" y="0"/>
          <a:ext cx="0" cy="0"/>
          <a:chOff x="0" y="0"/>
          <a:chExt cx="0" cy="0"/>
        </a:xfrm>
      </p:grpSpPr>
      <p:sp>
        <p:nvSpPr>
          <p:cNvPr id="127" name="Google Shape;127;p21"/>
          <p:cNvSpPr txBox="1"/>
          <p:nvPr>
            <p:ph type="title"/>
          </p:nvPr>
        </p:nvSpPr>
        <p:spPr>
          <a:xfrm rot="5400000">
            <a:off x="4541837"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1"/>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9" name="Google Shape;129;p2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cxnSp>
        <p:nvCxnSpPr>
          <p:cNvPr id="6" name="Google Shape;6;p10"/>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7" name="Google Shape;7;p1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entury Schoolbook"/>
              <a:buNone/>
              <a:defRPr b="0" i="0" sz="3000" u="none" cap="small" strike="noStrike">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entury Schoolbook"/>
                <a:ea typeface="Century Schoolbook"/>
                <a:cs typeface="Century Schoolbook"/>
                <a:sym typeface="Century Schoolbook"/>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indent="-297180" lvl="2" marL="1371600"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indent="-297180" lvl="3" marL="1828800"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indent="-297688" lvl="4" marL="2286000"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indent="-330200" lvl="5" marL="2743200"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indent="-281939" lvl="6" marL="3200400"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indent="-317500" lvl="7" marL="3657600"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indent="-317500" lvl="8" marL="4114800"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9" name="Google Shape;9;p1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10" name="Google Shape;10;p1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cxnSp>
        <p:nvCxnSpPr>
          <p:cNvPr id="11" name="Google Shape;11;p10"/>
          <p:cNvCxnSpPr/>
          <p:nvPr/>
        </p:nvCxnSpPr>
        <p:spPr>
          <a:xfrm>
            <a:off x="76200" y="0"/>
            <a:ext cx="0" cy="6858000"/>
          </a:xfrm>
          <a:prstGeom prst="straightConnector1">
            <a:avLst/>
          </a:prstGeom>
          <a:noFill/>
          <a:ln cap="flat" cmpd="thickThin" w="57150">
            <a:solidFill>
              <a:srgbClr val="FEC2AC"/>
            </a:solidFill>
            <a:prstDash val="solid"/>
            <a:round/>
            <a:headEnd len="sm" w="sm" type="none"/>
            <a:tailEnd len="sm" w="sm" type="none"/>
          </a:ln>
        </p:spPr>
      </p:cxnSp>
      <p:cxnSp>
        <p:nvCxnSpPr>
          <p:cNvPr id="12" name="Google Shape;12;p10"/>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3" name="Google Shape;13;p10"/>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14" name="Google Shape;14;p10"/>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5" name="Google Shape;15;p10"/>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16" name="Google Shape;16;p1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1pPr>
            <a:lvl2pPr indent="0" lvl="1"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2pPr>
            <a:lvl3pPr indent="0" lvl="2"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3pPr>
            <a:lvl4pPr indent="0" lvl="3"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4pPr>
            <a:lvl5pPr indent="0" lvl="4"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5pPr>
            <a:lvl6pPr indent="0" lvl="5"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6pPr>
            <a:lvl7pPr indent="0" lvl="6"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7pPr>
            <a:lvl8pPr indent="0" lvl="7"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8pPr>
            <a:lvl9pPr indent="0" lvl="8"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Monopoly (Part 1)</a:t>
            </a:r>
            <a:endParaRPr/>
          </a:p>
        </p:txBody>
      </p:sp>
      <p:sp>
        <p:nvSpPr>
          <p:cNvPr id="137" name="Google Shape;137;p1"/>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rPr lang="en-US"/>
              <a:t>Chapter 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The Theory of Monopoly</a:t>
            </a:r>
            <a:endParaRPr/>
          </a:p>
        </p:txBody>
      </p:sp>
      <p:sp>
        <p:nvSpPr>
          <p:cNvPr id="143" name="Google Shape;143;p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rPr lang="en-US"/>
              <a:t>The theory is based on three assumptions:</a:t>
            </a:r>
            <a:endParaRPr/>
          </a:p>
          <a:p>
            <a:pPr indent="0" lvl="0" marL="0" rtl="0" algn="l">
              <a:spcBef>
                <a:spcPts val="600"/>
              </a:spcBef>
              <a:spcAft>
                <a:spcPts val="0"/>
              </a:spcAft>
              <a:buSzPts val="1680"/>
              <a:buNone/>
            </a:pPr>
            <a:r>
              <a:t/>
            </a:r>
            <a:endParaRPr/>
          </a:p>
          <a:p>
            <a:pPr indent="-457200" lvl="0" marL="457200" rtl="0" algn="l">
              <a:spcBef>
                <a:spcPts val="600"/>
              </a:spcBef>
              <a:spcAft>
                <a:spcPts val="0"/>
              </a:spcAft>
              <a:buSzPts val="1680"/>
              <a:buFont typeface="Century Schoolbook"/>
              <a:buAutoNum type="arabicPeriod"/>
            </a:pPr>
            <a:r>
              <a:rPr lang="en-US"/>
              <a:t>There is one seller.</a:t>
            </a:r>
            <a:endParaRPr/>
          </a:p>
          <a:p>
            <a:pPr indent="-457200" lvl="0" marL="457200" rtl="0" algn="l">
              <a:spcBef>
                <a:spcPts val="600"/>
              </a:spcBef>
              <a:spcAft>
                <a:spcPts val="0"/>
              </a:spcAft>
              <a:buSzPts val="1680"/>
              <a:buFont typeface="Century Schoolbook"/>
              <a:buAutoNum type="arabicPeriod"/>
            </a:pPr>
            <a:r>
              <a:rPr lang="en-US"/>
              <a:t>The single seller sells a product for which there is no close substitute</a:t>
            </a:r>
            <a:endParaRPr/>
          </a:p>
          <a:p>
            <a:pPr indent="-457200" lvl="0" marL="457200" rtl="0" algn="l">
              <a:spcBef>
                <a:spcPts val="600"/>
              </a:spcBef>
              <a:spcAft>
                <a:spcPts val="0"/>
              </a:spcAft>
              <a:buSzPts val="1680"/>
              <a:buFont typeface="Century Schoolbook"/>
              <a:buAutoNum type="arabicPeriod"/>
            </a:pPr>
            <a:r>
              <a:rPr lang="en-US"/>
              <a:t>There are extremely high barriers to entry</a:t>
            </a:r>
            <a:endParaRPr/>
          </a:p>
          <a:p>
            <a:pPr indent="-350520" lvl="0" marL="457200" rtl="0" algn="l">
              <a:spcBef>
                <a:spcPts val="600"/>
              </a:spcBef>
              <a:spcAft>
                <a:spcPts val="0"/>
              </a:spcAft>
              <a:buSzPts val="1680"/>
              <a:buFont typeface="Century Schoolbook"/>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Barriers to Entry: A Key to Understanding Monopoly</a:t>
            </a:r>
            <a:endParaRPr/>
          </a:p>
        </p:txBody>
      </p:sp>
      <p:sp>
        <p:nvSpPr>
          <p:cNvPr id="149" name="Google Shape;149;p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90000"/>
              </a:lnSpc>
              <a:spcBef>
                <a:spcPts val="0"/>
              </a:spcBef>
              <a:spcAft>
                <a:spcPts val="0"/>
              </a:spcAft>
              <a:buSzPct val="70000"/>
              <a:buChar char="🞆"/>
            </a:pPr>
            <a:r>
              <a:rPr b="1" lang="en-US"/>
              <a:t>Legal Barriers</a:t>
            </a:r>
            <a:r>
              <a:rPr lang="en-US"/>
              <a:t>: Three types:</a:t>
            </a:r>
            <a:endParaRPr/>
          </a:p>
          <a:p>
            <a:pPr indent="-457200" lvl="0" marL="457200" rtl="0" algn="l">
              <a:lnSpc>
                <a:spcPct val="90000"/>
              </a:lnSpc>
              <a:spcBef>
                <a:spcPts val="600"/>
              </a:spcBef>
              <a:spcAft>
                <a:spcPts val="0"/>
              </a:spcAft>
              <a:buSzPct val="70000"/>
              <a:buFont typeface="Century Schoolbook"/>
              <a:buAutoNum type="arabicPeriod"/>
            </a:pPr>
            <a:r>
              <a:rPr b="1" lang="en-US"/>
              <a:t>Public Franchise</a:t>
            </a:r>
            <a:r>
              <a:rPr lang="en-US"/>
              <a:t> is a right granted to a firm by government that permits the firm to provide a particular good or service and excludes all others from doing the same.</a:t>
            </a:r>
            <a:endParaRPr/>
          </a:p>
          <a:p>
            <a:pPr indent="-457200" lvl="0" marL="457200" rtl="0" algn="l">
              <a:lnSpc>
                <a:spcPct val="90000"/>
              </a:lnSpc>
              <a:spcBef>
                <a:spcPts val="600"/>
              </a:spcBef>
              <a:spcAft>
                <a:spcPts val="0"/>
              </a:spcAft>
              <a:buSzPct val="70000"/>
              <a:buFont typeface="Century Schoolbook"/>
              <a:buAutoNum type="arabicPeriod"/>
            </a:pPr>
            <a:r>
              <a:rPr b="1" lang="en-US"/>
              <a:t>Patents</a:t>
            </a:r>
            <a:endParaRPr/>
          </a:p>
          <a:p>
            <a:pPr indent="-457200" lvl="0" marL="457200" rtl="0" algn="l">
              <a:lnSpc>
                <a:spcPct val="90000"/>
              </a:lnSpc>
              <a:spcBef>
                <a:spcPts val="600"/>
              </a:spcBef>
              <a:spcAft>
                <a:spcPts val="0"/>
              </a:spcAft>
              <a:buSzPct val="70000"/>
              <a:buFont typeface="Century Schoolbook"/>
              <a:buAutoNum type="arabicPeriod"/>
            </a:pPr>
            <a:r>
              <a:rPr b="1" lang="en-US"/>
              <a:t>Licenses</a:t>
            </a:r>
            <a:endParaRPr/>
          </a:p>
          <a:p>
            <a:pPr indent="0" lvl="0" marL="0" rtl="0" algn="l">
              <a:lnSpc>
                <a:spcPct val="90000"/>
              </a:lnSpc>
              <a:spcBef>
                <a:spcPts val="600"/>
              </a:spcBef>
              <a:spcAft>
                <a:spcPts val="0"/>
              </a:spcAft>
              <a:buSzPct val="70000"/>
              <a:buNone/>
            </a:pPr>
            <a:r>
              <a:rPr lang="en-US"/>
              <a:t> </a:t>
            </a:r>
            <a:endParaRPr/>
          </a:p>
          <a:p>
            <a:pPr indent="-274320" lvl="0" marL="274320" rtl="0" algn="l">
              <a:lnSpc>
                <a:spcPct val="90000"/>
              </a:lnSpc>
              <a:spcBef>
                <a:spcPts val="600"/>
              </a:spcBef>
              <a:spcAft>
                <a:spcPts val="0"/>
              </a:spcAft>
              <a:buSzPct val="70000"/>
              <a:buChar char="🞆"/>
            </a:pPr>
            <a:r>
              <a:rPr b="1" lang="en-US"/>
              <a:t>Economies of Scale</a:t>
            </a:r>
            <a:r>
              <a:rPr lang="en-US"/>
              <a:t>: In some industries, low average total costs are only obtained through large scale production.  If only one firm can survive in that industry, the firm is called a </a:t>
            </a:r>
            <a:r>
              <a:rPr b="1" lang="en-US"/>
              <a:t>Natural Monopoly</a:t>
            </a:r>
            <a:r>
              <a:rPr lang="en-US"/>
              <a:t>.</a:t>
            </a:r>
            <a:endParaRPr/>
          </a:p>
          <a:p>
            <a:pPr indent="-274320" lvl="0" marL="274320" rtl="0" algn="l">
              <a:lnSpc>
                <a:spcPct val="90000"/>
              </a:lnSpc>
              <a:spcBef>
                <a:spcPts val="600"/>
              </a:spcBef>
              <a:spcAft>
                <a:spcPts val="0"/>
              </a:spcAft>
              <a:buSzPct val="70000"/>
              <a:buChar char="🞆"/>
            </a:pPr>
            <a:r>
              <a:rPr b="1" lang="en-US"/>
              <a:t>Exclusive Ownership of a Necessary Resource</a:t>
            </a:r>
            <a:r>
              <a:rPr lang="en-US"/>
              <a:t>: Existing firms may be protected from entry of new firms by the exclusive or near-exclusive ownership of a resource needed to enter the industry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rPr lang="en-US"/>
              <a:t>What is the Difference Between a Government Monopoly and a Market Monopoly?</a:t>
            </a:r>
            <a:endParaRPr/>
          </a:p>
        </p:txBody>
      </p:sp>
      <p:sp>
        <p:nvSpPr>
          <p:cNvPr id="155" name="Google Shape;155;p4"/>
          <p:cNvSpPr txBox="1"/>
          <p:nvPr>
            <p:ph idx="1" type="body"/>
          </p:nvPr>
        </p:nvSpPr>
        <p:spPr>
          <a:xfrm>
            <a:off x="457200" y="1676400"/>
            <a:ext cx="7467600" cy="4873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Some economists use the term government monopoly to refer to monopolies that are legally protected from competition through Patents, Licenses, Public Franchises 🡺 Legally Prohibited.</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The term market monopoly to refer to monopolies that are not legally protected from competition. The barriers take form of Economies of Scale and Exclusive ownership of resource.</a:t>
            </a:r>
            <a:endParaRPr/>
          </a:p>
          <a:p>
            <a:pPr indent="-167640" lvl="0" marL="274320" rtl="0" algn="l">
              <a:spcBef>
                <a:spcPts val="600"/>
              </a:spcBef>
              <a:spcAft>
                <a:spcPts val="0"/>
              </a:spcAft>
              <a:buSzPts val="168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Monopoly Pricing and Output Decision</a:t>
            </a:r>
            <a:endParaRPr/>
          </a:p>
        </p:txBody>
      </p:sp>
      <p:sp>
        <p:nvSpPr>
          <p:cNvPr id="161" name="Google Shape;161;p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680"/>
              <a:buChar char="🞆"/>
            </a:pPr>
            <a:r>
              <a:rPr lang="en-US"/>
              <a:t>A monopolist is a PRICE SEARCHER.</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Price Searcher: A seller that has the ability to control to some degree the price of the product it sells. </a:t>
            </a:r>
            <a:endParaRPr/>
          </a:p>
          <a:p>
            <a:pPr indent="0" lvl="0" marL="0" rtl="0" algn="l">
              <a:spcBef>
                <a:spcPts val="600"/>
              </a:spcBef>
              <a:spcAft>
                <a:spcPts val="0"/>
              </a:spcAft>
              <a:buSzPts val="1680"/>
              <a:buNone/>
            </a:pPr>
            <a:r>
              <a:t/>
            </a:r>
            <a:endParaRPr/>
          </a:p>
          <a:p>
            <a:pPr indent="-274320" lvl="0" marL="274320" rtl="0" algn="l">
              <a:spcBef>
                <a:spcPts val="600"/>
              </a:spcBef>
              <a:spcAft>
                <a:spcPts val="0"/>
              </a:spcAft>
              <a:buSzPts val="1680"/>
              <a:buFont typeface="Noto Sans Symbols"/>
              <a:buChar char="🡺"/>
            </a:pPr>
            <a:r>
              <a:rPr lang="en-US"/>
              <a:t>Unlike the a Perfectly Competitive firm, it can raise price or lower prices and still sell the product.</a:t>
            </a:r>
            <a:endParaRPr/>
          </a:p>
          <a:p>
            <a:pPr indent="-274320" lvl="0" marL="274320" rtl="0" algn="l">
              <a:spcBef>
                <a:spcPts val="600"/>
              </a:spcBef>
              <a:spcAft>
                <a:spcPts val="0"/>
              </a:spcAft>
              <a:buSzPts val="1680"/>
              <a:buFont typeface="Noto Sans Symbols"/>
              <a:buChar char="🡺"/>
            </a:pPr>
            <a:r>
              <a:rPr lang="en-US"/>
              <a:t> This ability is determined by the demand curve it faces 🡺 which is also the market/industry demand curve 🡺 DOWNWARD SLOPING DEMAND CURVE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txBox="1"/>
          <p:nvPr>
            <p:ph type="title"/>
          </p:nvPr>
        </p:nvSpPr>
        <p:spPr>
          <a:xfrm>
            <a:off x="457200" y="274638"/>
            <a:ext cx="7467600" cy="9445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rPr lang="en-US"/>
              <a:t>The Monopolist’s Demand and Marginal Revenue Curve</a:t>
            </a:r>
            <a:endParaRPr/>
          </a:p>
        </p:txBody>
      </p:sp>
      <p:sp>
        <p:nvSpPr>
          <p:cNvPr id="167" name="Google Shape;167;p6"/>
          <p:cNvSpPr txBox="1"/>
          <p:nvPr>
            <p:ph idx="1" type="body"/>
          </p:nvPr>
        </p:nvSpPr>
        <p:spPr>
          <a:xfrm>
            <a:off x="457200" y="1371600"/>
            <a:ext cx="7467600" cy="53340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70000"/>
              <a:buChar char="🞆"/>
            </a:pPr>
            <a:r>
              <a:rPr lang="en-US"/>
              <a:t>In the theory of monopoly,  the monopoly firm is the industry and the industry is the monopoly firm.  They are the same</a:t>
            </a:r>
            <a:endParaRPr/>
          </a:p>
          <a:p>
            <a:pPr indent="-274320" lvl="0" marL="274320" rtl="0" algn="l">
              <a:lnSpc>
                <a:spcPct val="90000"/>
              </a:lnSpc>
              <a:spcBef>
                <a:spcPts val="600"/>
              </a:spcBef>
              <a:spcAft>
                <a:spcPts val="0"/>
              </a:spcAft>
              <a:buSzPct val="70000"/>
              <a:buChar char="🞆"/>
            </a:pPr>
            <a:r>
              <a:rPr lang="en-US"/>
              <a:t>Note that the price of the good being sold is greater than the marginal revenue.  </a:t>
            </a:r>
            <a:r>
              <a:rPr i="1" lang="en-US"/>
              <a:t>P</a:t>
            </a:r>
            <a:r>
              <a:rPr lang="en-US"/>
              <a:t>&gt;</a:t>
            </a:r>
            <a:r>
              <a:rPr i="1" lang="en-US"/>
              <a:t>MR</a:t>
            </a:r>
            <a:endParaRPr/>
          </a:p>
          <a:p>
            <a:pPr indent="-274320" lvl="0" marL="274320" rtl="0" algn="l">
              <a:lnSpc>
                <a:spcPct val="90000"/>
              </a:lnSpc>
              <a:spcBef>
                <a:spcPts val="600"/>
              </a:spcBef>
              <a:spcAft>
                <a:spcPts val="0"/>
              </a:spcAft>
              <a:buSzPct val="70000"/>
              <a:buChar char="🞆"/>
            </a:pPr>
            <a:r>
              <a:rPr lang="en-US"/>
              <a:t>To sell an additional unit of a good (per time period), the monopolist must lower price.</a:t>
            </a:r>
            <a:endParaRPr/>
          </a:p>
          <a:p>
            <a:pPr indent="-274320" lvl="0" marL="274320" rtl="0" algn="l">
              <a:lnSpc>
                <a:spcPct val="90000"/>
              </a:lnSpc>
              <a:spcBef>
                <a:spcPts val="600"/>
              </a:spcBef>
              <a:spcAft>
                <a:spcPts val="0"/>
              </a:spcAft>
              <a:buSzPct val="70000"/>
              <a:buChar char="🞆"/>
            </a:pPr>
            <a:r>
              <a:rPr lang="en-US"/>
              <a:t>The monopolist gains and loses by lowering price.</a:t>
            </a:r>
            <a:endParaRPr/>
          </a:p>
          <a:p>
            <a:pPr indent="-274320" lvl="0" marL="274320" rtl="0" algn="l">
              <a:lnSpc>
                <a:spcPct val="90000"/>
              </a:lnSpc>
              <a:spcBef>
                <a:spcPts val="600"/>
              </a:spcBef>
              <a:spcAft>
                <a:spcPts val="0"/>
              </a:spcAft>
              <a:buSzPct val="70000"/>
              <a:buChar char="🞆"/>
            </a:pPr>
            <a:r>
              <a:rPr lang="en-US"/>
              <a:t>The gain equals the price of the product times one.</a:t>
            </a:r>
            <a:endParaRPr/>
          </a:p>
          <a:p>
            <a:pPr indent="-274320" lvl="0" marL="274320" rtl="0" algn="l">
              <a:lnSpc>
                <a:spcPct val="90000"/>
              </a:lnSpc>
              <a:spcBef>
                <a:spcPts val="600"/>
              </a:spcBef>
              <a:spcAft>
                <a:spcPts val="0"/>
              </a:spcAft>
              <a:buSzPct val="70000"/>
              <a:buChar char="🞆"/>
            </a:pPr>
            <a:r>
              <a:rPr lang="en-US"/>
              <a:t>The loss equals the difference between the new lower price and the old higher price times the units of output sold before the price was lowered.</a:t>
            </a:r>
            <a:endParaRPr/>
          </a:p>
          <a:p>
            <a:pPr indent="-274320" lvl="0" marL="274320" rtl="0" algn="l">
              <a:lnSpc>
                <a:spcPct val="90000"/>
              </a:lnSpc>
              <a:spcBef>
                <a:spcPts val="600"/>
              </a:spcBef>
              <a:spcAft>
                <a:spcPts val="0"/>
              </a:spcAft>
              <a:buSzPct val="70000"/>
              <a:buChar char="🞆"/>
            </a:pPr>
            <a:r>
              <a:rPr lang="en-US"/>
              <a:t>Marginal revenue can be defined as revenue gained minus revenue lost</a:t>
            </a:r>
            <a:endParaRPr/>
          </a:p>
          <a:p>
            <a:pPr indent="-274320" lvl="0" marL="274320" rtl="0" algn="l">
              <a:lnSpc>
                <a:spcPct val="90000"/>
              </a:lnSpc>
              <a:spcBef>
                <a:spcPts val="600"/>
              </a:spcBef>
              <a:spcAft>
                <a:spcPts val="0"/>
              </a:spcAft>
              <a:buSzPct val="70000"/>
              <a:buChar char="🞆"/>
            </a:pPr>
            <a:r>
              <a:rPr i="1" lang="en-US"/>
              <a:t>P</a:t>
            </a:r>
            <a:r>
              <a:rPr lang="en-US"/>
              <a:t>=Revenue gained, </a:t>
            </a:r>
            <a:r>
              <a:rPr i="1" lang="en-US"/>
              <a:t>MR</a:t>
            </a:r>
            <a:r>
              <a:rPr lang="en-US"/>
              <a:t>=Revenue Gained – revenue lost, and revenue lost is &gt;0.  Therefore, </a:t>
            </a:r>
            <a:r>
              <a:rPr i="1" lang="en-US"/>
              <a:t>P</a:t>
            </a:r>
            <a:r>
              <a:rPr lang="en-US"/>
              <a:t>&gt;</a:t>
            </a:r>
            <a:r>
              <a:rPr i="1" lang="en-US"/>
              <a:t>MR</a:t>
            </a:r>
            <a:endParaRPr i="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idx="1" type="body"/>
          </p:nvPr>
        </p:nvSpPr>
        <p:spPr>
          <a:xfrm>
            <a:off x="457200" y="4495800"/>
            <a:ext cx="7696200" cy="197815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70000"/>
              <a:buNone/>
            </a:pPr>
            <a:r>
              <a:rPr lang="en-US"/>
              <a:t>To sell an additional unit of the good, a monopolist needs to lower price.  This price reduction both gains revenue and loses revenue for the monopolist.  In the exhibit, the revenue gained and revenue lost are shaded and labeled.  Marginal revenue is equal to the larger shaded area minus the smaller</a:t>
            </a:r>
            <a:endParaRPr/>
          </a:p>
        </p:txBody>
      </p:sp>
      <p:grpSp>
        <p:nvGrpSpPr>
          <p:cNvPr id="173" name="Google Shape;173;p7"/>
          <p:cNvGrpSpPr/>
          <p:nvPr/>
        </p:nvGrpSpPr>
        <p:grpSpPr>
          <a:xfrm>
            <a:off x="277089" y="211371"/>
            <a:ext cx="8081963" cy="4330700"/>
            <a:chOff x="354" y="1000"/>
            <a:chExt cx="4573" cy="2364"/>
          </a:xfrm>
        </p:grpSpPr>
        <p:sp>
          <p:nvSpPr>
            <p:cNvPr id="174" name="Google Shape;174;p7"/>
            <p:cNvSpPr/>
            <p:nvPr/>
          </p:nvSpPr>
          <p:spPr>
            <a:xfrm>
              <a:off x="354" y="1000"/>
              <a:ext cx="4573" cy="236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175" name="Google Shape;175;p7"/>
            <p:cNvSpPr txBox="1"/>
            <p:nvPr/>
          </p:nvSpPr>
          <p:spPr>
            <a:xfrm>
              <a:off x="606" y="2131"/>
              <a:ext cx="101" cy="2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D:\ESWORK\SWPUB\Arnold PPT\Art\Art Ch22\Ch23_Ex2.jpg" id="176" name="Google Shape;176;p7"/>
            <p:cNvPicPr preferRelativeResize="0"/>
            <p:nvPr/>
          </p:nvPicPr>
          <p:blipFill rotWithShape="1">
            <a:blip r:embed="rId3">
              <a:alphaModFix/>
            </a:blip>
            <a:srcRect b="0" l="0" r="0" t="0"/>
            <a:stretch/>
          </p:blipFill>
          <p:spPr>
            <a:xfrm>
              <a:off x="2766" y="1030"/>
              <a:ext cx="2117" cy="2293"/>
            </a:xfrm>
            <a:prstGeom prst="rect">
              <a:avLst/>
            </a:prstGeom>
            <a:noFill/>
            <a:ln>
              <a:noFill/>
            </a:ln>
          </p:spPr>
        </p:pic>
        <p:pic>
          <p:nvPicPr>
            <p:cNvPr descr="D:\ESWORK\SWPUB\Arnold PPT\Art\Art Ch23\Ch23 Ex2 Table.jpg" id="177" name="Google Shape;177;p7"/>
            <p:cNvPicPr preferRelativeResize="0"/>
            <p:nvPr/>
          </p:nvPicPr>
          <p:blipFill rotWithShape="1">
            <a:blip r:embed="rId4">
              <a:alphaModFix/>
            </a:blip>
            <a:srcRect b="0" l="0" r="0" t="0"/>
            <a:stretch/>
          </p:blipFill>
          <p:spPr>
            <a:xfrm>
              <a:off x="396" y="1040"/>
              <a:ext cx="2279" cy="73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rPr lang="en-US"/>
              <a:t>The Monopolist’s Demand and Marginal Revenue Curves are NOT Same</a:t>
            </a:r>
            <a:endParaRPr/>
          </a:p>
        </p:txBody>
      </p:sp>
      <p:sp>
        <p:nvSpPr>
          <p:cNvPr id="183" name="Google Shape;183;p8"/>
          <p:cNvSpPr txBox="1"/>
          <p:nvPr>
            <p:ph idx="1" type="body"/>
          </p:nvPr>
        </p:nvSpPr>
        <p:spPr>
          <a:xfrm>
            <a:off x="457200" y="1600200"/>
            <a:ext cx="77724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In Perfect Competition: P = MR</a:t>
            </a:r>
            <a:endParaRPr/>
          </a:p>
          <a:p>
            <a:pPr indent="-274320" lvl="0" marL="274320" rtl="0" algn="l">
              <a:spcBef>
                <a:spcPts val="600"/>
              </a:spcBef>
              <a:spcAft>
                <a:spcPts val="0"/>
              </a:spcAft>
              <a:buSzPts val="1680"/>
              <a:buChar char="🞆"/>
            </a:pPr>
            <a:r>
              <a:rPr lang="en-US"/>
              <a:t>In Monopoly: P &gt; MR</a:t>
            </a:r>
            <a:endParaRPr/>
          </a:p>
          <a:p>
            <a:pPr indent="-274320" lvl="0" marL="274320" rtl="0" algn="l">
              <a:spcBef>
                <a:spcPts val="600"/>
              </a:spcBef>
              <a:spcAft>
                <a:spcPts val="0"/>
              </a:spcAft>
              <a:buSzPts val="1680"/>
              <a:buChar char="🞆"/>
            </a:pPr>
            <a:r>
              <a:rPr lang="en-US"/>
              <a:t>Price is determined by Demand. So Demand Curve lies ABOVE MR curve. </a:t>
            </a:r>
            <a:endParaRPr/>
          </a:p>
          <a:p>
            <a:pPr indent="-274320" lvl="0" marL="274320" rtl="0" algn="l">
              <a:spcBef>
                <a:spcPts val="600"/>
              </a:spcBef>
              <a:spcAft>
                <a:spcPts val="0"/>
              </a:spcAft>
              <a:buSzPts val="1680"/>
              <a:buChar char="🞆"/>
            </a:pPr>
            <a:r>
              <a:rPr lang="en-US"/>
              <a:t>For first unit, P = MR, for second unit onwards, P &gt; MR</a:t>
            </a:r>
            <a:endParaRPr/>
          </a:p>
          <a:p>
            <a:pPr indent="0" lvl="0" marL="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Therefore: In monopoly, the firm’s demand curve is not the same as its marginal revenue curve.  The monopolist’s demand curve lies above its marginal revenue curve</a:t>
            </a:r>
            <a:endParaRPr/>
          </a:p>
          <a:p>
            <a:pPr indent="-167640" lvl="0" marL="274320" rtl="0" algn="l">
              <a:spcBef>
                <a:spcPts val="600"/>
              </a:spcBef>
              <a:spcAft>
                <a:spcPts val="0"/>
              </a:spcAft>
              <a:buSzPts val="168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rPr lang="en-US"/>
              <a:t>The Monopolist’s Demand and Marginal Revenue Curves are NOT Same</a:t>
            </a:r>
            <a:endParaRPr/>
          </a:p>
        </p:txBody>
      </p:sp>
      <p:grpSp>
        <p:nvGrpSpPr>
          <p:cNvPr id="189" name="Google Shape;189;p9"/>
          <p:cNvGrpSpPr/>
          <p:nvPr/>
        </p:nvGrpSpPr>
        <p:grpSpPr>
          <a:xfrm>
            <a:off x="1981200" y="1519777"/>
            <a:ext cx="4893232" cy="5181600"/>
            <a:chOff x="1663" y="1500"/>
            <a:chExt cx="1818" cy="1973"/>
          </a:xfrm>
        </p:grpSpPr>
        <p:sp>
          <p:nvSpPr>
            <p:cNvPr id="190" name="Google Shape;190;p9"/>
            <p:cNvSpPr/>
            <p:nvPr/>
          </p:nvSpPr>
          <p:spPr>
            <a:xfrm>
              <a:off x="1663" y="1500"/>
              <a:ext cx="1818" cy="197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pic>
          <p:nvPicPr>
            <p:cNvPr descr="D:\ESWORK\SWPUB\Arnold PPT\Art\Art Ch22\Ch23_Ex3.jpg" id="191" name="Google Shape;191;p9"/>
            <p:cNvPicPr preferRelativeResize="0"/>
            <p:nvPr/>
          </p:nvPicPr>
          <p:blipFill rotWithShape="1">
            <a:blip r:embed="rId3">
              <a:alphaModFix/>
            </a:blip>
            <a:srcRect b="0" l="0" r="0" t="0"/>
            <a:stretch/>
          </p:blipFill>
          <p:spPr>
            <a:xfrm>
              <a:off x="1726" y="1577"/>
              <a:ext cx="1689" cy="1839"/>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10626d8a769_0_0"/>
          <p:cNvSpPr txBox="1"/>
          <p:nvPr>
            <p:ph type="title"/>
          </p:nvPr>
        </p:nvSpPr>
        <p:spPr>
          <a:xfrm>
            <a:off x="457200" y="304800"/>
            <a:ext cx="7772400" cy="11127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Price and Output for a Profit-Maximizing Monopolist</a:t>
            </a:r>
            <a:endParaRPr/>
          </a:p>
        </p:txBody>
      </p:sp>
      <p:sp>
        <p:nvSpPr>
          <p:cNvPr id="198" name="Google Shape;198;g10626d8a769_0_0"/>
          <p:cNvSpPr txBox="1"/>
          <p:nvPr>
            <p:ph idx="1" type="body"/>
          </p:nvPr>
        </p:nvSpPr>
        <p:spPr>
          <a:xfrm>
            <a:off x="457200" y="1600200"/>
            <a:ext cx="7467600" cy="52578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680"/>
              <a:buChar char="🞆"/>
            </a:pPr>
            <a:r>
              <a:rPr lang="en-US"/>
              <a:t>Profit Maximizing Condition: MR = MC</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The monopolist that seeks to maximize profits produces the quantity of output at which </a:t>
            </a:r>
            <a:r>
              <a:rPr i="1" lang="en-US"/>
              <a:t>MR</a:t>
            </a:r>
            <a:r>
              <a:rPr lang="en-US"/>
              <a:t>=</a:t>
            </a:r>
            <a:r>
              <a:rPr i="1" lang="en-US"/>
              <a:t>MC</a:t>
            </a:r>
            <a:r>
              <a:rPr lang="en-US"/>
              <a:t> and charges the highest price per unit at which this quantity of output can be sold.</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A monopolists can also make profits and loses, after taking into consideration Average Total Costs.</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A monopolist can occur a loss if the highest possible price charged at MR = MC is less than the ATC at that point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grpSp>
        <p:nvGrpSpPr>
          <p:cNvPr id="204" name="Google Shape;204;g10626d8a769_0_6"/>
          <p:cNvGrpSpPr/>
          <p:nvPr/>
        </p:nvGrpSpPr>
        <p:grpSpPr>
          <a:xfrm>
            <a:off x="3657600" y="1219200"/>
            <a:ext cx="5327374" cy="5209924"/>
            <a:chOff x="1727" y="1200"/>
            <a:chExt cx="2400" cy="1870"/>
          </a:xfrm>
        </p:grpSpPr>
        <p:sp>
          <p:nvSpPr>
            <p:cNvPr id="205" name="Google Shape;205;g10626d8a769_0_6"/>
            <p:cNvSpPr/>
            <p:nvPr/>
          </p:nvSpPr>
          <p:spPr>
            <a:xfrm>
              <a:off x="1727" y="1200"/>
              <a:ext cx="2400" cy="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pic>
          <p:nvPicPr>
            <p:cNvPr descr="D:\ESWORK\SWPUB\Arnold PPT\Art\Art Ch23\arn17456_2304.jpg" id="206" name="Google Shape;206;g10626d8a769_0_6"/>
            <p:cNvPicPr preferRelativeResize="0"/>
            <p:nvPr/>
          </p:nvPicPr>
          <p:blipFill rotWithShape="1">
            <a:blip r:embed="rId3">
              <a:alphaModFix/>
            </a:blip>
            <a:srcRect b="0" l="0" r="0" t="0"/>
            <a:stretch/>
          </p:blipFill>
          <p:spPr>
            <a:xfrm>
              <a:off x="1784" y="1250"/>
              <a:ext cx="2192" cy="1820"/>
            </a:xfrm>
            <a:prstGeom prst="rect">
              <a:avLst/>
            </a:prstGeom>
            <a:noFill/>
            <a:ln>
              <a:noFill/>
            </a:ln>
          </p:spPr>
        </p:pic>
      </p:grpSp>
      <p:sp>
        <p:nvSpPr>
          <p:cNvPr id="207" name="Google Shape;207;g10626d8a769_0_6"/>
          <p:cNvSpPr txBox="1"/>
          <p:nvPr>
            <p:ph type="title"/>
          </p:nvPr>
        </p:nvSpPr>
        <p:spPr>
          <a:xfrm>
            <a:off x="0" y="228600"/>
            <a:ext cx="9144000" cy="914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rPr lang="en-US" sz="3200"/>
              <a:t>The Monopolist’s Profit-Maximizing Price and Quantity of Output</a:t>
            </a:r>
            <a:endParaRPr sz="3200"/>
          </a:p>
        </p:txBody>
      </p:sp>
      <p:sp>
        <p:nvSpPr>
          <p:cNvPr id="208" name="Google Shape;208;g10626d8a769_0_6"/>
          <p:cNvSpPr txBox="1"/>
          <p:nvPr>
            <p:ph idx="1" type="body"/>
          </p:nvPr>
        </p:nvSpPr>
        <p:spPr>
          <a:xfrm>
            <a:off x="228600" y="990600"/>
            <a:ext cx="3352800" cy="533400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lnSpc>
                <a:spcPct val="90000"/>
              </a:lnSpc>
              <a:spcBef>
                <a:spcPts val="0"/>
              </a:spcBef>
              <a:spcAft>
                <a:spcPts val="0"/>
              </a:spcAft>
              <a:buSzPct val="70000"/>
              <a:buFont typeface="Century Schoolbook"/>
              <a:buNone/>
            </a:pPr>
            <a:r>
              <a:rPr lang="en-US" sz="2800"/>
              <a:t>	</a:t>
            </a:r>
            <a:endParaRPr sz="2800"/>
          </a:p>
          <a:p>
            <a:pPr indent="-274320" lvl="0" marL="274320" rtl="0" algn="l">
              <a:lnSpc>
                <a:spcPct val="90000"/>
              </a:lnSpc>
              <a:spcBef>
                <a:spcPts val="600"/>
              </a:spcBef>
              <a:spcAft>
                <a:spcPts val="0"/>
              </a:spcAft>
              <a:buSzPct val="70000"/>
              <a:buFont typeface="Century Schoolbook"/>
              <a:buNone/>
            </a:pPr>
            <a:r>
              <a:t/>
            </a:r>
            <a:endParaRPr sz="2800"/>
          </a:p>
          <a:p>
            <a:pPr indent="-274320" lvl="0" marL="274320" rtl="0" algn="l">
              <a:lnSpc>
                <a:spcPct val="90000"/>
              </a:lnSpc>
              <a:spcBef>
                <a:spcPts val="600"/>
              </a:spcBef>
              <a:spcAft>
                <a:spcPts val="0"/>
              </a:spcAft>
              <a:buSzPct val="70000"/>
              <a:buFont typeface="Century Schoolbook"/>
              <a:buNone/>
            </a:pPr>
            <a:r>
              <a:rPr lang="en-US" sz="2800"/>
              <a:t>	The monopolist produces the quantity of output (</a:t>
            </a:r>
            <a:r>
              <a:rPr i="1" lang="en-US" sz="2800"/>
              <a:t>Q</a:t>
            </a:r>
            <a:r>
              <a:rPr baseline="-25000" lang="en-US" sz="2800"/>
              <a:t>1</a:t>
            </a:r>
            <a:r>
              <a:rPr lang="en-US" sz="2800"/>
              <a:t>) at which </a:t>
            </a:r>
            <a:r>
              <a:rPr i="1" lang="en-US" sz="2800"/>
              <a:t>MR</a:t>
            </a:r>
            <a:r>
              <a:rPr lang="en-US" sz="2800"/>
              <a:t>=</a:t>
            </a:r>
            <a:r>
              <a:rPr i="1" lang="en-US" sz="2800"/>
              <a:t>MC</a:t>
            </a:r>
            <a:r>
              <a:rPr lang="en-US" sz="2800"/>
              <a:t>, and charges the highest price per unit at which the quantity of output can be sold (</a:t>
            </a:r>
            <a:r>
              <a:rPr i="1" lang="en-US" sz="2800"/>
              <a:t>P</a:t>
            </a:r>
            <a:r>
              <a:rPr baseline="-25000" lang="en-US" sz="2800"/>
              <a:t>1</a:t>
            </a:r>
            <a:r>
              <a:rPr lang="en-US" sz="2800"/>
              <a:t>).  Notice that at the profit maximizing quantity of output, price is greater than marginal cost, </a:t>
            </a:r>
            <a:r>
              <a:rPr i="1" lang="en-US" sz="2800"/>
              <a:t>P</a:t>
            </a:r>
            <a:r>
              <a:rPr lang="en-US" sz="2800"/>
              <a:t>&gt;</a:t>
            </a:r>
            <a:r>
              <a:rPr i="1" lang="en-US" sz="2800"/>
              <a:t>MC</a:t>
            </a:r>
            <a:r>
              <a:rPr lang="en-US" sz="2800"/>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10626d8a769_0_1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If a Firm Maximizes Revenue, Does it Automatically Maximize Profit Too?</a:t>
            </a:r>
            <a:endParaRPr/>
          </a:p>
        </p:txBody>
      </p:sp>
      <p:sp>
        <p:nvSpPr>
          <p:cNvPr id="214" name="Google Shape;214;g10626d8a769_0_15"/>
          <p:cNvSpPr txBox="1"/>
          <p:nvPr>
            <p:ph idx="1" type="body"/>
          </p:nvPr>
        </p:nvSpPr>
        <p:spPr>
          <a:xfrm>
            <a:off x="457200" y="1600200"/>
            <a:ext cx="7848600" cy="487380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70000"/>
              <a:buChar char="🞆"/>
            </a:pPr>
            <a:r>
              <a:rPr lang="en-US"/>
              <a:t>Given TR = $100, TFC = $40, TVC = $20. What is the profit?</a:t>
            </a:r>
            <a:endParaRPr/>
          </a:p>
          <a:p>
            <a:pPr indent="-274320" lvl="0" marL="274320" rtl="0" algn="l">
              <a:spcBef>
                <a:spcPts val="600"/>
              </a:spcBef>
              <a:spcAft>
                <a:spcPts val="0"/>
              </a:spcAft>
              <a:buSzPct val="70000"/>
              <a:buChar char="🞆"/>
            </a:pPr>
            <a:r>
              <a:rPr lang="en-US"/>
              <a:t>Let one more unit of good is produced. TR increases to $105, TFC = $40, TVC = $30. What is the profit?</a:t>
            </a:r>
            <a:endParaRPr/>
          </a:p>
          <a:p>
            <a:pPr indent="-274320" lvl="0" marL="274320" rtl="0" algn="l">
              <a:spcBef>
                <a:spcPts val="600"/>
              </a:spcBef>
              <a:spcAft>
                <a:spcPts val="0"/>
              </a:spcAft>
              <a:buSzPct val="70000"/>
              <a:buChar char="🞆"/>
            </a:pPr>
            <a:r>
              <a:rPr lang="en-US"/>
              <a:t>Has profit risen or fallen?</a:t>
            </a:r>
            <a:endParaRPr/>
          </a:p>
          <a:p>
            <a:pPr indent="-175641" lvl="0" marL="274320" rtl="0" algn="l">
              <a:spcBef>
                <a:spcPts val="600"/>
              </a:spcBef>
              <a:spcAft>
                <a:spcPts val="0"/>
              </a:spcAft>
              <a:buSzPct val="70000"/>
              <a:buNone/>
            </a:pPr>
            <a:r>
              <a:t/>
            </a:r>
            <a:endParaRPr/>
          </a:p>
          <a:p>
            <a:pPr indent="-274320" lvl="0" marL="274320" rtl="0" algn="l">
              <a:spcBef>
                <a:spcPts val="600"/>
              </a:spcBef>
              <a:spcAft>
                <a:spcPts val="0"/>
              </a:spcAft>
              <a:buSzPct val="70000"/>
              <a:buChar char="🞆"/>
            </a:pPr>
            <a:r>
              <a:rPr lang="en-US"/>
              <a:t>Let one more unit of good is produced. TR increases to $105, TFC = $40, TVC = 0 [in both cases]. What is the profit?</a:t>
            </a:r>
            <a:endParaRPr/>
          </a:p>
          <a:p>
            <a:pPr indent="-175641" lvl="0" marL="274320" rtl="0" algn="l">
              <a:spcBef>
                <a:spcPts val="600"/>
              </a:spcBef>
              <a:spcAft>
                <a:spcPts val="0"/>
              </a:spcAft>
              <a:buSzPct val="70000"/>
              <a:buNone/>
            </a:pPr>
            <a:r>
              <a:t/>
            </a:r>
            <a:endParaRPr/>
          </a:p>
          <a:p>
            <a:pPr indent="-274320" lvl="0" marL="274320" rtl="0" algn="l">
              <a:spcBef>
                <a:spcPts val="600"/>
              </a:spcBef>
              <a:spcAft>
                <a:spcPts val="0"/>
              </a:spcAft>
              <a:buSzPct val="70000"/>
              <a:buChar char="🞆"/>
            </a:pPr>
            <a:r>
              <a:rPr lang="en-US"/>
              <a:t>Conclusion: Maximizing revenues is the same as maximizing profits only when a firm has no variable costs.  It is unlikely, though, that a firm will be without variable costs.</a:t>
            </a:r>
            <a:endParaRPr/>
          </a:p>
          <a:p>
            <a:pPr indent="-175641" lvl="0" marL="274320" rtl="0" algn="l">
              <a:spcBef>
                <a:spcPts val="600"/>
              </a:spcBef>
              <a:spcAft>
                <a:spcPts val="0"/>
              </a:spcAft>
              <a:buSzPct val="7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User</dc:creator>
</cp:coreProperties>
</file>
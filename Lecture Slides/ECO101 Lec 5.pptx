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5C0F5C-7ECB-49BE-AD06-D201FF3F8A1D}" type="datetimeFigureOut">
              <a:rPr lang="en-AU" smtClean="0"/>
              <a:t>28/09/2014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D6EBED-DD93-48A3-BD51-49AA88E2302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7605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6EBED-DD93-48A3-BD51-49AA88E2302C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2431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9/28/2014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9/28/2014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9/28/2014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9/28/2014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9/28/2014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9/28/2014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9/28/2014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SUPPLY AND DEMAND THEORY (PART 1)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DEMAND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67592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What is Demand?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 smtClean="0"/>
              <a:t>Demand: The willingness and ability of buyers to purchase different quantities of a good at different prices during a specific time period.</a:t>
            </a:r>
          </a:p>
          <a:p>
            <a:endParaRPr lang="en-AU" dirty="0"/>
          </a:p>
          <a:p>
            <a:r>
              <a:rPr lang="en-AU" dirty="0" smtClean="0"/>
              <a:t>I may demand that I will pay $4 for each magazine, and buy 10 magazines in a month</a:t>
            </a:r>
          </a:p>
          <a:p>
            <a:r>
              <a:rPr lang="en-AU" dirty="0" smtClean="0"/>
              <a:t>Or I may </a:t>
            </a:r>
            <a:r>
              <a:rPr lang="en-AU" dirty="0"/>
              <a:t>demand that I will pay </a:t>
            </a:r>
            <a:r>
              <a:rPr lang="en-AU" dirty="0" smtClean="0"/>
              <a:t>$3 </a:t>
            </a:r>
            <a:r>
              <a:rPr lang="en-AU" dirty="0"/>
              <a:t>for each magazine, and buy </a:t>
            </a:r>
            <a:r>
              <a:rPr lang="en-AU" dirty="0" smtClean="0"/>
              <a:t>15 </a:t>
            </a:r>
            <a:r>
              <a:rPr lang="en-AU" dirty="0"/>
              <a:t>magazines in a </a:t>
            </a:r>
            <a:r>
              <a:rPr lang="en-AU" dirty="0" smtClean="0"/>
              <a:t>month</a:t>
            </a:r>
          </a:p>
          <a:p>
            <a:endParaRPr lang="en-AU" dirty="0"/>
          </a:p>
          <a:p>
            <a:r>
              <a:rPr lang="en-AU" dirty="0" smtClean="0"/>
              <a:t>In both cases if I am willing to buy, but I don’t have the money to buy, am I a buyer?</a:t>
            </a:r>
          </a:p>
          <a:p>
            <a:r>
              <a:rPr lang="en-AU" dirty="0"/>
              <a:t>In both cases if I </a:t>
            </a:r>
            <a:r>
              <a:rPr lang="en-AU" dirty="0" smtClean="0"/>
              <a:t>have money to buy, </a:t>
            </a:r>
            <a:r>
              <a:rPr lang="en-AU" dirty="0"/>
              <a:t>but I don’t </a:t>
            </a:r>
            <a:r>
              <a:rPr lang="en-AU" dirty="0" smtClean="0"/>
              <a:t>feel like buying, am </a:t>
            </a:r>
            <a:r>
              <a:rPr lang="en-AU" dirty="0"/>
              <a:t>I a buyer?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99959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The Law of Demand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 smtClean="0"/>
              <a:t>The </a:t>
            </a:r>
            <a:r>
              <a:rPr lang="en-AU" b="1" dirty="0" smtClean="0"/>
              <a:t>Law of Demand </a:t>
            </a:r>
            <a:r>
              <a:rPr lang="en-AU" dirty="0" smtClean="0"/>
              <a:t>states that as the price of a goods rises, the quantity demand of the good falls, and as the price of a good falls, the quantity demanded of the good rises, ceteris paribus.</a:t>
            </a:r>
          </a:p>
          <a:p>
            <a:endParaRPr lang="en-AU" dirty="0"/>
          </a:p>
          <a:p>
            <a:r>
              <a:rPr lang="en-AU" dirty="0" smtClean="0"/>
              <a:t>In other words, the law of demand states that the price of a good and the quantity demanded of the good are inversely related, ceteris paribus. </a:t>
            </a:r>
          </a:p>
          <a:p>
            <a:pPr>
              <a:buFont typeface="Wingdings"/>
              <a:buChar char="è"/>
            </a:pPr>
            <a:r>
              <a:rPr lang="en-AU" dirty="0" smtClean="0">
                <a:sym typeface="Wingdings" panose="05000000000000000000" pitchFamily="2" charset="2"/>
              </a:rPr>
              <a:t>What does this imply about the slope of the demand curve?</a:t>
            </a:r>
          </a:p>
          <a:p>
            <a:endParaRPr lang="en-AU" dirty="0" smtClean="0">
              <a:sym typeface="Wingdings" panose="05000000000000000000" pitchFamily="2" charset="2"/>
            </a:endParaRPr>
          </a:p>
          <a:p>
            <a:r>
              <a:rPr lang="en-AU" dirty="0" smtClean="0">
                <a:sym typeface="Wingdings" panose="05000000000000000000" pitchFamily="2" charset="2"/>
              </a:rPr>
              <a:t>Do the terms quantity demand and demand mean the same thing?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40795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The law of Demand (</a:t>
            </a:r>
            <a:r>
              <a:rPr lang="en-AU" dirty="0" err="1" smtClean="0"/>
              <a:t>Cont</a:t>
            </a:r>
            <a:r>
              <a:rPr lang="en-AU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AU" dirty="0" smtClean="0"/>
              <a:t>Ceteris Paribus: A Latin term meaning “all other things constant” or “nothing else changes”.</a:t>
            </a:r>
          </a:p>
          <a:p>
            <a:endParaRPr lang="en-AU" dirty="0"/>
          </a:p>
          <a:p>
            <a:r>
              <a:rPr lang="en-AU" dirty="0" smtClean="0"/>
              <a:t>Four ways to Represent Law of Demand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 smtClean="0"/>
              <a:t>In words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 smtClean="0"/>
              <a:t>In symbols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 smtClean="0"/>
              <a:t>In a demand schedule. 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 smtClean="0"/>
              <a:t>As a demand curve.</a:t>
            </a:r>
          </a:p>
          <a:p>
            <a:pPr marL="0" indent="0">
              <a:buNone/>
            </a:pPr>
            <a:endParaRPr lang="en-AU" dirty="0"/>
          </a:p>
          <a:p>
            <a:r>
              <a:rPr lang="en-AU" dirty="0" smtClean="0"/>
              <a:t>Definition of a Demand Curve: A downward-sloping demand curve is a graphical representation of the inverse relationship between price and quantity demanded, specified by law of demand.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373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Can you Plot This?</a:t>
            </a: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752600"/>
            <a:ext cx="5757863" cy="2862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09600" y="4800600"/>
            <a:ext cx="7391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 smtClean="0"/>
              <a:t>What do we know about the slope? Is it upward sloping or downward sloping?</a:t>
            </a:r>
          </a:p>
          <a:p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 smtClean="0"/>
              <a:t>What do we know about the linearity of the line? Straight line or curve?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6076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Exhibit 1  Demand </a:t>
            </a:r>
            <a:r>
              <a:rPr lang="en-AU" dirty="0"/>
              <a:t>Schedule and Demand </a:t>
            </a:r>
            <a:r>
              <a:rPr lang="en-AU" dirty="0" smtClean="0"/>
              <a:t>Curve</a:t>
            </a:r>
            <a:endParaRPr lang="en-AU" dirty="0"/>
          </a:p>
        </p:txBody>
      </p:sp>
      <p:grpSp>
        <p:nvGrpSpPr>
          <p:cNvPr id="4" name="Group 28"/>
          <p:cNvGrpSpPr>
            <a:grpSpLocks/>
          </p:cNvGrpSpPr>
          <p:nvPr/>
        </p:nvGrpSpPr>
        <p:grpSpPr bwMode="auto">
          <a:xfrm>
            <a:off x="195697" y="1993106"/>
            <a:ext cx="8304068" cy="3665538"/>
            <a:chOff x="132" y="916"/>
            <a:chExt cx="5486" cy="2309"/>
          </a:xfrm>
        </p:grpSpPr>
        <p:sp>
          <p:nvSpPr>
            <p:cNvPr id="5" name="Rectangle 18"/>
            <p:cNvSpPr>
              <a:spLocks noChangeArrowheads="1"/>
            </p:cNvSpPr>
            <p:nvPr/>
          </p:nvSpPr>
          <p:spPr bwMode="auto">
            <a:xfrm>
              <a:off x="132" y="916"/>
              <a:ext cx="5486" cy="230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6" name="Text Box 20"/>
            <p:cNvSpPr txBox="1">
              <a:spLocks noChangeArrowheads="1"/>
            </p:cNvSpPr>
            <p:nvPr/>
          </p:nvSpPr>
          <p:spPr bwMode="auto">
            <a:xfrm>
              <a:off x="1676" y="2604"/>
              <a:ext cx="25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(a)</a:t>
              </a:r>
            </a:p>
          </p:txBody>
        </p:sp>
        <p:sp>
          <p:nvSpPr>
            <p:cNvPr id="7" name="Text Box 22"/>
            <p:cNvSpPr txBox="1">
              <a:spLocks noChangeArrowheads="1"/>
            </p:cNvSpPr>
            <p:nvPr/>
          </p:nvSpPr>
          <p:spPr bwMode="auto">
            <a:xfrm>
              <a:off x="4592" y="3031"/>
              <a:ext cx="25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(b)</a:t>
              </a:r>
            </a:p>
          </p:txBody>
        </p:sp>
        <p:pic>
          <p:nvPicPr>
            <p:cNvPr id="8" name="Picture 25" descr="D:\ESWORK\SWPUB\Arnold PPT\Art\Art Ch03\arn17456_030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59" y="1026"/>
              <a:ext cx="1970" cy="19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27" descr="D:\ESWORK\SWPUB\Arnold PPT\Art\Art Ch03\Ch03 Exhibit 1 table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" y="997"/>
              <a:ext cx="3136" cy="14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69406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Two Prices: Absolute and Relative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AU" dirty="0" smtClean="0"/>
              <a:t>It provides a way of identifying and putting a number on opportunity costs.</a:t>
            </a:r>
          </a:p>
          <a:p>
            <a:endParaRPr lang="en-AU" dirty="0"/>
          </a:p>
          <a:p>
            <a:r>
              <a:rPr lang="en-AU" dirty="0" smtClean="0"/>
              <a:t>Absolute Price: The price of a good in money terms. Example: Let the absolute price of a car be $30,000 and the absolute price of a computer be $2000.</a:t>
            </a:r>
          </a:p>
          <a:p>
            <a:endParaRPr lang="en-AU" dirty="0"/>
          </a:p>
          <a:p>
            <a:r>
              <a:rPr lang="en-AU" dirty="0" smtClean="0"/>
              <a:t>Relative Price: The price of a good in terms of another good.</a:t>
            </a:r>
          </a:p>
          <a:p>
            <a:endParaRPr lang="en-AU" dirty="0"/>
          </a:p>
          <a:p>
            <a:r>
              <a:rPr lang="en-AU" dirty="0" smtClean="0"/>
              <a:t>Why is the relative price? Can we interpret this?</a:t>
            </a:r>
          </a:p>
          <a:p>
            <a:r>
              <a:rPr lang="en-AU" dirty="0" smtClean="0"/>
              <a:t>What happens to the relative price of a good when absolute prices increases and ceteris paribus?</a:t>
            </a:r>
          </a:p>
        </p:txBody>
      </p:sp>
    </p:spTree>
    <p:extLst>
      <p:ext uri="{BB962C8B-B14F-4D97-AF65-F5344CB8AC3E}">
        <p14:creationId xmlns:p14="http://schemas.microsoft.com/office/powerpoint/2010/main" val="665967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Why does Quantity Demanded Go Down as Price Goes Up?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AU" dirty="0" smtClean="0"/>
              <a:t>We know that they are inversely related. Do we know WHY this is so?</a:t>
            </a:r>
          </a:p>
          <a:p>
            <a:pPr marL="0" indent="0">
              <a:buNone/>
            </a:pPr>
            <a:endParaRPr lang="en-AU" dirty="0" smtClean="0"/>
          </a:p>
          <a:p>
            <a:r>
              <a:rPr lang="en-AU" dirty="0" smtClean="0"/>
              <a:t>There are two reasons: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 smtClean="0"/>
              <a:t>People substitute lower priced goods for higher priced goods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 smtClean="0"/>
              <a:t>Law of Diminishing Marginal Returns: For a given time period, the marginal (additional) utility or satisfaction gained by consuming equal successive units will decline as the amount consumed increases.</a:t>
            </a:r>
          </a:p>
          <a:p>
            <a:pPr marL="457200" indent="-457200">
              <a:buFont typeface="+mj-lt"/>
              <a:buAutoNum type="arabicPeriod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48364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Individual Demand Curve and Market Demand Curve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AU" b="1" dirty="0" smtClean="0"/>
              <a:t>Individual Demand Curve</a:t>
            </a:r>
            <a:r>
              <a:rPr lang="en-AU" dirty="0" smtClean="0"/>
              <a:t>: It represents the price-quantity combinations of a particular good for a SINGLE buyer.</a:t>
            </a:r>
          </a:p>
          <a:p>
            <a:endParaRPr lang="en-AU" dirty="0"/>
          </a:p>
          <a:p>
            <a:r>
              <a:rPr lang="en-AU" b="1" dirty="0" smtClean="0"/>
              <a:t>Market Demand Curve</a:t>
            </a:r>
            <a:r>
              <a:rPr lang="en-AU" dirty="0" smtClean="0"/>
              <a:t>: </a:t>
            </a:r>
            <a:r>
              <a:rPr lang="en-AU" dirty="0"/>
              <a:t>It represents the price-quantity combinations of a particular good </a:t>
            </a:r>
            <a:r>
              <a:rPr lang="en-AU" dirty="0" smtClean="0"/>
              <a:t>for ALL buyers. </a:t>
            </a:r>
          </a:p>
          <a:p>
            <a:endParaRPr lang="en-AU" dirty="0"/>
          </a:p>
          <a:p>
            <a:r>
              <a:rPr lang="en-AU" dirty="0" smtClean="0"/>
              <a:t>A </a:t>
            </a:r>
            <a:r>
              <a:rPr lang="en-AU" b="1" dirty="0" smtClean="0"/>
              <a:t>Market demand curve </a:t>
            </a:r>
            <a:r>
              <a:rPr lang="en-AU" dirty="0" smtClean="0"/>
              <a:t>is derived by “adding up” individual demand curves.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92579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>
            <a:noAutofit/>
          </a:bodyPr>
          <a:lstStyle/>
          <a:p>
            <a:r>
              <a:rPr lang="en-AU" sz="2000" dirty="0"/>
              <a:t>Exhibit </a:t>
            </a:r>
            <a:r>
              <a:rPr lang="en-AU" sz="2000" dirty="0" smtClean="0"/>
              <a:t>2 	Deriving </a:t>
            </a:r>
            <a:r>
              <a:rPr lang="en-AU" sz="2000" dirty="0"/>
              <a:t>a Market Demand Schedule and </a:t>
            </a:r>
            <a:br>
              <a:rPr lang="en-AU" sz="2000" dirty="0"/>
            </a:br>
            <a:r>
              <a:rPr lang="en-AU" sz="2000" dirty="0"/>
              <a:t>a Market Demand </a:t>
            </a:r>
            <a:r>
              <a:rPr lang="en-AU" sz="2000" dirty="0" smtClean="0"/>
              <a:t>Curve</a:t>
            </a:r>
            <a:endParaRPr lang="en-AU" sz="2000" dirty="0"/>
          </a:p>
        </p:txBody>
      </p: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298450" y="1173163"/>
            <a:ext cx="8467725" cy="5543550"/>
            <a:chOff x="188" y="739"/>
            <a:chExt cx="5334" cy="3492"/>
          </a:xfrm>
        </p:grpSpPr>
        <p:sp>
          <p:nvSpPr>
            <p:cNvPr id="5" name="Rectangle 6"/>
            <p:cNvSpPr>
              <a:spLocks noChangeArrowheads="1"/>
            </p:cNvSpPr>
            <p:nvPr/>
          </p:nvSpPr>
          <p:spPr bwMode="auto">
            <a:xfrm>
              <a:off x="188" y="1008"/>
              <a:ext cx="5334" cy="32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pic>
          <p:nvPicPr>
            <p:cNvPr id="6" name="Picture 5" descr="D:\ESWORK\SWPUB\Arnold PPT\Art\Art Ch03\Ch03 Exhibit 2 table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" y="739"/>
              <a:ext cx="4364" cy="11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10" descr="D:\ESWORK\SWPUB\Arnold PPT\Art\Art Ch03\arn17456_0302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5" y="2157"/>
              <a:ext cx="5171" cy="16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2760" y="3698"/>
              <a:ext cx="25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(b)</a:t>
              </a:r>
              <a:endParaRPr lang="en-US" altLang="en-US" sz="2400" b="0"/>
            </a:p>
          </p:txBody>
        </p:sp>
        <p:sp>
          <p:nvSpPr>
            <p:cNvPr id="9" name="Text Box 7"/>
            <p:cNvSpPr txBox="1">
              <a:spLocks noChangeArrowheads="1"/>
            </p:cNvSpPr>
            <p:nvPr/>
          </p:nvSpPr>
          <p:spPr bwMode="auto">
            <a:xfrm>
              <a:off x="2760" y="1874"/>
              <a:ext cx="25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(a)</a:t>
              </a:r>
              <a:endParaRPr lang="en-US" altLang="en-US" sz="2400" b="0" dirty="0"/>
            </a:p>
          </p:txBody>
        </p:sp>
      </p:grpSp>
    </p:spTree>
    <p:extLst>
      <p:ext uri="{BB962C8B-B14F-4D97-AF65-F5344CB8AC3E}">
        <p14:creationId xmlns:p14="http://schemas.microsoft.com/office/powerpoint/2010/main" val="41185029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Lets Do Try the First two Lines to find and draw Market Demand</a:t>
            </a:r>
            <a:endParaRPr lang="en-A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000" y="1905000"/>
            <a:ext cx="8028199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85800" y="4953000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Draw the market demand curve.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6553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 Change in Quantity Demanded Vs a Change in Demand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572000" cy="510540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AU" dirty="0" smtClean="0"/>
              <a:t>CHANGE IN QUANTITY DEMANDED:</a:t>
            </a:r>
          </a:p>
          <a:p>
            <a:r>
              <a:rPr lang="en-AU" dirty="0" smtClean="0"/>
              <a:t>Say demand falls from 20 units to 10 units because price increased from $3 to $4.</a:t>
            </a:r>
          </a:p>
          <a:p>
            <a:r>
              <a:rPr lang="en-AU" dirty="0" smtClean="0"/>
              <a:t>Is this a change in quantity demanded or change in demand?</a:t>
            </a:r>
          </a:p>
          <a:p>
            <a:r>
              <a:rPr lang="en-AU" dirty="0" smtClean="0"/>
              <a:t>A movement from one point to another point on the same demand curve caused by a change in the price of the goods </a:t>
            </a:r>
            <a:r>
              <a:rPr lang="en-AU" dirty="0" smtClean="0">
                <a:sym typeface="Wingdings" panose="05000000000000000000" pitchFamily="2" charset="2"/>
              </a:rPr>
              <a:t> Change in quantity demanded</a:t>
            </a:r>
            <a:endParaRPr lang="en-AU" dirty="0" smtClean="0"/>
          </a:p>
          <a:p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1143000"/>
            <a:ext cx="36576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219323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Change in Demand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AU" dirty="0" smtClean="0"/>
              <a:t>Demand is represented by the entire curve. Therefore, if there is a change in demand </a:t>
            </a:r>
            <a:r>
              <a:rPr lang="en-AU" dirty="0" smtClean="0">
                <a:sym typeface="Wingdings" panose="05000000000000000000" pitchFamily="2" charset="2"/>
              </a:rPr>
              <a:t> shift in the entire curve. </a:t>
            </a:r>
          </a:p>
          <a:p>
            <a:endParaRPr lang="en-AU" dirty="0">
              <a:sym typeface="Wingdings" panose="05000000000000000000" pitchFamily="2" charset="2"/>
            </a:endParaRPr>
          </a:p>
          <a:p>
            <a:r>
              <a:rPr lang="en-AU" dirty="0" smtClean="0">
                <a:sym typeface="Wingdings" panose="05000000000000000000" pitchFamily="2" charset="2"/>
              </a:rPr>
              <a:t>Demand can increase or decrease. Look at the following schedule:</a:t>
            </a:r>
          </a:p>
          <a:p>
            <a:pPr marL="0" indent="0">
              <a:buNone/>
            </a:pPr>
            <a:r>
              <a:rPr lang="en-AU" b="1" dirty="0">
                <a:solidFill>
                  <a:srgbClr val="FFFFFF"/>
                </a:solidFill>
              </a:rPr>
              <a:t>Price</a:t>
            </a:r>
            <a:endParaRPr lang="en-AU" dirty="0">
              <a:latin typeface="Arial"/>
            </a:endParaRPr>
          </a:p>
          <a:p>
            <a:pPr marL="0" indent="0">
              <a:buNone/>
            </a:pPr>
            <a:endParaRPr lang="en-AU" dirty="0" smtClean="0">
              <a:sym typeface="Wingdings" panose="05000000000000000000" pitchFamily="2" charset="2"/>
            </a:endParaRPr>
          </a:p>
          <a:p>
            <a:endParaRPr lang="en-AU" dirty="0">
              <a:sym typeface="Wingdings" panose="05000000000000000000" pitchFamily="2" charset="2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7445737"/>
              </p:ext>
            </p:extLst>
          </p:nvPr>
        </p:nvGraphicFramePr>
        <p:xfrm>
          <a:off x="1219200" y="4343400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Price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Quantity Demanded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20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500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15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600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10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700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800</a:t>
                      </a:r>
                      <a:endParaRPr lang="en-AU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87087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Increase in Demand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 smtClean="0"/>
              <a:t>In means that individuals are willing and able to buy more units of the good at each and every price.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Let’s plot this.</a:t>
            </a:r>
          </a:p>
          <a:p>
            <a:r>
              <a:rPr lang="en-AU" dirty="0" smtClean="0"/>
              <a:t>Which way does the curve shift?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6578752"/>
              </p:ext>
            </p:extLst>
          </p:nvPr>
        </p:nvGraphicFramePr>
        <p:xfrm>
          <a:off x="838200" y="2819400"/>
          <a:ext cx="6096000" cy="239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Price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Quantity Demanded (old)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 smtClean="0"/>
                        <a:t>Quantity Demanded (new)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20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500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600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15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600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700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10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700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800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800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900</a:t>
                      </a:r>
                      <a:endParaRPr lang="en-AU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7612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Decrease in Demand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In means that individuals are willing and able to buy </a:t>
            </a:r>
            <a:r>
              <a:rPr lang="en-AU" dirty="0" smtClean="0"/>
              <a:t>less </a:t>
            </a:r>
            <a:r>
              <a:rPr lang="en-AU" dirty="0"/>
              <a:t>units of the good at each and every price.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Let’s plot this.</a:t>
            </a:r>
          </a:p>
          <a:p>
            <a:r>
              <a:rPr lang="en-AU" dirty="0"/>
              <a:t>Which way does the curve shift?</a:t>
            </a:r>
          </a:p>
          <a:p>
            <a:endParaRPr lang="en-AU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4188879"/>
              </p:ext>
            </p:extLst>
          </p:nvPr>
        </p:nvGraphicFramePr>
        <p:xfrm>
          <a:off x="1066800" y="2590800"/>
          <a:ext cx="6096000" cy="239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Price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Quantity Demanded (old)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 smtClean="0"/>
                        <a:t>Quantity Demanded (new)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20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500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400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15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600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500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10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700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600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800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700</a:t>
                      </a:r>
                      <a:endParaRPr lang="en-AU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50866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/>
              <a:t>Shifts in the Demand </a:t>
            </a:r>
            <a:r>
              <a:rPr lang="en-US" altLang="en-US" sz="3200" dirty="0" smtClean="0"/>
              <a:t>Curve</a:t>
            </a:r>
            <a:endParaRPr lang="en-AU" dirty="0"/>
          </a:p>
        </p:txBody>
      </p:sp>
      <p:grpSp>
        <p:nvGrpSpPr>
          <p:cNvPr id="4" name="Group 8"/>
          <p:cNvGrpSpPr>
            <a:grpSpLocks/>
          </p:cNvGrpSpPr>
          <p:nvPr/>
        </p:nvGrpSpPr>
        <p:grpSpPr bwMode="auto">
          <a:xfrm>
            <a:off x="208339" y="1828800"/>
            <a:ext cx="8520113" cy="3819525"/>
            <a:chOff x="491" y="1350"/>
            <a:chExt cx="4593" cy="2059"/>
          </a:xfrm>
        </p:grpSpPr>
        <p:sp>
          <p:nvSpPr>
            <p:cNvPr id="5" name="Rectangle 7"/>
            <p:cNvSpPr>
              <a:spLocks noChangeArrowheads="1"/>
            </p:cNvSpPr>
            <p:nvPr/>
          </p:nvSpPr>
          <p:spPr bwMode="auto">
            <a:xfrm>
              <a:off x="491" y="1350"/>
              <a:ext cx="4593" cy="20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AU" altLang="en-US"/>
            </a:p>
          </p:txBody>
        </p:sp>
        <p:pic>
          <p:nvPicPr>
            <p:cNvPr id="6" name="Picture 6" descr="D:\ESWORK\SWPUB\Arnold PPT\Art\Art Ch03\arn17456_0303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0" y="1415"/>
              <a:ext cx="4462" cy="19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2971137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What Factors Cause the Demand Curve to Shift?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AU" dirty="0" smtClean="0"/>
              <a:t>Income </a:t>
            </a:r>
          </a:p>
          <a:p>
            <a:pPr marL="457200" indent="-457200">
              <a:buAutoNum type="arabicPeriod"/>
            </a:pPr>
            <a:r>
              <a:rPr lang="en-AU" dirty="0" smtClean="0"/>
              <a:t>Preferences</a:t>
            </a:r>
          </a:p>
          <a:p>
            <a:pPr marL="457200" indent="-457200">
              <a:buAutoNum type="arabicPeriod"/>
            </a:pPr>
            <a:r>
              <a:rPr lang="en-AU" dirty="0" smtClean="0"/>
              <a:t>Prices of Related Goods</a:t>
            </a:r>
          </a:p>
          <a:p>
            <a:pPr marL="457200" indent="-457200">
              <a:buAutoNum type="arabicPeriod"/>
            </a:pPr>
            <a:r>
              <a:rPr lang="en-AU" dirty="0" smtClean="0"/>
              <a:t>Number of Buyers</a:t>
            </a:r>
          </a:p>
          <a:p>
            <a:pPr marL="457200" indent="-457200">
              <a:buAutoNum type="arabicPeriod"/>
            </a:pPr>
            <a:r>
              <a:rPr lang="en-AU" dirty="0" smtClean="0"/>
              <a:t>Expectations of Future Prices</a:t>
            </a:r>
          </a:p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r>
              <a:rPr lang="en-AU" dirty="0" smtClean="0"/>
              <a:t>Lets look at how each affect demand…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857045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Factors Cause the Demand Curve to Shift</a:t>
            </a:r>
            <a:r>
              <a:rPr lang="en-AU" dirty="0" smtClean="0"/>
              <a:t>? (CONT)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dirty="0" smtClean="0"/>
              <a:t>INCOME: As a person’s income changes (increases or decreases), his or her demand for a particular good may rise, fall or remain constant.</a:t>
            </a:r>
          </a:p>
          <a:p>
            <a:pPr marL="0" indent="0">
              <a:buNone/>
            </a:pPr>
            <a:endParaRPr lang="en-AU" dirty="0"/>
          </a:p>
          <a:p>
            <a:r>
              <a:rPr lang="en-AU" dirty="0" smtClean="0"/>
              <a:t>Normal Good: A good the demand for which rises (falls), as income rises (falls). Example? </a:t>
            </a:r>
          </a:p>
          <a:p>
            <a:endParaRPr lang="en-AU" dirty="0"/>
          </a:p>
          <a:p>
            <a:r>
              <a:rPr lang="en-AU" dirty="0" smtClean="0"/>
              <a:t>Inferior Good: A good the demand for which falls (rises), </a:t>
            </a:r>
            <a:r>
              <a:rPr lang="en-AU" dirty="0"/>
              <a:t>as income rises (falls). Example? </a:t>
            </a:r>
          </a:p>
          <a:p>
            <a:endParaRPr lang="en-AU" dirty="0" smtClean="0"/>
          </a:p>
          <a:p>
            <a:r>
              <a:rPr lang="en-AU" dirty="0" smtClean="0"/>
              <a:t>Neutral Good: A good the demand for does not change as income rises or falls. Example?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555820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Factors Cause the Demand Curve to Shift? (CONT)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PREFERENCES: People’s preferences affect the amount of a good they are willing to buy at a particular price</a:t>
            </a:r>
          </a:p>
          <a:p>
            <a:pPr marL="0" indent="0">
              <a:buNone/>
            </a:pPr>
            <a:endParaRPr lang="en-AU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AU" dirty="0" smtClean="0">
                <a:sym typeface="Wingdings" panose="05000000000000000000" pitchFamily="2" charset="2"/>
              </a:rPr>
              <a:t>A change in preference AWAY from a good (example: NORMAL JEANS)  Demand Fall  Demand shifts LEFT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AU" dirty="0" smtClean="0">
                <a:sym typeface="Wingdings" panose="05000000000000000000" pitchFamily="2" charset="2"/>
              </a:rPr>
              <a:t>A change in preference IN FAVOUR of a good (example: TORN JEANS)  Demand Rises  Demand shifts RIGHT.</a:t>
            </a:r>
          </a:p>
        </p:txBody>
      </p:sp>
    </p:spTree>
    <p:extLst>
      <p:ext uri="{BB962C8B-B14F-4D97-AF65-F5344CB8AC3E}">
        <p14:creationId xmlns:p14="http://schemas.microsoft.com/office/powerpoint/2010/main" val="12659022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Factors Cause the Demand Curve to Shift? (CONT)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AU" dirty="0" smtClean="0"/>
              <a:t>PRICES OF RELATED GOODS: There are two types.</a:t>
            </a:r>
          </a:p>
          <a:p>
            <a:pPr marL="0" indent="0">
              <a:buNone/>
            </a:pPr>
            <a:endParaRPr lang="en-AU" dirty="0"/>
          </a:p>
          <a:p>
            <a:pPr marL="457200" indent="-457200">
              <a:buFont typeface="+mj-lt"/>
              <a:buAutoNum type="arabicPeriod"/>
            </a:pPr>
            <a:r>
              <a:rPr lang="en-AU" dirty="0" smtClean="0"/>
              <a:t>Substitutes: Two goods that satisfy similar needs or desires. If two goods are substitutes, the demand for one good rises as the price of the other good rises (or </a:t>
            </a:r>
            <a:r>
              <a:rPr lang="en-AU" dirty="0"/>
              <a:t>the demand for one good </a:t>
            </a:r>
            <a:r>
              <a:rPr lang="en-AU" dirty="0" smtClean="0"/>
              <a:t>falls </a:t>
            </a:r>
            <a:r>
              <a:rPr lang="en-AU" dirty="0"/>
              <a:t>as the price of the other good </a:t>
            </a:r>
            <a:r>
              <a:rPr lang="en-AU" dirty="0" smtClean="0"/>
              <a:t>falls). Example? </a:t>
            </a:r>
          </a:p>
          <a:p>
            <a:pPr marL="457200" indent="-457200">
              <a:buFont typeface="+mj-lt"/>
              <a:buAutoNum type="arabicPeriod"/>
            </a:pPr>
            <a:endParaRPr lang="en-AU" dirty="0"/>
          </a:p>
          <a:p>
            <a:pPr marL="457200" indent="-457200">
              <a:buFont typeface="+mj-lt"/>
              <a:buAutoNum type="arabicPeriod"/>
            </a:pPr>
            <a:r>
              <a:rPr lang="en-AU" dirty="0" smtClean="0"/>
              <a:t>Complements: Two goods that are used jointly in consumption. If two goods are complements, the demand for one rises as the price of the other falls, (or, </a:t>
            </a:r>
            <a:r>
              <a:rPr lang="en-AU" dirty="0"/>
              <a:t>the demand for </a:t>
            </a:r>
            <a:r>
              <a:rPr lang="en-AU"/>
              <a:t>one </a:t>
            </a:r>
            <a:r>
              <a:rPr lang="en-AU" smtClean="0"/>
              <a:t>falls </a:t>
            </a:r>
            <a:r>
              <a:rPr lang="en-AU" dirty="0"/>
              <a:t>as the price of the other </a:t>
            </a:r>
            <a:r>
              <a:rPr lang="en-AU" dirty="0" smtClean="0"/>
              <a:t>rises). Example?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954273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467600" cy="1143000"/>
          </a:xfrm>
        </p:spPr>
        <p:txBody>
          <a:bodyPr/>
          <a:lstStyle/>
          <a:p>
            <a:r>
              <a:rPr lang="en-AU" dirty="0"/>
              <a:t>What Factors Cause the Demand Curve to Shift? (CONT)</a:t>
            </a:r>
          </a:p>
        </p:txBody>
      </p: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768096" y="1490518"/>
            <a:ext cx="7010400" cy="5346700"/>
            <a:chOff x="576" y="384"/>
            <a:chExt cx="4600" cy="3593"/>
          </a:xfrm>
        </p:grpSpPr>
        <p:sp>
          <p:nvSpPr>
            <p:cNvPr id="5" name="Rectangle 7"/>
            <p:cNvSpPr>
              <a:spLocks noChangeArrowheads="1"/>
            </p:cNvSpPr>
            <p:nvPr/>
          </p:nvSpPr>
          <p:spPr bwMode="auto">
            <a:xfrm>
              <a:off x="576" y="384"/>
              <a:ext cx="4600" cy="35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AU" altLang="en-US"/>
            </a:p>
          </p:txBody>
        </p:sp>
        <p:pic>
          <p:nvPicPr>
            <p:cNvPr id="6" name="Picture 9" descr="D:\ESWORK\SWPUB\Arnold PPT\Art\Art Ch03\arn17456_0304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0" y="424"/>
              <a:ext cx="4528" cy="35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5089355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Factors Cause the Demand Curve to Shift? (CONT)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AU" dirty="0" smtClean="0"/>
              <a:t>NUMBER OF BUYERS: </a:t>
            </a:r>
          </a:p>
          <a:p>
            <a:pPr marL="0" indent="0">
              <a:buNone/>
            </a:pPr>
            <a:r>
              <a:rPr lang="en-AU" dirty="0" smtClean="0"/>
              <a:t>The demand for a good in a particular market area is related to the number of buyers in the area.</a:t>
            </a:r>
          </a:p>
          <a:p>
            <a:pPr marL="0" indent="0">
              <a:buNone/>
            </a:pPr>
            <a:endParaRPr lang="en-AU" dirty="0"/>
          </a:p>
          <a:p>
            <a:r>
              <a:rPr lang="en-AU" dirty="0" smtClean="0">
                <a:sym typeface="Wingdings" panose="05000000000000000000" pitchFamily="2" charset="2"/>
              </a:rPr>
              <a:t>Buyers     Demand    Demand Shifts right</a:t>
            </a:r>
          </a:p>
          <a:p>
            <a:pPr marL="0" indent="0">
              <a:buNone/>
            </a:pPr>
            <a:r>
              <a:rPr lang="en-AU" dirty="0" smtClean="0">
                <a:sym typeface="Wingdings" panose="05000000000000000000" pitchFamily="2" charset="2"/>
              </a:rPr>
              <a:t>Can be caused by: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AU" dirty="0" smtClean="0">
                <a:sym typeface="Wingdings" panose="05000000000000000000" pitchFamily="2" charset="2"/>
              </a:rPr>
              <a:t>Higher Birth rate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AU" dirty="0" smtClean="0">
                <a:sym typeface="Wingdings" panose="05000000000000000000" pitchFamily="2" charset="2"/>
              </a:rPr>
              <a:t>Increased immigration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AU" dirty="0" smtClean="0">
                <a:sym typeface="Wingdings" panose="05000000000000000000" pitchFamily="2" charset="2"/>
              </a:rPr>
              <a:t>Migration in the region</a:t>
            </a:r>
          </a:p>
          <a:p>
            <a:pPr marL="0" indent="0">
              <a:buNone/>
            </a:pPr>
            <a:endParaRPr lang="en-AU" dirty="0" smtClean="0"/>
          </a:p>
          <a:p>
            <a:r>
              <a:rPr lang="en-AU" dirty="0">
                <a:sym typeface="Wingdings" panose="05000000000000000000" pitchFamily="2" charset="2"/>
              </a:rPr>
              <a:t>Buyers     Demand    Demand Shifts </a:t>
            </a:r>
            <a:r>
              <a:rPr lang="en-AU" dirty="0" smtClean="0">
                <a:sym typeface="Wingdings" panose="05000000000000000000" pitchFamily="2" charset="2"/>
              </a:rPr>
              <a:t>left</a:t>
            </a:r>
            <a:endParaRPr lang="en-AU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AU" dirty="0">
                <a:sym typeface="Wingdings" panose="05000000000000000000" pitchFamily="2" charset="2"/>
              </a:rPr>
              <a:t>Can be caused by: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AU" dirty="0">
                <a:sym typeface="Wingdings" panose="05000000000000000000" pitchFamily="2" charset="2"/>
              </a:rPr>
              <a:t>Higher </a:t>
            </a:r>
            <a:r>
              <a:rPr lang="en-AU" dirty="0" smtClean="0">
                <a:sym typeface="Wingdings" panose="05000000000000000000" pitchFamily="2" charset="2"/>
              </a:rPr>
              <a:t>Death </a:t>
            </a:r>
            <a:r>
              <a:rPr lang="en-AU" dirty="0">
                <a:sym typeface="Wingdings" panose="05000000000000000000" pitchFamily="2" charset="2"/>
              </a:rPr>
              <a:t>rate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AU" dirty="0" smtClean="0">
                <a:sym typeface="Wingdings" panose="05000000000000000000" pitchFamily="2" charset="2"/>
              </a:rPr>
              <a:t>Migration out of </a:t>
            </a:r>
            <a:r>
              <a:rPr lang="en-AU" dirty="0">
                <a:sym typeface="Wingdings" panose="05000000000000000000" pitchFamily="2" charset="2"/>
              </a:rPr>
              <a:t>the region</a:t>
            </a:r>
          </a:p>
          <a:p>
            <a:pPr marL="0" indent="0">
              <a:buNone/>
            </a:pPr>
            <a:endParaRPr lang="en-AU" dirty="0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1905000" y="2857500"/>
            <a:ext cx="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3657600" y="2857500"/>
            <a:ext cx="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1905000" y="4953000"/>
            <a:ext cx="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3657600" y="4953000"/>
            <a:ext cx="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08962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Factors Cause the Demand Curve to Shift? (CONT)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EXPECTATIONS OF FUTURE PRICES:</a:t>
            </a:r>
          </a:p>
          <a:p>
            <a:pPr marL="0" indent="0">
              <a:buNone/>
            </a:pPr>
            <a:endParaRPr lang="en-AU" dirty="0" smtClean="0"/>
          </a:p>
          <a:p>
            <a:r>
              <a:rPr lang="en-AU" dirty="0" smtClean="0"/>
              <a:t>Expect prices   </a:t>
            </a:r>
            <a:r>
              <a:rPr lang="en-AU" dirty="0" smtClean="0">
                <a:sym typeface="Wingdings" panose="05000000000000000000" pitchFamily="2" charset="2"/>
              </a:rPr>
              <a:t> Current Consumption   Demand Shifts RIGHT.</a:t>
            </a:r>
          </a:p>
          <a:p>
            <a:pPr marL="0" indent="0">
              <a:buNone/>
            </a:pPr>
            <a:r>
              <a:rPr lang="en-AU" dirty="0" smtClean="0">
                <a:sym typeface="Wingdings" panose="05000000000000000000" pitchFamily="2" charset="2"/>
              </a:rPr>
              <a:t>Example? Houses, iPhones?</a:t>
            </a:r>
            <a:endParaRPr lang="en-AU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AU" dirty="0" smtClean="0">
              <a:sym typeface="Wingdings" panose="05000000000000000000" pitchFamily="2" charset="2"/>
            </a:endParaRPr>
          </a:p>
          <a:p>
            <a:r>
              <a:rPr lang="en-AU" dirty="0"/>
              <a:t>Expect </a:t>
            </a:r>
            <a:r>
              <a:rPr lang="en-AU" dirty="0" smtClean="0"/>
              <a:t>prices   </a:t>
            </a:r>
            <a:r>
              <a:rPr lang="en-AU" dirty="0">
                <a:sym typeface="Wingdings" panose="05000000000000000000" pitchFamily="2" charset="2"/>
              </a:rPr>
              <a:t> Current </a:t>
            </a:r>
            <a:r>
              <a:rPr lang="en-AU" dirty="0" smtClean="0">
                <a:sym typeface="Wingdings" panose="05000000000000000000" pitchFamily="2" charset="2"/>
              </a:rPr>
              <a:t>Consumption  </a:t>
            </a:r>
            <a:r>
              <a:rPr lang="en-AU" dirty="0">
                <a:sym typeface="Wingdings" panose="05000000000000000000" pitchFamily="2" charset="2"/>
              </a:rPr>
              <a:t> Demand </a:t>
            </a:r>
            <a:r>
              <a:rPr lang="en-AU" dirty="0" smtClean="0">
                <a:sym typeface="Wingdings" panose="05000000000000000000" pitchFamily="2" charset="2"/>
              </a:rPr>
              <a:t>Shifts LEFT.</a:t>
            </a:r>
            <a:endParaRPr lang="en-AU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AU" dirty="0">
                <a:sym typeface="Wingdings" panose="05000000000000000000" pitchFamily="2" charset="2"/>
              </a:rPr>
              <a:t>Example?</a:t>
            </a:r>
          </a:p>
          <a:p>
            <a:pPr marL="0" indent="0">
              <a:buNone/>
            </a:pPr>
            <a:endParaRPr lang="en-AU" dirty="0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2819400" y="2576945"/>
            <a:ext cx="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6553200" y="2486890"/>
            <a:ext cx="0" cy="36714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2819400" y="4191000"/>
            <a:ext cx="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6553200" y="4191000"/>
            <a:ext cx="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87448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9762"/>
          </a:xfrm>
        </p:spPr>
        <p:txBody>
          <a:bodyPr/>
          <a:lstStyle/>
          <a:p>
            <a:r>
              <a:rPr lang="en-AU" dirty="0" smtClean="0"/>
              <a:t>SUMMARIZING….</a:t>
            </a:r>
            <a:endParaRPr lang="en-AU" dirty="0"/>
          </a:p>
        </p:txBody>
      </p:sp>
      <p:grpSp>
        <p:nvGrpSpPr>
          <p:cNvPr id="4" name="Group 8"/>
          <p:cNvGrpSpPr>
            <a:grpSpLocks/>
          </p:cNvGrpSpPr>
          <p:nvPr/>
        </p:nvGrpSpPr>
        <p:grpSpPr bwMode="auto">
          <a:xfrm>
            <a:off x="685800" y="1069056"/>
            <a:ext cx="7089775" cy="5353050"/>
            <a:chOff x="1500" y="1117"/>
            <a:chExt cx="2759" cy="2083"/>
          </a:xfrm>
        </p:grpSpPr>
        <p:sp>
          <p:nvSpPr>
            <p:cNvPr id="5" name="Rectangle 7"/>
            <p:cNvSpPr>
              <a:spLocks noChangeArrowheads="1"/>
            </p:cNvSpPr>
            <p:nvPr/>
          </p:nvSpPr>
          <p:spPr bwMode="auto">
            <a:xfrm>
              <a:off x="1500" y="1117"/>
              <a:ext cx="2759" cy="20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AU" altLang="en-US"/>
            </a:p>
          </p:txBody>
        </p:sp>
        <p:pic>
          <p:nvPicPr>
            <p:cNvPr id="6" name="Picture 6" descr="D:\ESWORK\SWPUB\Arnold PPT\Art\Art Ch03\arn17456_0305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35" y="1150"/>
              <a:ext cx="2690" cy="20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9495972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116</TotalTime>
  <Words>1316</Words>
  <Application>Microsoft Office PowerPoint</Application>
  <PresentationFormat>On-screen Show (4:3)</PresentationFormat>
  <Paragraphs>184</Paragraphs>
  <Slides>24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Oriel</vt:lpstr>
      <vt:lpstr>SUPPLY AND DEMAND THEORY (PART 1)</vt:lpstr>
      <vt:lpstr>What is Demand? </vt:lpstr>
      <vt:lpstr>The Law of Demand</vt:lpstr>
      <vt:lpstr>The law of Demand (Cont)</vt:lpstr>
      <vt:lpstr>Can you Plot This?</vt:lpstr>
      <vt:lpstr>Exhibit 1  Demand Schedule and Demand Curve</vt:lpstr>
      <vt:lpstr>Two Prices: Absolute and Relative</vt:lpstr>
      <vt:lpstr>Why does Quantity Demanded Go Down as Price Goes Up?</vt:lpstr>
      <vt:lpstr>Individual Demand Curve and Market Demand Curve </vt:lpstr>
      <vt:lpstr>Exhibit 2  Deriving a Market Demand Schedule and  a Market Demand Curve</vt:lpstr>
      <vt:lpstr>Lets Do Try the First two Lines to find and draw Market Demand</vt:lpstr>
      <vt:lpstr>A Change in Quantity Demanded Vs a Change in Demand</vt:lpstr>
      <vt:lpstr>Change in Demand</vt:lpstr>
      <vt:lpstr>Increase in Demand</vt:lpstr>
      <vt:lpstr>Decrease in Demand</vt:lpstr>
      <vt:lpstr>Shifts in the Demand Curve</vt:lpstr>
      <vt:lpstr>What Factors Cause the Demand Curve to Shift?</vt:lpstr>
      <vt:lpstr>What Factors Cause the Demand Curve to Shift? (CONT)</vt:lpstr>
      <vt:lpstr>What Factors Cause the Demand Curve to Shift? (CONT)</vt:lpstr>
      <vt:lpstr>What Factors Cause the Demand Curve to Shift? (CONT)</vt:lpstr>
      <vt:lpstr>What Factors Cause the Demand Curve to Shift? (CONT)</vt:lpstr>
      <vt:lpstr>What Factors Cause the Demand Curve to Shift? (CONT)</vt:lpstr>
      <vt:lpstr>What Factors Cause the Demand Curve to Shift? (CONT)</vt:lpstr>
      <vt:lpstr>SUMMARIZING….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 AND DEMAND THEORY (PART 1)</dc:title>
  <dc:creator>User</dc:creator>
  <cp:lastModifiedBy>User</cp:lastModifiedBy>
  <cp:revision>14</cp:revision>
  <dcterms:created xsi:type="dcterms:W3CDTF">2006-08-16T00:00:00Z</dcterms:created>
  <dcterms:modified xsi:type="dcterms:W3CDTF">2014-09-28T08:23:59Z</dcterms:modified>
</cp:coreProperties>
</file>